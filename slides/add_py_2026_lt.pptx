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notesMasterIdLst>
    <p:notesMasterId r:id="rId40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notesMaster" Target="notesMasters/notes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Šiose skaidrėse – atnaujinta add.py modulio dalis (2.0 versija) – studentams ir visiems, kas nori kurti 3D modelius programuodami. Modulis kasmet atnaujinamas; 2.0 versija yra didžiausias pokytis nuo 1.2.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Svarbiausia žinia: nieko perrašinėti nereikia. Studentams ir visiems besidomintiems.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Anksčiau MeshLab buvo būtinas norint gauti OBJ. Dabar 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36 pavyzdys rodo tą pačią sferą trimis būdais: Maple kubo sferą, kubelių rutulį, geodezinę.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42 pavyzdinės programos; kiekviena vieša funkcija panaudota bent vienoje (python3 tools/coverage.py), ir kiekvienas modelis telpa į Sketchfab ribas.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Studentams: pradėkite nuo examples/01_first_model.py, paskui 02_primitives.py. Užduočiai labiausiai praverčia 06-16 pavyzdžiai ir pilni modeliai 22-33.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image" Target="../media/image-3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4" Type="http://schemas.openxmlformats.org/officeDocument/2006/relationships/hyperlink" Target="https://skfb.ly/pOnRS" TargetMode="External"/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image" Target="../media/image-33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hyperlink" Target="https://skfb.ly/pOnRS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35-2.png"/><Relationship Id="rId3" Type="http://schemas.openxmlformats.org/officeDocument/2006/relationships/image" Target="../media/image-35-3.png"/><Relationship Id="rId4" Type="http://schemas.openxmlformats.org/officeDocument/2006/relationships/image" Target="../media/image-3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image" Target="../media/image-36-3.png"/><Relationship Id="rId4" Type="http://schemas.openxmlformats.org/officeDocument/2006/relationships/image" Target="../media/image-3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41C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143000"/>
            <a:ext cx="8010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add.py 2.0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2057400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E9C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Trimačiai modeliai, sukurti vien tik programiniu kodu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2880360"/>
            <a:ext cx="8010144" cy="2926080"/>
          </a:xfrm>
          <a:prstGeom prst="roundRect">
            <a:avLst>
              <a:gd name="adj" fmla="val 1250"/>
            </a:avLst>
          </a:prstGeom>
          <a:solidFill>
            <a:srgbClr val="F4F3F1"/>
          </a:solidFill>
          <a:ln/>
        </p:spPr>
      </p:sp>
      <p:pic>
        <p:nvPicPr>
          <p:cNvPr id="5" name="Image 0" descr="/home/claude/add3d/docs/images/lighthous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2953512"/>
            <a:ext cx="7863840" cy="277977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66928" y="6035040"/>
            <a:ext cx="8010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BF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Algoritmai ir duomenų struktūros  ·  Algoritmų kūrimas ir analizė  ·  kūrybinė užduotis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ADD.PY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Kas naujo 2.0 versijoje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508760"/>
            <a:ext cx="3886200" cy="1170432"/>
          </a:xfrm>
          <a:prstGeom prst="roundRect">
            <a:avLst>
              <a:gd name="adj" fmla="val 3906"/>
            </a:avLst>
          </a:prstGeom>
          <a:solidFill>
            <a:srgbClr val="F6EFE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68096" y="1655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Loginės operacijos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68096" y="1984248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union, intersect, difference – sąjunga, sankirta ir skirtumas. Parašyta nuo nulio, be jokių bibliotekų.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690872" y="1508760"/>
            <a:ext cx="3886200" cy="1170432"/>
          </a:xfrm>
          <a:prstGeom prst="roundRect">
            <a:avLst>
              <a:gd name="adj" fmla="val 3906"/>
            </a:avLst>
          </a:prstGeom>
          <a:solidFill>
            <a:srgbClr val="F6EFE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892040" y="1655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Taisyklingieji briaunainiai ir geodezinė sfera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892040" y="1984248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tetrahedron ... icosahedron, sucentruoti; sphere() dabar – kupolas iš trikampių.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66928" y="2916936"/>
            <a:ext cx="3886200" cy="1170432"/>
          </a:xfrm>
          <a:prstGeom prst="roundRect">
            <a:avLst>
              <a:gd name="adj" fmla="val 3906"/>
            </a:avLst>
          </a:prstGeom>
          <a:solidFill>
            <a:srgbClr val="F6EFE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68096" y="3063240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Glotnūs paviršiai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68096" y="3392424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catmull_clark ir smooth(): apibendrintas Catmull–Clark algoritmas, bet koks langelių skaičius ant briaunos.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690872" y="2916936"/>
            <a:ext cx="3886200" cy="1170432"/>
          </a:xfrm>
          <a:prstGeom prst="roundRect">
            <a:avLst>
              <a:gd name="adj" fmla="val 3906"/>
            </a:avLst>
          </a:prstGeom>
          <a:solidFill>
            <a:srgbClr val="F6EFE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92040" y="3063240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Viršūnių įrankiai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892040" y="3392424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set_vertex, neighbors, valence, dual, truncate – futbolo kamuolys iš ikosaedro viršūnių.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4325112"/>
            <a:ext cx="3886200" cy="1170432"/>
          </a:xfrm>
          <a:prstGeom prst="roundRect">
            <a:avLst>
              <a:gd name="adj" fmla="val 3906"/>
            </a:avLst>
          </a:prstGeom>
          <a:solidFill>
            <a:srgbClr val="F6EFE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68096" y="447141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Vardiniai paviršiai, spalvų funkcijos, detalės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68096" y="4800600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paviršių pagal vardą; color=lambda u, v: ...; beam, wheel, gear, roof, tree, text ...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690872" y="4325112"/>
            <a:ext cx="3886200" cy="1170432"/>
          </a:xfrm>
          <a:prstGeom prst="roundRect">
            <a:avLst>
              <a:gd name="adj" fmla="val 3906"/>
            </a:avLst>
          </a:prstGeom>
          <a:solidFill>
            <a:srgbClr val="F6EFE8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892040" y="447141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Išsaugojimas Sketchfab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4892040" y="4800600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check() prižiūri 50 MB / 50 spalvų ribas; stiklas (transparent) ir tekstūros įrašomi į .mtl.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Viskas, kas parašyta senajai 1.2 versijai, veikia be jokių pataisymų; užtenka import add.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PRIMINIMAS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Kūrybinė užduotis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417320"/>
            <a:ext cx="48463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b="1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Sukurti 3D modelį naudojant tik pirminį programos tekstą.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Modelio failo formatas – OFF arba OBJ.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Bent 10 000 daugiakampių.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Bent 3 skirtingos spalvos.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Algoritme privalo būti for arba while ciklas.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Bent 1 parametras, nuo kurio priklauso modelio forma.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Negalima naudoti 3D modeliavimui skirtų programų.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Modelį galima kurti individualiai arba komandoje dviese.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532120" y="1481328"/>
            <a:ext cx="3044952" cy="2148840"/>
          </a:xfrm>
          <a:prstGeom prst="roundRect">
            <a:avLst>
              <a:gd name="adj" fmla="val 255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7" name="Image 0" descr="/home/claude/add3d/docs/images/city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86984" y="1536192"/>
            <a:ext cx="2935224" cy="203911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532120" y="3694176"/>
            <a:ext cx="3044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Vienas skaičius (SEED) nulemia visą miestą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5532120" y="4251960"/>
            <a:ext cx="30449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add.check()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pasako, kurie reikalavimai jau įvykdyti.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APLINKA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Rekomenduojami įrankiai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508760"/>
            <a:ext cx="3886200" cy="1188720"/>
          </a:xfrm>
          <a:prstGeom prst="roundRect">
            <a:avLst>
              <a:gd name="adj" fmla="val 3846"/>
            </a:avLst>
          </a:prstGeom>
          <a:solidFill>
            <a:srgbClr val="F6EFE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68096" y="1655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68096" y="1984248"/>
            <a:ext cx="3483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Daugiau nieko diegti nereikia. add.py naudoja tik math ir random.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690872" y="1508760"/>
            <a:ext cx="3886200" cy="1188720"/>
          </a:xfrm>
          <a:prstGeom prst="roundRect">
            <a:avLst>
              <a:gd name="adj" fmla="val 3846"/>
            </a:avLst>
          </a:prstGeom>
          <a:solidFill>
            <a:srgbClr val="F6EFE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892040" y="1655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add.py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892040" y="1984248"/>
            <a:ext cx="3483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Vienas failas šalia jūsų programos. Parsisiunčiamas iš GitHub (projektas add3d).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66928" y="2935224"/>
            <a:ext cx="3886200" cy="1188720"/>
          </a:xfrm>
          <a:prstGeom prst="roundRect">
            <a:avLst>
              <a:gd name="adj" fmla="val 3846"/>
            </a:avLst>
          </a:prstGeom>
          <a:solidFill>
            <a:srgbClr val="F6EFE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68096" y="308152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tools/preview.py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68096" y="3410712"/>
            <a:ext cx="3483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Modelio peržiūra be jokios kitos programos: sukuria PNG paveikslėlį.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690872" y="2935224"/>
            <a:ext cx="3886200" cy="1188720"/>
          </a:xfrm>
          <a:prstGeom prst="roundRect">
            <a:avLst>
              <a:gd name="adj" fmla="val 3846"/>
            </a:avLst>
          </a:prstGeom>
          <a:solidFill>
            <a:srgbClr val="F6EFE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92040" y="308152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GeoGebra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892040" y="3410712"/>
            <a:ext cx="3483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Patogu pasitikrinti kreivių ir paviršių formules prieš rašant kodą.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4361688"/>
            <a:ext cx="3886200" cy="1188720"/>
          </a:xfrm>
          <a:prstGeom prst="roundRect">
            <a:avLst>
              <a:gd name="adj" fmla="val 3846"/>
            </a:avLst>
          </a:prstGeom>
          <a:solidFill>
            <a:srgbClr val="F6EFE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68096" y="4507992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MeshLab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68096" y="4837176"/>
            <a:ext cx="3483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 peržiūra ir konvertavimas. Nebebūtinas – OBJ išsaugo pats add.py.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690872" y="4361688"/>
            <a:ext cx="3886200" cy="1188720"/>
          </a:xfrm>
          <a:prstGeom prst="roundRect">
            <a:avLst>
              <a:gd name="adj" fmla="val 3846"/>
            </a:avLst>
          </a:prstGeom>
          <a:solidFill>
            <a:srgbClr val="F6EFE8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892040" y="4507992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Sketchfab.com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4892040" y="4837176"/>
            <a:ext cx="3483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.obj + .mtl viename archyve – ir modelį galima pasukioti naršyklėje.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PAGRINDAI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Modelis – tai du sąrašai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81328"/>
            <a:ext cx="3749040" cy="2286000"/>
          </a:xfrm>
          <a:prstGeom prst="roundRect">
            <a:avLst>
              <a:gd name="adj" fmla="val 2400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609344"/>
            <a:ext cx="3456432" cy="2029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OFF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8 6 0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-1 -1 -1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-1 -1  1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...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4 0 4 5 1 255 0 0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4 0 1 3 2 255 0 0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...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4572000" y="1572768"/>
            <a:ext cx="40233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OFF</a:t>
            </a:r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– formato vardas</a:t>
            </a:r>
            <a:endParaRPr lang="en-US" sz="13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8 6 0</a:t>
            </a:r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– viršūnių, sienų ir briaunų skaičius</a:t>
            </a:r>
            <a:endParaRPr lang="en-US" sz="13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toliau – viršūnių koordinatės</a:t>
            </a:r>
            <a:endParaRPr lang="en-US" sz="13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4 0 4 5 1</a:t>
            </a:r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– keturkampis, jungiantis viršūnes 0, 4, 5 ir 1</a:t>
            </a:r>
            <a:endParaRPr lang="en-US" sz="13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255 0 0</a:t>
            </a:r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– sienos spalva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4069080"/>
            <a:ext cx="80101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Visos šios bibliotekos braižymo funkcijos daro tą patį: apskaičiuoja taškus ir prideda sienas.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66928" y="4709160"/>
            <a:ext cx="3749040" cy="1234440"/>
          </a:xfrm>
          <a:prstGeom prst="roundRect">
            <a:avLst>
              <a:gd name="adj" fmla="val 4444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13232" y="4837176"/>
            <a:ext cx="3456432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add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add.box([0, 0, 0], 2, "red")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add.save("kubas.off")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572000" y="51206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 pats kubas – keturios eilutės.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PAGRINDAI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Vidinė ir išorinė siena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417320"/>
            <a:ext cx="475488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2403"/>
              </a:lnSpc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Žvelgiant į modelį iš išorės, viršūnių indeksus reikia išdėstyti prieš laikrodžio rodyklę.</a:t>
            </a:r>
            <a:endParaRPr lang="en-US" sz="1550" dirty="0"/>
          </a:p>
          <a:p>
            <a:pPr marL="177800" indent="-177800">
              <a:lnSpc>
                <a:spcPts val="2403"/>
              </a:lnSpc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Žvelgiant iš vidaus – pagal laikrodžio rodyklę.</a:t>
            </a:r>
            <a:endParaRPr lang="en-US" sz="1550" dirty="0"/>
          </a:p>
          <a:p>
            <a:pPr marL="177800" indent="-177800">
              <a:lnSpc>
                <a:spcPts val="2403"/>
              </a:lnSpc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Apversta siena atvaizduojama juoda arba visai nerodoma.</a:t>
            </a:r>
            <a:endParaRPr lang="en-US" sz="1550" dirty="0"/>
          </a:p>
          <a:p>
            <a:pPr marL="177800" indent="-177800">
              <a:lnSpc>
                <a:spcPts val="2403"/>
              </a:lnSpc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Bibliotekos figūros orientuojamos pačios – galvoti apie tai reikia tik rašant add.polygon(...) ranka.</a:t>
            </a:r>
            <a:endParaRPr lang="en-US" sz="1550" dirty="0"/>
          </a:p>
          <a:p>
            <a:pPr marL="177800" indent="-177800">
              <a:lnSpc>
                <a:spcPts val="2403"/>
              </a:lnSpc>
              <a:spcAft>
                <a:spcPts val="600"/>
              </a:spcAft>
              <a:buSzPct val="100000"/>
              <a:buChar char="•"/>
            </a:pPr>
            <a:r>
              <a:rPr lang="en-US" sz="1550" b="1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add.fix_normals(M) sutvarko visą modelį; add.check() pasako, ar paviršius uždaras.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5440680" y="1481328"/>
            <a:ext cx="3136392" cy="2212848"/>
          </a:xfrm>
          <a:prstGeom prst="roundRect">
            <a:avLst>
              <a:gd name="adj" fmla="val 2479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7" name="Image 0" descr="/home/claude/add3d/docs/images/two_si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95544" y="1536192"/>
            <a:ext cx="3026664" cy="210312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440680" y="3758184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 pats balnas: lakštas, dvipusis ir tūrinis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PAGRINDINĖ IDĖJA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Scena, sluoksniai ir modeliai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81328"/>
            <a:ext cx="4800600" cy="2103120"/>
          </a:xfrm>
          <a:prstGeom prst="roundRect">
            <a:avLst>
              <a:gd name="adj" fmla="val 2609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609344"/>
            <a:ext cx="4507992" cy="1847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add.box([0, 0, 0], 1, "red")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plyta = add.layer()     # scena vėl tuščia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i in range(10):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add.mesh(add.move(plyta, [i * 1.2, 0, 0]))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add.save("siena.off")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66928" y="3794760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68096" y="3941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layer()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68096" y="4270248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Paima sceną kaip modelį ir palieka sceną tuščią.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690872" y="3794760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92040" y="3941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mesh(M)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892040" y="4270248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Grąžina modelį atgal į sceną.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66928" y="5166360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68096" y="53126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merge([...])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68096" y="5641848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Sujungia kelis modelius į vieną.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690872" y="5166360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892040" y="53126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push() / pop()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5641848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Funkcijoje, kuriančioje atskirą detalę: padeda sceną į šalį ir po to grąžina.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577840" y="187452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8A4B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Sukurk vieną kartą – padėk daug kartų.</a:t>
            </a:r>
            <a:endParaRPr lang="en-US" sz="2100" dirty="0"/>
          </a:p>
        </p:txBody>
      </p:sp>
      <p:sp>
        <p:nvSpPr>
          <p:cNvPr id="20" name="Text 18"/>
          <p:cNvSpPr txBox="1"/>
          <p:nvPr/>
        </p:nvSpPr>
        <p:spPr>
          <a:xfrm>
            <a:off x="5577840" y="27432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Transformacijos niekada nekeičia joms perduoto modelio – jos grąžina naują.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PRADŽIA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Pirmasis modelis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81328"/>
            <a:ext cx="4114800" cy="2606040"/>
          </a:xfrm>
          <a:prstGeom prst="roundRect">
            <a:avLst>
              <a:gd name="adj" fmla="val 2105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609344"/>
            <a:ext cx="3822192" cy="2350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add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add.box([0, 0, 0], 2, "red")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add.sphere([3, 0, 0], 1, 20, "blue")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add.cylinder([0, 2, 0], [3, 2, 0],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0.3, 24, "gold")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add.check()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add.save("pirmas.off")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937760" y="1481328"/>
            <a:ext cx="3639312" cy="2606040"/>
          </a:xfrm>
          <a:prstGeom prst="roundRect">
            <a:avLst>
              <a:gd name="adj" fmla="val 2105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first_mode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992624" y="1536192"/>
            <a:ext cx="3529584" cy="2496312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4434840"/>
            <a:ext cx="8010144" cy="1234440"/>
          </a:xfrm>
          <a:prstGeom prst="roundRect">
            <a:avLst>
              <a:gd name="adj" fmla="val 4444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13232" y="4562856"/>
            <a:ext cx="771753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vertices            2460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!! polygons            2478  (need 10000)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OK colours             3     (need 3)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OK closed surface      yes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566928" y="5760720"/>
            <a:ext cx="8010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check() ataskaita: dar trūksta daugiakampių.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NAUJA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Užtenka import add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846320" cy="2651760"/>
          </a:xfrm>
          <a:prstGeom prst="roundRect">
            <a:avLst>
              <a:gd name="adj" fmla="val 2069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553712" cy="2395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add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i in range(12):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 = 2 * add.pi * i / 12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 = [3 * add.cos(a), 0, 3 * add.sin(a)]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add.sphere(p, 0.4, 8, add.hsv(i / 12))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add.seed(7)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add.box([add.uniform(-3, 3), 0, 0], 1, "red")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532120" y="1463040"/>
            <a:ext cx="30449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733288" y="1609344"/>
            <a:ext cx="26426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add.sin, add.pi, add.sqrt ...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5733288" y="1938528"/>
            <a:ext cx="26426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Viskas iš math – tiesiai iš add.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532120" y="2935224"/>
            <a:ext cx="30449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733288" y="3081528"/>
            <a:ext cx="26426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add.randint, add.seed, add.Random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5733288" y="3410712"/>
            <a:ext cx="26426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 viskas iš random.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4343400"/>
            <a:ext cx="80101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8A4B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Modelio faile – lygiai vienas importas. (Įprastas import math irgi veikia.)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 examples/ pavyzdžiai parašyti taip: import add ir daugiau nieko.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FUNKCIJOS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Paruoštos figūros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4709160" cy="3291840"/>
          </a:xfrm>
          <a:prstGeom prst="roundRect">
            <a:avLst>
              <a:gd name="adj" fmla="val 166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primitiv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4599432" cy="31821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86400" y="1371600"/>
            <a:ext cx="310896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2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Kūnai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box, cuboid, rounded_box, frame, pyramid, prism, polyhedron, voxels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2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Apvalūs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sphere, hemisphere, uvsphere, ellipsoid, torus, capsule, cylinder, tube, cup, cone, cone_open, frustum, pipe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2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Plokšti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polygon, triangle, quad, disc, ring, grid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2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Detalės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beam, arch, stairs, gear, wheel, roof, column, bricks, tree, pixels, heightmap, text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examples/02_primitives.py – visos figūros vienoje programoje.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PAVIRŠIAI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parametric() – pagrindinė funkcija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846320" cy="2194560"/>
          </a:xfrm>
          <a:prstGeom prst="roundRect">
            <a:avLst>
              <a:gd name="adj" fmla="val 2500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553712" cy="1938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toras(u, v):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[(5 + add.cos(u)) * add.cos(v),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add.sin(u),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(5 + add.cos(u)) * add.sin(v)]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add.parametric(toras, 0, 2*add.pi, 40,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0, 2*add.pi, 80,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"gold", wrap_u=True, wrap_v=True)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532120" y="1463040"/>
            <a:ext cx="3044952" cy="2194560"/>
          </a:xfrm>
          <a:prstGeom prst="roundRect">
            <a:avLst>
              <a:gd name="adj" fmla="val 25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surfaces_classic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86984" y="1517904"/>
            <a:ext cx="2935224" cy="2084832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3886200"/>
            <a:ext cx="25115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768096" y="40325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wrap_u, wrap_v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768096" y="4361688"/>
            <a:ext cx="21092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Uždaro paviršių be siūlės ir be pasikartojančių viršūnių.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3316224" y="3886200"/>
            <a:ext cx="25115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3517392" y="40325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thickness=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3517392" y="4361688"/>
            <a:ext cx="21092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Suteikia lakštui tikrą storį – gaunamas uždaras kūnas.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6065520" y="3886200"/>
            <a:ext cx="25115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6266688" y="40325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color=lambda u, v: ...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6266688" y="4361688"/>
            <a:ext cx="21092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Nuspalvina kiekvieną langelį pagal jo parametrus.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NAUJA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Spalvų funkcijos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846320" cy="2514600"/>
          </a:xfrm>
          <a:prstGeom prst="roundRect">
            <a:avLst>
              <a:gd name="adj" fmla="val 2182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553712" cy="2258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add.parametric(f, 0, 1, 40, 0, 1, 40,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color=lambda u, v: add.hsv(u))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add.revolve(vaza, A, B, 0, 4, 60, 40,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color=lambda t, a: "red" if int(t) % 2 else "white")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add.curve(spirale, 0, 20, 300, 12, 0.2,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color=lambda t, a: add.hsv(t / 20))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532120" y="1463040"/>
            <a:ext cx="3044952" cy="2194560"/>
          </a:xfrm>
          <a:prstGeom prst="roundRect">
            <a:avLst>
              <a:gd name="adj" fmla="val 25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solar_system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86984" y="1517904"/>
            <a:ext cx="2935224" cy="208483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532120" y="3721608"/>
            <a:ext cx="3044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Planetos: sukiniai, nuspalvinti pagal (platumą, ilgumą)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566928" y="4297680"/>
            <a:ext cx="801014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Funkcija kviečiama kiekvienam langeliui su dviem paviršiaus parametrais: (u, v) – parametric, (t, kampas) – revolve ir curve, (x, z) – grid. Juostos, šachmatų lentos, žemėlapiai ir perėjimai kainuoja vieną lambda.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Jau turimam modeliui: color_by(M, lambda p: ...) spalvina pagal padėtį.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PARAMETRINIAI PAVIRŠIAI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Viena lygtis, dvylika formų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4846320" cy="3429000"/>
          </a:xfrm>
          <a:prstGeom prst="roundRect">
            <a:avLst>
              <a:gd name="adj" fmla="val 16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supershap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4736592" cy="331927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23560" y="1508760"/>
            <a:ext cx="29718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Gielio superformulė (2003)
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r(t) = ( |cos(m·t/4)/a|^n₂ + |sin(m·t/4)/b|^n₃ ) ^ (−1/n₁)
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Šeši skaičiai – ir gaunama jūrų žvaigždė, gėlė, kristalas arba paprasčiausias rutulys.
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Būtent to ir prašo užduotis: vienas parametras, keičiantis formą.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examples/08_surfaces_superformula.py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PAVYZDŽIAI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Paviršiai, kurie panašūs į daiktus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8010144" cy="3749040"/>
          </a:xfrm>
          <a:prstGeom prst="roundRect">
            <a:avLst>
              <a:gd name="adj" fmla="val 146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surfaces_natur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7900416" cy="36393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Kriauklė, sraigė, Dini paviršius, obuolys, citrina, širdis, ragas, trimitas, banguota kolona, „breather“, raibuliai, lašas. examples/09_surfaces_nature.py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PAVYZDŽIAI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Grafikai ir egzotiški paviršiai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3931920" cy="2743200"/>
          </a:xfrm>
          <a:prstGeom prst="roundRect">
            <a:avLst>
              <a:gd name="adj" fmla="val 20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height_field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517904"/>
            <a:ext cx="3822192" cy="263347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427024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= f(x, z)  ·  10_height_fields.py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663440" y="1463040"/>
            <a:ext cx="3913632" cy="2743200"/>
          </a:xfrm>
          <a:prstGeom prst="roundRect">
            <a:avLst>
              <a:gd name="adj" fmla="val 20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9" name="Image 1" descr="/home/claude/add3d/docs/images/surfaces_exotic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718304" y="1517904"/>
            <a:ext cx="3803904" cy="263347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663440" y="4270248"/>
            <a:ext cx="3913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Miobijus, Kleinas, Boy, Romos paviršius  ·  07_surfaces_exotic.py</a:t>
            </a:r>
            <a:endParaRPr lang="en-US" sz="1100" dirty="0"/>
          </a:p>
        </p:txBody>
      </p:sp>
      <p:sp>
        <p:nvSpPr>
          <p:cNvPr id="11" name="Text 7"/>
          <p:cNvSpPr txBox="1"/>
          <p:nvPr/>
        </p:nvSpPr>
        <p:spPr>
          <a:xfrm>
            <a:off x="566928" y="5029200"/>
            <a:ext cx="80101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Vienpusiai paviršiai neturi „išorės“. Duokite jiems storį – ir jie tampa įprastais dvipusiais kūnais.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PAVIRŠIAI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Kai paviršius iš vienos pusės juodas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8010144" cy="2926080"/>
          </a:xfrm>
          <a:prstGeom prst="roundRect">
            <a:avLst>
              <a:gd name="adj" fmla="val 1875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two_si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7900416" cy="2816352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4572000"/>
            <a:ext cx="25115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68096" y="47183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Paprastas lakštas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768096" y="5047488"/>
            <a:ext cx="21092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Viena gera pusė, viena „negyva“.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3316224" y="4572000"/>
            <a:ext cx="25115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3517392" y="47183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double_sided=True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3517392" y="5047488"/>
            <a:ext cx="21092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Kiekviena siena ir jos apversta kopija. Pigu, storio vis dar nėra.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6065520" y="4572000"/>
            <a:ext cx="25115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266688" y="47183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thickness=0.1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6266688" y="5047488"/>
            <a:ext cx="21092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Tikras kūnas su sienele: uždaras, spausdinamas, teisingas iš visų pusių.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PAVIRŠIAI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revolve() – sukinys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023360" cy="1691640"/>
          </a:xfrm>
          <a:prstGeom prst="roundRect">
            <a:avLst>
              <a:gd name="adj" fmla="val 3243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3730752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vaza(t):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[1 + 0.4*add.sin(3*t), t]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add.revolve(vaza, [0, 0, 0], [0, 1, 0],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0, 4, 60, 40, "teal")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3291840"/>
            <a:ext cx="4023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profilis(t)</a:t>
            </a:r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grąžina [spindulys, aukštis]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caps=True uždaro galus – gaunamas kūnas, tinkamas loginėms operacijoms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angle= mažesnis už pilną apsisukimą išpjauna pleištą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800600" y="1463040"/>
            <a:ext cx="3776472" cy="3200400"/>
          </a:xfrm>
          <a:prstGeom prst="roundRect">
            <a:avLst>
              <a:gd name="adj" fmla="val 1714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9" name="Image 0" descr="/home/claude/add3d/docs/images/lath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855464" y="1517904"/>
            <a:ext cx="3666744" cy="3090672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Senasis spin3D(A, B, S, ...) tebeveikia – tai tas pats sukinys be dangtelių. examples/14_lathe_gallery.py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PAVIRŠIAI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Kopijuojamas, sukamas, tempiamas paviršius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44752"/>
            <a:ext cx="4846320" cy="1005840"/>
          </a:xfrm>
          <a:prstGeom prst="roundRect">
            <a:avLst>
              <a:gd name="adj" fmla="val 5455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72768"/>
            <a:ext cx="455371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add.extrude(zvaigzde, [0, 3.4, 0], "gold",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steps=90, twist=1.6*add.pi,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scale=lambda t: 1 - 0.45*t)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532120" y="1444752"/>
            <a:ext cx="3044952" cy="2194560"/>
          </a:xfrm>
          <a:prstGeom prst="roundRect">
            <a:avLst>
              <a:gd name="adj" fmla="val 25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cross_section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86984" y="1499616"/>
            <a:ext cx="2935224" cy="208483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66928" y="260604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twist ir scale gali būti ir funkcijos nuo padėties kelyje – forma keičiasi eidama. profile_star, profile_gear, profile_rect ... duoda kontūrus. examples/13_sweep_and_twist.py, 33_cross_sections.py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66928" y="3703320"/>
            <a:ext cx="3886200" cy="1024128"/>
          </a:xfrm>
          <a:prstGeom prst="roundRect">
            <a:avLst>
              <a:gd name="adj" fmla="val 4464"/>
            </a:avLst>
          </a:prstGeom>
          <a:solidFill>
            <a:srgbClr val="F6EFE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8096" y="384962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extrude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68096" y="4178808"/>
            <a:ext cx="3483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2D forma ištempiama į 3D; pakeliui sukama ir siaurinama.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4690872" y="3703320"/>
            <a:ext cx="3886200" cy="1024128"/>
          </a:xfrm>
          <a:prstGeom prst="roundRect">
            <a:avLst>
              <a:gd name="adj" fmla="val 4464"/>
            </a:avLst>
          </a:prstGeom>
          <a:solidFill>
            <a:srgbClr val="F6EFE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892040" y="384962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sweep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4892040" y="4178808"/>
            <a:ext cx="3483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Skerspjūvis stumiamas išilgai bet kokio 3D kelio.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566928" y="4965192"/>
            <a:ext cx="3886200" cy="1024128"/>
          </a:xfrm>
          <a:prstGeom prst="roundRect">
            <a:avLst>
              <a:gd name="adj" fmla="val 4464"/>
            </a:avLst>
          </a:prstGeom>
          <a:solidFill>
            <a:srgbClr val="F6EFE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68096" y="511149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loft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768096" y="5440680"/>
            <a:ext cx="3483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Paviršius, uždengiantis skerspjūvių seką.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4690872" y="4965192"/>
            <a:ext cx="3886200" cy="1024128"/>
          </a:xfrm>
          <a:prstGeom prst="roundRect">
            <a:avLst>
              <a:gd name="adj" fmla="val 4464"/>
            </a:avLst>
          </a:prstGeom>
          <a:solidFill>
            <a:srgbClr val="F6EFE8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4892040" y="511149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polyline, trace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4892040" y="5440680"/>
            <a:ext cx="3483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Vamzdis per taškų sąrašą; vektorinio lauko trajektorija.</a:t>
            </a:r>
            <a:endParaRPr lang="en-US" sz="12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PAVIRŠIAI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curve() – kreivės kaip vamzdžiai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4846320" cy="3429000"/>
          </a:xfrm>
          <a:prstGeom prst="roundRect">
            <a:avLst>
              <a:gd name="adj" fmla="val 16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curv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4736592" cy="3319272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532120" y="1463040"/>
            <a:ext cx="3044952" cy="2103120"/>
          </a:xfrm>
          <a:prstGeom prst="roundRect">
            <a:avLst>
              <a:gd name="adj" fmla="val 2609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678424" y="1591056"/>
            <a:ext cx="2752344" cy="1847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mazgas(t):</a:t>
            </a: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[add.sin(t) + 2*add.sin(2*t),</a:t>
            </a: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-add.sin(3*t),</a:t>
            </a: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add.cos(t) - 2*add.cos(2*t)]</a:t>
            </a: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add.curve(mazgas, 0, 2*add.pi,</a:t>
            </a: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300, 18, 0.28, "lime", True)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5532120" y="3703320"/>
            <a:ext cx="304495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Spindulys gali būti ir funkcija r(t) – vamzdis storėja ir plonėja. Vamzdis pats nesisuka: išilgai kreivės nešamas minimaliai sukantis rėmas.</a:t>
            </a:r>
            <a:endParaRPr lang="en-US" sz="12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SLUOKSNIAI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Transformacijos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508760"/>
            <a:ext cx="3886200" cy="1042416"/>
          </a:xfrm>
          <a:prstGeom prst="roundRect">
            <a:avLst>
              <a:gd name="adj" fmla="val 4386"/>
            </a:avLst>
          </a:prstGeom>
          <a:solidFill>
            <a:srgbClr val="F6EFE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68096" y="1655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move, place, align, ground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68096" y="1984248"/>
            <a:ext cx="34838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Pastūmimas; centrą, kampą ar apačią pastato į nurodytą tašką.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690872" y="1508760"/>
            <a:ext cx="3886200" cy="1042416"/>
          </a:xfrm>
          <a:prstGeom prst="roundRect">
            <a:avLst>
              <a:gd name="adj" fmla="val 4386"/>
            </a:avLst>
          </a:prstGeom>
          <a:solidFill>
            <a:srgbClr val="F6EFE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892040" y="1655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rotateX/Y/Z, rotate, aim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892040" y="1984248"/>
            <a:ext cx="34838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Sukimas apie ašį – bet kokią – arba detalės nukreipimas kryptimi.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66928" y="2788920"/>
            <a:ext cx="3886200" cy="1042416"/>
          </a:xfrm>
          <a:prstGeom prst="roundRect">
            <a:avLst>
              <a:gd name="adj" fmla="val 4386"/>
            </a:avLst>
          </a:prstGeom>
          <a:solidFill>
            <a:srgbClr val="F6EFE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68096" y="293522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zoom, stretch, fit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68096" y="3264408"/>
            <a:ext cx="34838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Mastelis: vienodas, atskiras kiekvienai ašiai arba pagal dydį.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690872" y="2788920"/>
            <a:ext cx="3886200" cy="1042416"/>
          </a:xfrm>
          <a:prstGeom prst="roundRect">
            <a:avLst>
              <a:gd name="adj" fmla="val 4386"/>
            </a:avLst>
          </a:prstGeom>
          <a:solidFill>
            <a:srgbClr val="F6EFE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92040" y="293522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mirror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892040" y="3264408"/>
            <a:ext cx="34838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Atspindys plokštumoje; sienų kryptis apsukama.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4069080"/>
            <a:ext cx="3886200" cy="1042416"/>
          </a:xfrm>
          <a:prstGeom prst="roundRect">
            <a:avLst>
              <a:gd name="adj" fmla="val 4386"/>
            </a:avLst>
          </a:prstGeom>
          <a:solidFill>
            <a:srgbClr val="F6EFE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68096" y="421538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twist, bend, taper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68096" y="4544568"/>
            <a:ext cx="34838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Susukimas, sulenkimas, siaurėjimas.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690872" y="4069080"/>
            <a:ext cx="3886200" cy="1042416"/>
          </a:xfrm>
          <a:prstGeom prst="roundRect">
            <a:avLst>
              <a:gd name="adj" fmla="val 4386"/>
            </a:avLst>
          </a:prstGeom>
          <a:solidFill>
            <a:srgbClr val="F6EFE8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892040" y="421538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deform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4892040" y="4544568"/>
            <a:ext cx="34838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 kokia jūsų funkcija f(p) → naujas taškas.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566928" y="5257800"/>
            <a:ext cx="8010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Visos jos grąžina naują modelį – originalas nepakinta, todėl jas galima jungti į grandinę: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566928" y="5669280"/>
            <a:ext cx="8010144" cy="475488"/>
          </a:xfrm>
          <a:prstGeom prst="roundRect">
            <a:avLst>
              <a:gd name="adj" fmla="val 11538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13232" y="5797296"/>
            <a:ext cx="7717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 = add.move(add.rotateY(add.zoom(M, 0.5), 0.4), [0, 3, 0])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SLUOKSNIAI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Viena detalė, daug kopijų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4846320" cy="3429000"/>
          </a:xfrm>
          <a:prstGeom prst="roundRect">
            <a:avLst>
              <a:gd name="adj" fmla="val 16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pattern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4736592" cy="331927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532120" y="1508760"/>
            <a:ext cx="3044952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array_linear(M, step, n)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array_grid(M, steps, counts)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array_radial(M, n, axis, P)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array_mirror(M, point, normal)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scatter(M, points, seed)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along(M, path, n)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repeat(M, n, step)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Bendriausias variantas: jūs pasakote, kur atsiduria kopija numeris i.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5532120" y="4206240"/>
            <a:ext cx="3044952" cy="1234440"/>
          </a:xfrm>
          <a:prstGeom prst="roundRect">
            <a:avLst>
              <a:gd name="adj" fmla="val 4444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678424" y="4334256"/>
            <a:ext cx="2752344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spirale = add.repeat(plyta, 40,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lambda M, i: add.move(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add.rotateY(M, i * 0.3),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[0, i * 0.2, 0]))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NAUJA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Detalės, kurių prireikia kiekvienam modeliui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3931920" cy="2331720"/>
          </a:xfrm>
          <a:prstGeom prst="roundRect">
            <a:avLst>
              <a:gd name="adj" fmla="val 235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locomotiv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3822192" cy="222199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381304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23_locomotive.py – wheel, beam, rotate_point, array_mirror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663440" y="1417320"/>
            <a:ext cx="3913632" cy="2331720"/>
          </a:xfrm>
          <a:prstGeom prst="roundRect">
            <a:avLst>
              <a:gd name="adj" fmla="val 235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9" name="Image 1" descr="/home/claude/add3d/docs/images/windmill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718304" y="1472184"/>
            <a:ext cx="3803904" cy="222199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663440" y="3813048"/>
            <a:ext cx="3913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24_windmill.py – extrude, arch, stairs, tree, scatter, along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66928" y="4251960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768096" y="43982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beam(A, B, w, h)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768096" y="4727448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Sija tarp dviejų taškų – orientaciją apskaičiuoja pati.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4690872" y="4251960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4892040" y="43982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wheel, gear, arch, stairs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4892040" y="4727448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Ratai su stipinais, sukimbantys krumpliaračiai, arkos, laiptai.</a:t>
            </a:r>
            <a:endParaRPr lang="en-US" sz="1250" dirty="0"/>
          </a:p>
        </p:txBody>
      </p:sp>
      <p:sp>
        <p:nvSpPr>
          <p:cNvPr id="17" name="Shape 13"/>
          <p:cNvSpPr/>
          <p:nvPr/>
        </p:nvSpPr>
        <p:spPr>
          <a:xfrm>
            <a:off x="566928" y="5495544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768096" y="564184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roof, column, bricks, tree</a:t>
            </a:r>
            <a:endParaRPr lang="en-US" sz="1500" dirty="0"/>
          </a:p>
        </p:txBody>
      </p:sp>
      <p:sp>
        <p:nvSpPr>
          <p:cNvPr id="19" name="Text 15"/>
          <p:cNvSpPr txBox="1"/>
          <p:nvPr/>
        </p:nvSpPr>
        <p:spPr>
          <a:xfrm>
            <a:off x="768096" y="5971032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Namai, šventyklos, sienos, miškai.</a:t>
            </a:r>
            <a:endParaRPr lang="en-US" sz="1250" dirty="0"/>
          </a:p>
        </p:txBody>
      </p:sp>
      <p:sp>
        <p:nvSpPr>
          <p:cNvPr id="20" name="Shape 16"/>
          <p:cNvSpPr/>
          <p:nvPr/>
        </p:nvSpPr>
        <p:spPr>
          <a:xfrm>
            <a:off x="4690872" y="5495544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4892040" y="564184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pixels, heightmap, text</a:t>
            </a:r>
            <a:endParaRPr lang="en-US" sz="1500" dirty="0"/>
          </a:p>
        </p:txBody>
      </p:sp>
      <p:sp>
        <p:nvSpPr>
          <p:cNvPr id="22" name="Text 18"/>
          <p:cNvSpPr txBox="1"/>
          <p:nvPr/>
        </p:nvSpPr>
        <p:spPr>
          <a:xfrm>
            <a:off x="4892040" y="5971032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Pikselinis piešinys, kubelių reljefas, užrašai įmontuotu šriftu (ir ĄČĘĖĮŠŲŪŽ).</a:t>
            </a:r>
            <a:endParaRPr lang="en-US" sz="12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NAUJA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Išdėstymas: aim, scatter, along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846320" cy="3200400"/>
          </a:xfrm>
          <a:prstGeom prst="roundRect">
            <a:avLst>
              <a:gd name="adj" fmla="val 1714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553712" cy="2944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detalė aplink koordinačių pradžią, žiūri aukštyn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add.push()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add.capsule([0, 0, 0], [0, 2, 0], 0.2, 12, "silver")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arm = add.pop()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nukreipti nuo peties į plaštaką, perkelti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arm = add.aim(arm, add.direction(shoulder, hand))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add.mesh(add.move(arm, shoulder))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keturiasdešimt medžių ant kalvų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spots = add.random_points(40, lo, hi, seed=1,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    height=hills)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add.mesh(add.scatter(tree, spots, seed=1,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scale=(0.7, 1.4)))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532120" y="1463040"/>
            <a:ext cx="3044952" cy="3200400"/>
          </a:xfrm>
          <a:prstGeom prst="roundRect">
            <a:avLst>
              <a:gd name="adj" fmla="val 1802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robo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86984" y="1517904"/>
            <a:ext cx="2935224" cy="309067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532120" y="4727448"/>
            <a:ext cx="3044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27_robot.py – kiekviena galūnė nukreipta į tašką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566928" y="4983480"/>
            <a:ext cx="80101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A4B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Kiekvieną detalę kurkite aplink koordinačių pradžią tarp push() ir pop(); tada nukreipkite, pasukite ir perkelkite į vietą.</a:t>
            </a:r>
            <a:endParaRPr lang="en-US" sz="16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SLUOKSNIAI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Spalvos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572000" cy="2651760"/>
          </a:xfrm>
          <a:prstGeom prst="roundRect">
            <a:avLst>
              <a:gd name="adj" fmla="val 2069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279392" cy="2395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add.box(c, 1, "red")            # vardu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add.box(c, 1, "#ff8800")        # hex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add.box(c, 1, [255, 136, 0])    # RGB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add.hsv(0.3, 0.7, 1.0)          # atspalvis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add.gradient(t, "navy", "gold") # perėjimas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add.shade("red", 0.6)           # tamsiau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 = add.color_by(M,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lambda p: add.hsv(p[1] / 10.0))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66928" y="4206240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68096" y="435254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color(M, spalva)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68096" y="4681728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Perdažo visą modelį.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690872" y="4206240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92040" y="435254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color_by(M, fn)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892040" y="4681728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Spalva pagal sienos padėtį – vaivorykštės, aukščio žemėlapiai.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66928" y="5449824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68096" y="559612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color_gradient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68096" y="5925312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Perėjimas nuo vienos spalvos iki kitos išilgai ašies.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690872" y="5449824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892040" y="559612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color_random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5925312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Kiekvienai sienai – sava atsitiktinė spalva.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303520" y="1691640"/>
            <a:ext cx="3291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8A4B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Užduočiai reikia bent trijų spalvų – bet gražiau, kai jos ką nors reiškia.</a:t>
            </a:r>
            <a:endParaRPr lang="en-US" sz="17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KŪNAI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Loginės operacijos su kūnais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4846320" cy="3291840"/>
          </a:xfrm>
          <a:prstGeom prst="roundRect">
            <a:avLst>
              <a:gd name="adj" fmla="val 166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boolean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4736592" cy="31821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532120" y="1417320"/>
            <a:ext cx="3044952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25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union(A, B)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Sąjunga: viskas, kas yra bet kuriame kūne. Paslėptos vidinės sienos dingsta.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25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intersect(A, B)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Sankirta: tik tai, kas bendra.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25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difference(A, B)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Skirtumas: A su iškirptu B. Taip daromos skylės ir įpjovos.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25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cut(M, taškas, normalė)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Pjūvis plokštuma – pigiau.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566928" y="4983480"/>
            <a:ext cx="8010144" cy="1280160"/>
          </a:xfrm>
          <a:prstGeom prst="roundRect">
            <a:avLst>
              <a:gd name="adj" fmla="val 4286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13232" y="5111496"/>
            <a:ext cx="7717536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add.cuboid([0,0,0], [4,1,4], "brown")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plokste = add.layer()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add.cylinder([0,-1,0], [0,1,0], 0.6, 32, "black")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grezlas = add.layer()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add.mesh(add.difference(plokste, grezlas))</a:t>
            </a:r>
            <a:endParaRPr lang="en-US" sz="11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KŪNAI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Kaip veikia loginės operacijos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2511552" cy="1783080"/>
          </a:xfrm>
          <a:prstGeom prst="roundRect">
            <a:avLst>
              <a:gd name="adj" fmla="val 2564"/>
            </a:avLst>
          </a:prstGeom>
          <a:solidFill>
            <a:srgbClr val="F6EFE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68096" y="160934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Perpjaunama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68096" y="1938528"/>
            <a:ext cx="2109216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Kiekviena siena perpjaunama ten, kur ją galėtų kirsti kito kūno trikampiai. Kaimynai randami per erdvinį tinklelį, todėl toli esanti siena nepjaustoma.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3316224" y="1463040"/>
            <a:ext cx="2511552" cy="1783080"/>
          </a:xfrm>
          <a:prstGeom prst="roundRect">
            <a:avLst>
              <a:gd name="adj" fmla="val 2564"/>
            </a:avLst>
          </a:prstGeom>
          <a:solidFill>
            <a:srgbClr val="F6EFE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517392" y="160934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Klausiama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3517392" y="1938528"/>
            <a:ext cx="2109216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Kiekvienos dalies klausiama: ar ji viduje, išorėje, ar guli ant kito kūno paviršiaus? Atsako spindulys, skaičiuojantis susikirtimus.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065520" y="1463040"/>
            <a:ext cx="2511552" cy="1783080"/>
          </a:xfrm>
          <a:prstGeom prst="roundRect">
            <a:avLst>
              <a:gd name="adj" fmla="val 2564"/>
            </a:avLst>
          </a:prstGeom>
          <a:solidFill>
            <a:srgbClr val="F6EFE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66688" y="160934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Atrenkama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266688" y="1938528"/>
            <a:ext cx="2109216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Sąjunga palieka tai, kas išorėje; sankirta – kas viduje; skirtumas – A išorę ir apverstą B vidų.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3566160"/>
            <a:ext cx="801014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b="1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Apie 600 eilučių gryno Python. Jokių bibliotekų.
</a:t>
            </a:r>
            <a:endParaRPr lang="en-US" sz="15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6000 sienų sfera minus dėžė – apie 0,5 s.  </a:t>
            </a:r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25 000 sienų – apie 2 s.
</a:t>
            </a:r>
            <a:endParaRPr lang="en-US" sz="15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Rezultatas suklijuotas, plyšeliai užtaisyti, paviršius uždaras.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66928" y="4800600"/>
            <a:ext cx="8010144" cy="960120"/>
          </a:xfrm>
          <a:prstGeom prst="roundRect">
            <a:avLst>
              <a:gd name="adj" fmla="val 4762"/>
            </a:avLst>
          </a:prstGeom>
          <a:solidFill>
            <a:srgbClr val="EAF3E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95528" y="4983480"/>
            <a:ext cx="7552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Loginėms operacijoms reikia uždarų kūnų. Jei rezultatas keistas – pirmiausia patikrinkite abu pradinius kūnus su add.check().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ĮRANKIAI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Modelio taisymas ir tikrinimas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44752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68096" y="159105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clean(M)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68096" y="1920240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Suklijuoja sutampančias viršūnes, pašalina nulinio ploto ir pasikartojančias sienas, išmeta vidines sieneles ten, kur du kūnai liečiasi.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690872" y="1444752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892040" y="159105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heal(M)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892040" y="1920240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Užtaiso plyšelius ten, kur briauna praeina pro svetimą viršūnę.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66928" y="2816352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68096" y="296265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fix_normals(M)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68096" y="3291840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Nukreipia visas sienas ta pačia kryptimi, uždarame modelyje – į išorę.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690872" y="2816352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92040" y="296265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triangulate(M), inside(M, p)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892040" y="3291840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Visos sienos – trikampiai; ar taškas yra kūno viduje?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4069080"/>
            <a:ext cx="3931920" cy="1005840"/>
          </a:xfrm>
          <a:prstGeom prst="roundRect">
            <a:avLst>
              <a:gd name="adj" fmla="val 5455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13232" y="4197096"/>
            <a:ext cx="363931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modelis = add.clean(add.layer())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add.mesh(modelis)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add.check()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4709160" y="4069080"/>
            <a:ext cx="3867912" cy="1417320"/>
          </a:xfrm>
          <a:prstGeom prst="roundRect">
            <a:avLst>
              <a:gd name="adj" fmla="val 3871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855464" y="4197096"/>
            <a:ext cx="3575304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vertices            136768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OK polygons            163132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OK colours             6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OK closed surface      yes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volume              60.286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Sudėjus du besiliečiančius kubus, kiekvienas pasilieka savo sienelę toje vietoje, kur jos niekas nemato. clean() jas randa ir pašalina. examples/31_workbench.py rodo visus taisymo įrankius.</a:t>
            </a:r>
            <a:endParaRPr lang="en-US" sz="12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FIGŪROS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Penki taisyklingieji briaunainiai ir sfera iš trikampių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709160" cy="2240280"/>
          </a:xfrm>
          <a:prstGeom prst="roundRect">
            <a:avLst>
              <a:gd name="adj" fmla="val 2449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416552" cy="1984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add.icosahedron([0, 0, 0], 2, "purple")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add.dodecahedron([5, 0, 0], 2, "gold")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 = add.polyhedron_points("icosahedron")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add.sphere([0, 5, 0], 2, 20, "sky")    # 5120 tri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add.icosphere([5, 5, 0], 2, 3, "red")  # 1280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add.quadsphere([9, 5, 0], 2, 12, "gold")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440680" y="1463040"/>
            <a:ext cx="3136392" cy="2240280"/>
          </a:xfrm>
          <a:prstGeom prst="roundRect">
            <a:avLst>
              <a:gd name="adj" fmla="val 2449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polyhedra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95544" y="1517904"/>
            <a:ext cx="3026664" cy="213055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40680" y="376732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38_polyhedra.py – kūnai, dualieji, nupjovimai, kupolai, glotnūs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66928" y="4114800"/>
            <a:ext cx="2511552" cy="1371600"/>
          </a:xfrm>
          <a:prstGeom prst="roundRect">
            <a:avLst>
              <a:gd name="adj" fmla="val 3333"/>
            </a:avLst>
          </a:prstGeom>
          <a:solidFill>
            <a:srgbClr val="F6EFE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8096" y="42611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Sucentruota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68096" y="4590288"/>
            <a:ext cx="210921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Viršūnių vidurkis yra lygiai centras; kiekviena viršūnė atstumu r.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3316224" y="4114800"/>
            <a:ext cx="2511552" cy="1371600"/>
          </a:xfrm>
          <a:prstGeom prst="roundRect">
            <a:avLst>
              <a:gd name="adj" fmla="val 3333"/>
            </a:avLst>
          </a:prstGeom>
          <a:solidFill>
            <a:srgbClr val="F6EFE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517392" y="42611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Kupolo principas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3517392" y="4590288"/>
            <a:ext cx="210921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Kiekvieną trikampį į keturis, vidurio taškus – ant sferos, kartoti: 20, 80, 320, 1280 ...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065520" y="4114800"/>
            <a:ext cx="2511552" cy="1371600"/>
          </a:xfrm>
          <a:prstGeom prst="roundRect">
            <a:avLst>
              <a:gd name="adj" fmla="val 3333"/>
            </a:avLst>
          </a:prstGeom>
          <a:solidFill>
            <a:srgbClr val="F6EFE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266688" y="42611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 kaip anksčiau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6266688" y="4590288"/>
            <a:ext cx="210921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sphere(c, r, k) lygį parenka pagal k: k=10 -&gt; 1280, k=20 -&gt; 5120 sienų.</a:t>
            </a:r>
            <a:endParaRPr lang="en-US" sz="12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VIRŠŪNIŲ ĮRANKIAI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Futbolo kamuolys iš ikosaedro viršūnių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709160" cy="2377440"/>
          </a:xfrm>
          <a:prstGeom prst="roundRect">
            <a:avLst>
              <a:gd name="adj" fmla="val 2308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416552" cy="2121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ico = add.make(add.icosahedron, [0, 0, 0], 3)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print(add.neighbors(ico, 0))   # 5, in order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print(add.valence(ico, 0))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ball = add.truncate(ico, 1 / 3.0)   # corners off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ball = add.color_by_sides(ball,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    {5: "black", 6: "white"})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add.mesh(add.smooth(ball, 16))      # rounded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440680" y="1463040"/>
            <a:ext cx="3136392" cy="2377440"/>
          </a:xfrm>
          <a:prstGeom prst="roundRect">
            <a:avLst>
              <a:gd name="adj" fmla="val 2308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footbal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95544" y="1517904"/>
            <a:ext cx="3026664" cy="226771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40680" y="390448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37_football.py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66928" y="4251960"/>
            <a:ext cx="2511552" cy="1325880"/>
          </a:xfrm>
          <a:prstGeom prst="roundRect">
            <a:avLst>
              <a:gd name="adj" fmla="val 3448"/>
            </a:avLst>
          </a:prstGeom>
          <a:solidFill>
            <a:srgbClr val="F6EFE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8096" y="43982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Paklauskite tinklo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68096" y="4727448"/>
            <a:ext cx="2109216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neighbors, valence, mean_neighbor_distance, edges, vertex_normal, face_center, boundary_loops.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3316224" y="4251960"/>
            <a:ext cx="2511552" cy="1325880"/>
          </a:xfrm>
          <a:prstGeom prst="roundRect">
            <a:avLst>
              <a:gd name="adj" fmla="val 3448"/>
            </a:avLst>
          </a:prstGeom>
          <a:solidFill>
            <a:srgbClr val="F6EFE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517392" y="43982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Pakeiskite vieną kampą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3517392" y="4727448"/>
            <a:ext cx="2109216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set_vertex(M, i, [x, None, z]) perkelia viršūnę i ir palieka sienas – tada smooth().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065520" y="4251960"/>
            <a:ext cx="2511552" cy="1325880"/>
          </a:xfrm>
          <a:prstGeom prst="roundRect">
            <a:avLst>
              <a:gd name="adj" fmla="val 3448"/>
            </a:avLst>
          </a:prstGeom>
          <a:solidFill>
            <a:srgbClr val="F6EFE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266688" y="43982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Perkurkite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6266688" y="4727448"/>
            <a:ext cx="2109216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dual, truncate, refine + spherify, inflate – nauji kūnai iš senų.</a:t>
            </a:r>
            <a:endParaRPr lang="en-US" sz="12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SMOOTH()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Glotnūs paviršiai: apibendrintas Catmull–Clark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709160" cy="2148840"/>
          </a:xfrm>
          <a:prstGeom prst="roundRect">
            <a:avLst>
              <a:gd name="adj" fmla="val 2553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416552" cy="189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add.box([0, 0, 0], 2, "gold")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block = add.layer()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 = add.nearest_vertex(block, [1, 1, 1])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block = add.set_vertex(block, i, [2.5, 2.5, None])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add.mesh(add.smooth(block, 8))    # 8 per edge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add.mesh(add.catmull_clark(block, 3))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440680" y="1463040"/>
            <a:ext cx="3136392" cy="2148840"/>
          </a:xfrm>
          <a:prstGeom prst="roundRect">
            <a:avLst>
              <a:gd name="adj" fmla="val 255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smooth_shap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95544" y="1517904"/>
            <a:ext cx="3026664" cy="203911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40680" y="367588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39_smooth_shapes.py – n = 1 ... 7 ant vienos prizmės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66928" y="4023360"/>
            <a:ext cx="2511552" cy="1600200"/>
          </a:xfrm>
          <a:prstGeom prst="roundRect">
            <a:avLst>
              <a:gd name="adj" fmla="val 2857"/>
            </a:avLst>
          </a:prstGeom>
          <a:solidFill>
            <a:srgbClr val="F6EFE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8096" y="41696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 koks n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68096" y="4498848"/>
            <a:ext cx="21092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langelių ant kiekvienos kontrolinės briaunos, n = 1, 2, 3, 4, 5 ... – klasikinis dalijimas duoda tik 2, 4, 8.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3316224" y="4023360"/>
            <a:ext cx="2511552" cy="1600200"/>
          </a:xfrm>
          <a:prstGeom prst="roundRect">
            <a:avLst>
              <a:gd name="adj" fmla="val 2857"/>
            </a:avLst>
          </a:prstGeom>
          <a:solidFill>
            <a:srgbClr val="F6EFE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517392" y="41696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Tiksliai ant ribinio paviršiaus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3517392" y="4498848"/>
            <a:ext cx="21092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Kiekviena nauja viršūnė skaičiuojama ant ribinio paviršiaus; prie ypatingųjų kampų tinklas perparametrizuojamas, kad liktų tolygus.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065520" y="4023360"/>
            <a:ext cx="2511552" cy="1600200"/>
          </a:xfrm>
          <a:prstGeom prst="roundRect">
            <a:avLst>
              <a:gd name="adj" fmla="val 2857"/>
            </a:avLst>
          </a:prstGeom>
          <a:solidFill>
            <a:srgbClr val="F6EFE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266688" y="41696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Straipsnis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6266688" y="4498848"/>
            <a:ext cx="21092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Sabaliauskas, Uniform n-grids on Catmull–Clark limit surfaces of arbitrary polygon meshes (2026); perkelta eilutė po eilutės į gryną Python.</a:t>
            </a:r>
            <a:endParaRPr lang="en-US" sz="12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SURFACE()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Dvidešimt penki paviršiai pagal vardą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709160" cy="2148840"/>
          </a:xfrm>
          <a:prstGeom prst="roundRect">
            <a:avLst>
              <a:gd name="adj" fmla="val 2553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416552" cy="189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print(add.surface_names())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add.surface("klein_bottle", [0, 0, 0], 4, 120)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add.surface("dini", [6, 0, 0], 4,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color=lambda u, v: add.hsv(u / 12))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add.surface("pillow", [-6, 0, 0], 3, a=0.9)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owl = add.surface_function("owl")   # bare f(u, v)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440680" y="1463040"/>
            <a:ext cx="3136392" cy="2148840"/>
          </a:xfrm>
          <a:prstGeom prst="roundRect">
            <a:avLst>
              <a:gd name="adj" fmla="val 255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surface_zo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95544" y="1517904"/>
            <a:ext cx="3026664" cy="203911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40680" y="367588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34_surface_zoo.py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66928" y="3977640"/>
            <a:ext cx="3931920" cy="2011680"/>
          </a:xfrm>
          <a:prstGeom prst="roundRect">
            <a:avLst>
              <a:gd name="adj" fmla="val 272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1" name="Image 1" descr="/home/claude/add3d/docs/images/knot_curv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1792" y="4032504"/>
            <a:ext cx="3822192" cy="190195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66928" y="605332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35_knot_curve.py – mazgas iš besisukančių apskritimų, vienas curve() kvietimas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4663440" y="3977640"/>
            <a:ext cx="3913632" cy="2011680"/>
          </a:xfrm>
          <a:prstGeom prst="roundRect">
            <a:avLst>
              <a:gd name="adj" fmla="val 272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4" name="Image 2" descr="/home/claude/add3d/docs/images/minecraft_sphere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718304" y="4032504"/>
            <a:ext cx="3803904" cy="190195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4663440" y="6053328"/>
            <a:ext cx="3913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36_minecraft_sphere.py – Maple, kubeliai, geodezinė</a:t>
            </a:r>
            <a:endParaRPr lang="en-US" sz="11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.OBJ + .MTL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Stiklas, paveikslėliai ir Sketchfab ribos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709160" cy="2148840"/>
          </a:xfrm>
          <a:prstGeom prst="roundRect">
            <a:avLst>
              <a:gd name="adj" fmla="val 2553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416552" cy="189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glass = add.transparent("sky", 0.35)     # 0..1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wall = add.make(add.cuboid, [0, 1.5, 0], [6, 3, 0.3])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hole = add.make(add.cuboid, [0, 1.6, 0], [2, 1.2, 1])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wall = add.difference(wall, hole)  # pirma anga,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add.mesh(add.texture(wall, "bricks.png"))  # tada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stiklas angoje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add.cuboid([0, 1.6, 0], [2, 1.2, 0.03], glass)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add.check()     # &lt;= 50 MB, &lt;= 50 colours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add.save("house.obj", colors=50)   # .mtl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440680" y="1463040"/>
            <a:ext cx="3136392" cy="2148840"/>
          </a:xfrm>
          <a:prstGeom prst="roundRect">
            <a:avLst>
              <a:gd name="adj" fmla="val 255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glass_and_textur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95544" y="1517904"/>
            <a:ext cx="3026664" cy="203911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40680" y="367588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45_glass_and_textures.py – pro stiklą matyti kambarys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66928" y="4023360"/>
            <a:ext cx="2511552" cy="1600200"/>
          </a:xfrm>
          <a:prstGeom prst="roundRect">
            <a:avLst>
              <a:gd name="adj" fmla="val 2857"/>
            </a:avLst>
          </a:prstGeom>
          <a:solidFill>
            <a:srgbClr val="F6EFE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8096" y="41696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Neprivaloma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68096" y="4498848"/>
            <a:ext cx="21092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 transparent/texture viskas lygiai kaip anksčiau; .off failuose lieka paprastos spalvos.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3316224" y="4023360"/>
            <a:ext cx="2511552" cy="1600200"/>
          </a:xfrm>
          <a:prstGeom prst="roundRect">
            <a:avLst>
              <a:gd name="adj" fmla="val 2857"/>
            </a:avLst>
          </a:prstGeom>
          <a:solidFill>
            <a:srgbClr val="F6EFE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517392" y="41696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Ribos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3517392" y="4498848"/>
            <a:ext cx="21092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Sketchfab: 100 MB nemokamai, medžiagos virš 100 suliejamos. Kursas: 50 MB, 50 spalvų. Padeda limit_colors() ir obj_size().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065520" y="4023360"/>
            <a:ext cx="2511552" cy="1600200"/>
          </a:xfrm>
          <a:prstGeom prst="roundRect">
            <a:avLst>
              <a:gd name="adj" fmla="val 2857"/>
            </a:avLst>
          </a:prstGeom>
          <a:solidFill>
            <a:srgbClr val="F6EFE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266688" y="41696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Paveikslėliai iš kodo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6266688" y="4498848"/>
            <a:ext cx="21092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write_png("bricks.png", rows) įrašo patį paskaičiuotą paveikslėlį – failų nereikia.</a:t>
            </a:r>
            <a:endParaRPr lang="en-US" sz="12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46_CASTLE.PY, STREAM()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Pilis: modelis, didesnis už atmintį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325880"/>
            <a:ext cx="4846320" cy="3108960"/>
          </a:xfrm>
          <a:prstGeom prst="roundRect">
            <a:avLst>
              <a:gd name="adj" fmla="val 1765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castl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380744"/>
            <a:ext cx="4736592" cy="29992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4498848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 tekstūrų, kiekvienas akmuo – daugiakampis: daugiau kaip 500 MB .off ir .obj, kurį 7-Zip suglaudina iki 100 MB Sketchfab'ui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5349240" y="1325880"/>
            <a:ext cx="3246120" cy="1417320"/>
          </a:xfrm>
          <a:prstGeom prst="roundRect">
            <a:avLst>
              <a:gd name="adj" fmla="val 3871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9" name="Image 1" descr="/home/claude/add3d/docs/images/castle_hall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404104" y="1380744"/>
            <a:ext cx="3136392" cy="130759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5349240" y="2807208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sosto menė ir puota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349240" y="3017520"/>
            <a:ext cx="3246120" cy="1417320"/>
          </a:xfrm>
          <a:prstGeom prst="roundRect">
            <a:avLst>
              <a:gd name="adj" fmla="val 3871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2" name="Image 2" descr="/home/claude/add3d/docs/images/castle_treasury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404104" y="3072384"/>
            <a:ext cx="3136392" cy="1307592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349240" y="4498848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drakonas ant lobio</a:t>
            </a:r>
            <a:endParaRPr lang="en-US" sz="1100" dirty="0"/>
          </a:p>
        </p:txBody>
      </p:sp>
      <p:sp>
        <p:nvSpPr>
          <p:cNvPr id="14" name="Shape 9"/>
          <p:cNvSpPr/>
          <p:nvPr/>
        </p:nvSpPr>
        <p:spPr>
          <a:xfrm>
            <a:off x="566928" y="5074920"/>
            <a:ext cx="8321040" cy="960120"/>
          </a:xfrm>
          <a:prstGeom prst="roundRect">
            <a:avLst>
              <a:gd name="adj" fmla="val 5714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713232" y="5202936"/>
            <a:ext cx="8028432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 = add.stream("castle.off", precision=4)   # parts go to disk at once,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wall_of_bricks(); out.add()   # tidied (no overlaps), written, cleared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out.close()                   # fills in the OFF header (.mtl for .obj)</a:t>
            </a:r>
            <a:endParaRPr lang="en-US" sz="1100" dirty="0"/>
          </a:p>
        </p:txBody>
      </p:sp>
      <p:sp>
        <p:nvSpPr>
          <p:cNvPr id="16" name="Text 11"/>
          <p:cNvSpPr txBox="1"/>
          <p:nvPr/>
        </p:nvSpPr>
        <p:spPr>
          <a:xfrm>
            <a:off x="566928" y="6181344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Pilis Sketchfab'e – pasukiokite ją 3D: </a:t>
            </a:r>
            <a:pPr indent="0" marL="0">
              <a:buNone/>
            </a:pPr>
            <a:r>
              <a:rPr lang="en-US" sz="1300" b="1" u="sng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Sketchfab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skfb.ly/pOnRS</a:t>
            </a:r>
            <a:endParaRPr lang="en-US" sz="13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Modelio išsaugojimas ir viešinimas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572000" cy="1508760"/>
          </a:xfrm>
          <a:prstGeom prst="roundRect">
            <a:avLst>
              <a:gd name="adj" fmla="val 3636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279392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add.save("modelis.off")   # kurso formatas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add.save("modelis.obj")   # + .mtl spalvoms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add.save("modelis.ply")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add.save("modelis.stl")   # 3D spausdinimui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66928" y="3154680"/>
            <a:ext cx="3886200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68096" y="330098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Sketchfab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68096" y="3630168"/>
            <a:ext cx="348386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Sudėkite .obj ir .mtl į vieną archyvą ir įkelkite – modelį galės pasukioti bet kas naršyklėje, kaip pilį: </a:t>
            </a:r>
            <a:pPr indent="0" marL="0">
              <a:lnSpc>
                <a:spcPts val="1600"/>
              </a:lnSpc>
              <a:buNone/>
            </a:pPr>
            <a:r>
              <a:rPr lang="en-US" sz="1250" b="1" u="sng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Sketchfab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skfb.ly/pOnRS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690872" y="3154680"/>
            <a:ext cx="3886200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92040" y="330098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3D spausdinimas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892040" y="3630168"/>
            <a:ext cx="348386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clean(..., normals=True), tada save("m.stl"). Paviršius turi būti uždaras.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66928" y="4626864"/>
            <a:ext cx="3886200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68096" y="477316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Peržiūra be MeshLab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68096" y="5102352"/>
            <a:ext cx="348386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python3 tools/preview.py modelis.off sukuria PNG. Irgi be jokių bibliotekų.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690872" y="4626864"/>
            <a:ext cx="3886200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892040" y="477316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Įkėlimas atgal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5102352"/>
            <a:ext cx="348386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load("raide.off") grąžina modelį, kurį galima stumdyti ir dažyti.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303520" y="1691640"/>
            <a:ext cx="3291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8A4B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MeshLab konvertavimo žingsnis nebereikalingas – add.py OBJ ir MTL parašo pats.</a:t>
            </a:r>
            <a:endParaRPr lang="en-US" sz="17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GALERIJA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Pilni modeliai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3931920" cy="2377440"/>
          </a:xfrm>
          <a:prstGeom prst="roundRect">
            <a:avLst>
              <a:gd name="adj" fmla="val 2308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templ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3822192" cy="22677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385876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25_temple.py – kolonos ant apskritimo, languotos grindys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663440" y="1417320"/>
            <a:ext cx="3913632" cy="2377440"/>
          </a:xfrm>
          <a:prstGeom prst="roundRect">
            <a:avLst>
              <a:gd name="adj" fmla="val 2308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9" name="Image 1" descr="/home/claude/add3d/docs/images/bridg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718304" y="1472184"/>
            <a:ext cx="3803904" cy="226771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663440" y="3858768"/>
            <a:ext cx="3913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29_bridge.py – sijos, lynai, pakabos, automobiliai kelyje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66928" y="4160520"/>
            <a:ext cx="3931920" cy="1920240"/>
          </a:xfrm>
          <a:prstGeom prst="roundRect">
            <a:avLst>
              <a:gd name="adj" fmla="val 285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2" name="Image 2" descr="/home/claude/add3d/docs/images/voxel_islan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21792" y="4215384"/>
            <a:ext cx="3822192" cy="1810512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4663440" y="4160520"/>
            <a:ext cx="3913632" cy="1920240"/>
          </a:xfrm>
          <a:prstGeom prst="roundRect">
            <a:avLst>
              <a:gd name="adj" fmla="val 285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4" name="Image 3" descr="/home/claude/add3d/docs/images/vector_fields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718304" y="4215384"/>
            <a:ext cx="3803904" cy="1810512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GALERIJA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Didesnės studijos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3931920" cy="2377440"/>
          </a:xfrm>
          <a:prstGeom prst="roundRect">
            <a:avLst>
              <a:gd name="adj" fmla="val 2308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chess_se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3822192" cy="22677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385876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18_chess_set.py – sukinys, sluoksniai, loginės operacijos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663440" y="1417320"/>
            <a:ext cx="3913632" cy="2377440"/>
          </a:xfrm>
          <a:prstGeom prst="roundRect">
            <a:avLst>
              <a:gd name="adj" fmla="val 2308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9" name="Image 1" descr="/home/claude/add3d/docs/images/fractals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718304" y="1472184"/>
            <a:ext cx="3803904" cy="226771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663440" y="3858768"/>
            <a:ext cx="3913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17_fractals.py – Mengerio kempinė, Sierpinskis, medis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66928" y="4160520"/>
            <a:ext cx="3931920" cy="1920240"/>
          </a:xfrm>
          <a:prstGeom prst="roundRect">
            <a:avLst>
              <a:gd name="adj" fmla="val 285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2" name="Image 2" descr="/home/claude/add3d/docs/images/city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21792" y="4215384"/>
            <a:ext cx="3822192" cy="1810512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4663440" y="4160520"/>
            <a:ext cx="3913632" cy="1920240"/>
          </a:xfrm>
          <a:prstGeom prst="roundRect">
            <a:avLst>
              <a:gd name="adj" fmla="val 285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4" name="Image 3" descr="/home/claude/add3d/docs/images/example4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718304" y="4215384"/>
            <a:ext cx="3803904" cy="1810512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SUDERINAMUMAS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Nuo 1.2 prie 2.0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10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463040"/>
          <a:ext cx="8010144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011680"/>
                <a:gridCol w="2798064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add.py 1.2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B1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add.py 2.0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B1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kas tai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B1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cube2(c, e, b, RGB)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frame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kubo briaunų karkasas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cylinder2(A, B, r, k, RGB)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tube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cilindras be dangtelių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cylinder3(A, B, r, k, RGB)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cup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uždarytas iš vieno galo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cone2(A, B, r, k, RGB)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cone_open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tik šoninis paviršius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rectangle3D(c, e, RGB)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cuboid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stačiakampis gretasienis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newface(A, RGB)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polygon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viena plokščia siena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spin3D(A, B, S, ...)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revolve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sukinys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off(failas)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save(failas)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.off, .obj, .ply arba .stl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4892040"/>
            <a:ext cx="8010144" cy="1051560"/>
          </a:xfrm>
          <a:prstGeom prst="roundRect">
            <a:avLst>
              <a:gd name="adj" fmla="val 4348"/>
            </a:avLst>
          </a:prstGeom>
          <a:solidFill>
            <a:srgbClr val="F6EFE8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95528" y="5074920"/>
            <a:ext cx="75529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 seni vardai tebeveikia. Dvylika 1.2 versijai rašytų modelių guli tests/legacy/ aplanke, ir testai tikrina, kad jie duotų lygiai tiek pat sienų kaip anksčiau (pasikeitė tik sphere: dabar geodezinė; senoji – quadsphere). examples/32_old_names.py – ištisas modelis 1.2 žodynu.</a:t>
            </a:r>
            <a:endParaRPr lang="en-US" sz="13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241C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051560"/>
            <a:ext cx="80101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Kur viską rasti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2057400"/>
            <a:ext cx="51206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E9C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Modulis, pavyzdžiai, testai ir dokumentacija
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github.com/…/add3d
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E9C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Dokumentacija angliškai ir lietuviškai
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…github.io/add3d
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E9C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Klausimai
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akatasis@gmail.com  ·  martynas.sabaliauskas@mif.vu.lt</a:t>
            </a:r>
            <a:endParaRPr lang="en-US" sz="1400" dirty="0"/>
          </a:p>
        </p:txBody>
      </p:sp>
      <p:pic>
        <p:nvPicPr>
          <p:cNvPr id="4" name="Image 0" descr="/home/claude/add3d/docs/images/supershap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0" y="1920240"/>
            <a:ext cx="3108960" cy="21945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5577840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9BFB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Ačiū už dėmesį.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38</Slides>
  <Notes>38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</vt:vector>
  </TitlesOfParts>
  <Company>Vilniaus universitetas, MIF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add.py 2.0</dc:title>
  <dc:subject>PptxGenJS Presentation</dc:subject>
  <dc:creator>Martynas Sabaliauskas</dc:creator>
  <cp:lastModifiedBy>Martynas Sabaliauskas</cp:lastModifiedBy>
  <cp:revision>1</cp:revision>
  <dcterms:created xsi:type="dcterms:W3CDTF">2026-09-26T02:30:04Z</dcterms:created>
  <dcterms:modified xsi:type="dcterms:W3CDTF">2026-09-26T02:30:04Z</dcterms:modified>
</cp:coreProperties>
</file>