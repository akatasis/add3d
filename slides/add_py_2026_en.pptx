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slideMasters/slideMaster31.xml" ContentType="application/vnd.openxmlformats-officedocument.presentationml.slideMaster+xml"/>
  <Override PartName="/ppt/slides/slide31.xml" ContentType="application/vnd.openxmlformats-officedocument.presentationml.slide+xml"/>
  <Override PartName="/ppt/slideMasters/slideMaster32.xml" ContentType="application/vnd.openxmlformats-officedocument.presentationml.slideMaster+xml"/>
  <Override PartName="/ppt/slides/slide32.xml" ContentType="application/vnd.openxmlformats-officedocument.presentationml.slide+xml"/>
  <Override PartName="/ppt/slideMasters/slideMaster33.xml" ContentType="application/vnd.openxmlformats-officedocument.presentationml.slideMaster+xml"/>
  <Override PartName="/ppt/slides/slide33.xml" ContentType="application/vnd.openxmlformats-officedocument.presentationml.slide+xml"/>
  <Override PartName="/ppt/slideMasters/slideMaster34.xml" ContentType="application/vnd.openxmlformats-officedocument.presentationml.slideMaster+xml"/>
  <Override PartName="/ppt/slides/slide34.xml" ContentType="application/vnd.openxmlformats-officedocument.presentationml.slide+xml"/>
  <Override PartName="/ppt/slideMasters/slideMaster35.xml" ContentType="application/vnd.openxmlformats-officedocument.presentationml.slideMaster+xml"/>
  <Override PartName="/ppt/slides/slide35.xml" ContentType="application/vnd.openxmlformats-officedocument.presentationml.slide+xml"/>
  <Override PartName="/ppt/slideMasters/slideMaster36.xml" ContentType="application/vnd.openxmlformats-officedocument.presentationml.slideMaster+xml"/>
  <Override PartName="/ppt/slides/slide36.xml" ContentType="application/vnd.openxmlformats-officedocument.presentationml.slide+xml"/>
  <Override PartName="/ppt/slideMasters/slideMaster37.xml" ContentType="application/vnd.openxmlformats-officedocument.presentationml.slideMaster+xml"/>
  <Override PartName="/ppt/slides/slide37.xml" ContentType="application/vnd.openxmlformats-officedocument.presentationml.slide+xml"/>
  <Override PartName="/ppt/slideMasters/slideMaster38.xml" ContentType="application/vnd.openxmlformats-officedocument.presentationml.slideMaster+xml"/>
  <Override PartName="/ppt/slides/slide38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</p:sldIdLst>
  <p:notesMasterIdLst>
    <p:notesMasterId r:id="rId40"/>
  </p:notesMasterIdLst>
  <p:sldSz cx="9144000" cy="6858000"/>
  <p:notesSz cx="68580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slide" Target="slides/slide34.xml"/><Relationship Id="rId36" Type="http://schemas.openxmlformats.org/officeDocument/2006/relationships/slide" Target="slides/slide35.xml"/><Relationship Id="rId37" Type="http://schemas.openxmlformats.org/officeDocument/2006/relationships/slide" Target="slides/slide36.xml"/><Relationship Id="rId38" Type="http://schemas.openxmlformats.org/officeDocument/2006/relationships/slide" Target="slides/slide37.xml"/><Relationship Id="rId39" Type="http://schemas.openxmlformats.org/officeDocument/2006/relationships/slide" Target="slides/slide38.xml"/><Relationship Id="rId40" Type="http://schemas.openxmlformats.org/officeDocument/2006/relationships/notesMaster" Target="notesMasters/notesMaster1.xml"/><Relationship Id="rId41" Type="http://schemas.openxmlformats.org/officeDocument/2006/relationships/presProps" Target="presProps.xml"/><Relationship Id="rId42" Type="http://schemas.openxmlformats.org/officeDocument/2006/relationships/viewProps" Target="viewProps.xml"/><Relationship Id="rId43" Type="http://schemas.openxmlformats.org/officeDocument/2006/relationships/theme" Target="theme/theme1.xml"/><Relationship Id="rId44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/Relationships>
</file>

<file path=ppt/notesSlides/_rels/notesSlide3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.xml"/>
		</Relationships>
</file>

<file path=ppt/notesSlides/_rels/notesSlide3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3.xml"/>
		</Relationships>
</file>

<file path=ppt/notesSlides/_rels/notesSlide3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4.xml"/>
		</Relationships>
</file>

<file path=ppt/notesSlides/_rels/notesSlide3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5.xml"/>
		</Relationships>
</file>

<file path=ppt/notesSlides/_rels/notesSlide3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6.xml"/>
		</Relationships>
</file>

<file path=ppt/notesSlides/_rels/notesSlide3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7.xml"/>
		</Relationships>
</file>

<file path=ppt/notesSlides/_rels/notesSlide3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8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add.py part of the first lecture, updated for version 2.0 -- for students and for anyone who wants to build 3D models from code. The module is refreshed every year; 2.0 is the largest change since 1.2.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key message: nothing has to be rewritten. For students and for anyone interested.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MeshLab used to be required for OBJ. Not any more.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Example 36 shows the same sphere three ways: the Maple cube-sphere, a ball of blocks, the geodesic one.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42 example programs; every public function is used by at least one of them (python3 tools/coverage.py), and every model fits the Sketchfab limits.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For students: start with examples/01_first_model.py, then 02_primitives.py. For the assignment, examples 06-16 and the complete models 22-33 are the most useful.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5-1.png"/><Relationship Id="rId2" Type="http://schemas.openxmlformats.org/officeDocument/2006/relationships/image" Target="../media/image-15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2-1.png"/><Relationship Id="rId2" Type="http://schemas.openxmlformats.org/officeDocument/2006/relationships/image" Target="../media/image-22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9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0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0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1-1.png"/><Relationship Id="rId2" Type="http://schemas.openxmlformats.org/officeDocument/2006/relationships/image" Target="../media/image-31-2.png"/><Relationship Id="rId3" Type="http://schemas.openxmlformats.org/officeDocument/2006/relationships/image" Target="../media/image-31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31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2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3-1.png"/><Relationship Id="rId2" Type="http://schemas.openxmlformats.org/officeDocument/2006/relationships/image" Target="../media/image-33-2.png"/><Relationship Id="rId3" Type="http://schemas.openxmlformats.org/officeDocument/2006/relationships/image" Target="../media/image-33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33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5-1.png"/><Relationship Id="rId2" Type="http://schemas.openxmlformats.org/officeDocument/2006/relationships/image" Target="../media/image-35-2.png"/><Relationship Id="rId3" Type="http://schemas.openxmlformats.org/officeDocument/2006/relationships/image" Target="../media/image-35-3.png"/><Relationship Id="rId4" Type="http://schemas.openxmlformats.org/officeDocument/2006/relationships/image" Target="../media/image-35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35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6-1.png"/><Relationship Id="rId2" Type="http://schemas.openxmlformats.org/officeDocument/2006/relationships/image" Target="../media/image-36-2.png"/><Relationship Id="rId3" Type="http://schemas.openxmlformats.org/officeDocument/2006/relationships/image" Target="../media/image-36-3.png"/><Relationship Id="rId4" Type="http://schemas.openxmlformats.org/officeDocument/2006/relationships/image" Target="../media/image-36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36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7.xml"/></Relationships>
</file>

<file path=ppt/slides/_rels/slide3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8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241C1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1143000"/>
            <a:ext cx="8010144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add.py 2.0</a:t>
            </a:r>
            <a:endParaRPr lang="en-US" sz="5400" dirty="0"/>
          </a:p>
        </p:txBody>
      </p:sp>
      <p:sp>
        <p:nvSpPr>
          <p:cNvPr id="3" name="Text 1"/>
          <p:cNvSpPr txBox="1"/>
          <p:nvPr/>
        </p:nvSpPr>
        <p:spPr>
          <a:xfrm>
            <a:off x="566928" y="2057400"/>
            <a:ext cx="801014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dirty="0">
                <a:solidFill>
                  <a:srgbClr val="E9C9A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Build 3D models with nothing but Python code</a:t>
            </a:r>
            <a:endParaRPr lang="en-US" sz="1900" dirty="0"/>
          </a:p>
        </p:txBody>
      </p:sp>
      <p:sp>
        <p:nvSpPr>
          <p:cNvPr id="4" name="Shape 2"/>
          <p:cNvSpPr/>
          <p:nvPr/>
        </p:nvSpPr>
        <p:spPr>
          <a:xfrm>
            <a:off x="566928" y="2880360"/>
            <a:ext cx="8010144" cy="2926080"/>
          </a:xfrm>
          <a:prstGeom prst="roundRect">
            <a:avLst>
              <a:gd name="adj" fmla="val 1250"/>
            </a:avLst>
          </a:prstGeom>
          <a:solidFill>
            <a:srgbClr val="F4F3F1"/>
          </a:solidFill>
          <a:ln/>
        </p:spPr>
      </p:sp>
      <p:pic>
        <p:nvPicPr>
          <p:cNvPr id="5" name="Image 0" descr="/home/claude/add3d/docs/images/lighthouse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640080" y="2953512"/>
            <a:ext cx="7863840" cy="2779776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566928" y="6035040"/>
            <a:ext cx="801014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C9BFB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Algorithms and Data Structures  ·  Algorithm Design and Analysis  ·  creative assignment</a:t>
            </a:r>
            <a:endParaRPr lang="en-US" sz="13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329184"/>
            <a:ext cx="80101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60" kern="0" dirty="0">
                <a:solidFill>
                  <a:srgbClr val="8A4B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ADD.PY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66928" y="548640"/>
            <a:ext cx="8010144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2428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What is new in 2.0</a:t>
            </a:r>
            <a:endParaRPr lang="en-US" sz="3000" dirty="0"/>
          </a:p>
        </p:txBody>
      </p:sp>
      <p:sp>
        <p:nvSpPr>
          <p:cNvPr id="4" name="Text 2"/>
          <p:cNvSpPr txBox="1"/>
          <p:nvPr/>
        </p:nvSpPr>
        <p:spPr>
          <a:xfrm>
            <a:off x="8119872" y="6382512"/>
            <a:ext cx="457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566928" y="1508760"/>
            <a:ext cx="3886200" cy="1170432"/>
          </a:xfrm>
          <a:prstGeom prst="roundRect">
            <a:avLst>
              <a:gd name="adj" fmla="val 3906"/>
            </a:avLst>
          </a:prstGeom>
          <a:solidFill>
            <a:srgbClr val="F6EFE8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768096" y="1655064"/>
            <a:ext cx="348386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8A4B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Boolean operations</a:t>
            </a:r>
            <a:endParaRPr lang="en-US" sz="1500" dirty="0"/>
          </a:p>
        </p:txBody>
      </p:sp>
      <p:sp>
        <p:nvSpPr>
          <p:cNvPr id="7" name="Text 5"/>
          <p:cNvSpPr txBox="1"/>
          <p:nvPr/>
        </p:nvSpPr>
        <p:spPr>
          <a:xfrm>
            <a:off x="768096" y="1984248"/>
            <a:ext cx="348386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50" dirty="0">
                <a:solidFill>
                  <a:srgbClr val="2428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union, intersect, difference -- written from scratch, no libraries.</a:t>
            </a:r>
            <a:endParaRPr lang="en-US" sz="1250" dirty="0"/>
          </a:p>
        </p:txBody>
      </p:sp>
      <p:sp>
        <p:nvSpPr>
          <p:cNvPr id="8" name="Shape 6"/>
          <p:cNvSpPr/>
          <p:nvPr/>
        </p:nvSpPr>
        <p:spPr>
          <a:xfrm>
            <a:off x="4690872" y="1508760"/>
            <a:ext cx="3886200" cy="1170432"/>
          </a:xfrm>
          <a:prstGeom prst="roundRect">
            <a:avLst>
              <a:gd name="adj" fmla="val 3906"/>
            </a:avLst>
          </a:prstGeom>
          <a:solidFill>
            <a:srgbClr val="F6EFE8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4892040" y="1655064"/>
            <a:ext cx="348386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8A4B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Regular polyhedra and a geodesic sphere</a:t>
            </a:r>
            <a:endParaRPr lang="en-US" sz="1500" dirty="0"/>
          </a:p>
        </p:txBody>
      </p:sp>
      <p:sp>
        <p:nvSpPr>
          <p:cNvPr id="10" name="Text 8"/>
          <p:cNvSpPr txBox="1"/>
          <p:nvPr/>
        </p:nvSpPr>
        <p:spPr>
          <a:xfrm>
            <a:off x="4892040" y="1984248"/>
            <a:ext cx="348386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50" dirty="0">
                <a:solidFill>
                  <a:srgbClr val="2428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tetrahedron ... icosahedron, centred; sphere() is now a dome of triangles.</a:t>
            </a:r>
            <a:endParaRPr lang="en-US" sz="1250" dirty="0"/>
          </a:p>
        </p:txBody>
      </p:sp>
      <p:sp>
        <p:nvSpPr>
          <p:cNvPr id="11" name="Shape 9"/>
          <p:cNvSpPr/>
          <p:nvPr/>
        </p:nvSpPr>
        <p:spPr>
          <a:xfrm>
            <a:off x="566928" y="2916936"/>
            <a:ext cx="3886200" cy="1170432"/>
          </a:xfrm>
          <a:prstGeom prst="roundRect">
            <a:avLst>
              <a:gd name="adj" fmla="val 3906"/>
            </a:avLst>
          </a:prstGeom>
          <a:solidFill>
            <a:srgbClr val="F6EFE8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768096" y="3063240"/>
            <a:ext cx="348386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8A4B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Smooth surfaces</a:t>
            </a:r>
            <a:endParaRPr lang="en-US" sz="1500" dirty="0"/>
          </a:p>
        </p:txBody>
      </p:sp>
      <p:sp>
        <p:nvSpPr>
          <p:cNvPr id="13" name="Text 11"/>
          <p:cNvSpPr txBox="1"/>
          <p:nvPr/>
        </p:nvSpPr>
        <p:spPr>
          <a:xfrm>
            <a:off x="768096" y="3392424"/>
            <a:ext cx="348386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50" dirty="0">
                <a:solidFill>
                  <a:srgbClr val="2428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catmull_clark, and smooth(): the generalised Catmull-Clark algorithm, any number of cells per edge.</a:t>
            </a:r>
            <a:endParaRPr lang="en-US" sz="1250" dirty="0"/>
          </a:p>
        </p:txBody>
      </p:sp>
      <p:sp>
        <p:nvSpPr>
          <p:cNvPr id="14" name="Shape 12"/>
          <p:cNvSpPr/>
          <p:nvPr/>
        </p:nvSpPr>
        <p:spPr>
          <a:xfrm>
            <a:off x="4690872" y="2916936"/>
            <a:ext cx="3886200" cy="1170432"/>
          </a:xfrm>
          <a:prstGeom prst="roundRect">
            <a:avLst>
              <a:gd name="adj" fmla="val 3906"/>
            </a:avLst>
          </a:prstGeom>
          <a:solidFill>
            <a:srgbClr val="F6EFE8"/>
          </a:solidFill>
          <a:ln/>
        </p:spPr>
      </p:sp>
      <p:sp>
        <p:nvSpPr>
          <p:cNvPr id="15" name="Text 13"/>
          <p:cNvSpPr txBox="1"/>
          <p:nvPr/>
        </p:nvSpPr>
        <p:spPr>
          <a:xfrm>
            <a:off x="4892040" y="3063240"/>
            <a:ext cx="348386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8A4B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Vertex tools</a:t>
            </a:r>
            <a:endParaRPr lang="en-US" sz="1500" dirty="0"/>
          </a:p>
        </p:txBody>
      </p:sp>
      <p:sp>
        <p:nvSpPr>
          <p:cNvPr id="16" name="Text 14"/>
          <p:cNvSpPr txBox="1"/>
          <p:nvPr/>
        </p:nvSpPr>
        <p:spPr>
          <a:xfrm>
            <a:off x="4892040" y="3392424"/>
            <a:ext cx="348386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50" dirty="0">
                <a:solidFill>
                  <a:srgbClr val="2428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set_vertex, neighbors, valence, dual, truncate -- a football from the vertices of an icosahedron.</a:t>
            </a:r>
            <a:endParaRPr lang="en-US" sz="1250" dirty="0"/>
          </a:p>
        </p:txBody>
      </p:sp>
      <p:sp>
        <p:nvSpPr>
          <p:cNvPr id="17" name="Shape 15"/>
          <p:cNvSpPr/>
          <p:nvPr/>
        </p:nvSpPr>
        <p:spPr>
          <a:xfrm>
            <a:off x="566928" y="4325112"/>
            <a:ext cx="3886200" cy="1170432"/>
          </a:xfrm>
          <a:prstGeom prst="roundRect">
            <a:avLst>
              <a:gd name="adj" fmla="val 3906"/>
            </a:avLst>
          </a:prstGeom>
          <a:solidFill>
            <a:srgbClr val="F6EFE8"/>
          </a:solidFill>
          <a:ln/>
        </p:spPr>
      </p:sp>
      <p:sp>
        <p:nvSpPr>
          <p:cNvPr id="18" name="Text 16"/>
          <p:cNvSpPr txBox="1"/>
          <p:nvPr/>
        </p:nvSpPr>
        <p:spPr>
          <a:xfrm>
            <a:off x="768096" y="4471416"/>
            <a:ext cx="348386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8A4B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Named surfaces, colour functions, parts</a:t>
            </a:r>
            <a:endParaRPr lang="en-US" sz="1500" dirty="0"/>
          </a:p>
        </p:txBody>
      </p:sp>
      <p:sp>
        <p:nvSpPr>
          <p:cNvPr id="19" name="Text 17"/>
          <p:cNvSpPr txBox="1"/>
          <p:nvPr/>
        </p:nvSpPr>
        <p:spPr>
          <a:xfrm>
            <a:off x="768096" y="4800600"/>
            <a:ext cx="348386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50" dirty="0">
                <a:solidFill>
                  <a:srgbClr val="2428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25 surfaces by name; color=lambda u, v: ...; beam, wheel, gear, roof, tree, text ...</a:t>
            </a:r>
            <a:endParaRPr lang="en-US" sz="1250" dirty="0"/>
          </a:p>
        </p:txBody>
      </p:sp>
      <p:sp>
        <p:nvSpPr>
          <p:cNvPr id="20" name="Shape 18"/>
          <p:cNvSpPr/>
          <p:nvPr/>
        </p:nvSpPr>
        <p:spPr>
          <a:xfrm>
            <a:off x="4690872" y="4325112"/>
            <a:ext cx="3886200" cy="1170432"/>
          </a:xfrm>
          <a:prstGeom prst="roundRect">
            <a:avLst>
              <a:gd name="adj" fmla="val 3906"/>
            </a:avLst>
          </a:prstGeom>
          <a:solidFill>
            <a:srgbClr val="F6EFE8"/>
          </a:solidFill>
          <a:ln/>
        </p:spPr>
      </p:sp>
      <p:sp>
        <p:nvSpPr>
          <p:cNvPr id="21" name="Text 19"/>
          <p:cNvSpPr txBox="1"/>
          <p:nvPr/>
        </p:nvSpPr>
        <p:spPr>
          <a:xfrm>
            <a:off x="4892040" y="4471416"/>
            <a:ext cx="348386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8A4B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Sketchfab-ready export</a:t>
            </a:r>
            <a:endParaRPr lang="en-US" sz="1500" dirty="0"/>
          </a:p>
        </p:txBody>
      </p:sp>
      <p:sp>
        <p:nvSpPr>
          <p:cNvPr id="22" name="Text 20"/>
          <p:cNvSpPr txBox="1"/>
          <p:nvPr/>
        </p:nvSpPr>
        <p:spPr>
          <a:xfrm>
            <a:off x="4892040" y="4800600"/>
            <a:ext cx="348386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50" dirty="0">
                <a:solidFill>
                  <a:srgbClr val="2428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check() watches the 50 MB / 50 colour limits; glass (transparent) and image textures go into the .mtl.</a:t>
            </a:r>
            <a:endParaRPr lang="en-US" sz="1250" dirty="0"/>
          </a:p>
        </p:txBody>
      </p:sp>
      <p:sp>
        <p:nvSpPr>
          <p:cNvPr id="23" name="Text 21"/>
          <p:cNvSpPr txBox="1"/>
          <p:nvPr/>
        </p:nvSpPr>
        <p:spPr>
          <a:xfrm>
            <a:off x="566928" y="5742432"/>
            <a:ext cx="746150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Everything written for 1.2 keeps working without a single change; only import add is needed.</a:t>
            </a:r>
            <a:endParaRPr lang="en-US" sz="125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329184"/>
            <a:ext cx="80101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60" kern="0" dirty="0">
                <a:solidFill>
                  <a:srgbClr val="8A4B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REMINDER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66928" y="548640"/>
            <a:ext cx="8010144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2428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creative assignment</a:t>
            </a:r>
            <a:endParaRPr lang="en-US" sz="3000" dirty="0"/>
          </a:p>
        </p:txBody>
      </p:sp>
      <p:sp>
        <p:nvSpPr>
          <p:cNvPr id="4" name="Text 2"/>
          <p:cNvSpPr txBox="1"/>
          <p:nvPr/>
        </p:nvSpPr>
        <p:spPr>
          <a:xfrm>
            <a:off x="8119872" y="6382512"/>
            <a:ext cx="457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000" dirty="0"/>
          </a:p>
        </p:txBody>
      </p:sp>
      <p:sp>
        <p:nvSpPr>
          <p:cNvPr id="5" name="Text 3"/>
          <p:cNvSpPr txBox="1"/>
          <p:nvPr/>
        </p:nvSpPr>
        <p:spPr>
          <a:xfrm>
            <a:off x="566928" y="1417320"/>
            <a:ext cx="4846320" cy="4206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lnSpc>
                <a:spcPts val="2480"/>
              </a:lnSpc>
              <a:spcAft>
                <a:spcPts val="600"/>
              </a:spcAft>
              <a:buSzPct val="100000"/>
              <a:buChar char="•"/>
            </a:pPr>
            <a:r>
              <a:rPr lang="en-US" sz="1600" b="1" dirty="0">
                <a:solidFill>
                  <a:srgbClr val="2428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Make a 3D model using nothing but program source code.</a:t>
            </a:r>
            <a:endParaRPr lang="en-US" sz="1600" dirty="0"/>
          </a:p>
          <a:p>
            <a:pPr marL="177800" indent="-177800">
              <a:lnSpc>
                <a:spcPts val="2480"/>
              </a:lnSpc>
              <a:spcAft>
                <a:spcPts val="600"/>
              </a:spcAft>
              <a:buSzPct val="100000"/>
              <a:buChar char="•"/>
            </a:pPr>
            <a:r>
              <a:rPr lang="en-US" sz="1600" dirty="0">
                <a:solidFill>
                  <a:srgbClr val="2428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File format: OFF or OBJ.</a:t>
            </a:r>
            <a:endParaRPr lang="en-US" sz="1600" dirty="0"/>
          </a:p>
          <a:p>
            <a:pPr marL="177800" indent="-177800">
              <a:lnSpc>
                <a:spcPts val="2480"/>
              </a:lnSpc>
              <a:spcAft>
                <a:spcPts val="600"/>
              </a:spcAft>
              <a:buSzPct val="100000"/>
              <a:buChar char="•"/>
            </a:pPr>
            <a:r>
              <a:rPr lang="en-US" sz="1600" dirty="0">
                <a:solidFill>
                  <a:srgbClr val="2428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 least 10 000 polygons.</a:t>
            </a:r>
            <a:endParaRPr lang="en-US" sz="1600" dirty="0"/>
          </a:p>
          <a:p>
            <a:pPr marL="177800" indent="-177800">
              <a:lnSpc>
                <a:spcPts val="2480"/>
              </a:lnSpc>
              <a:spcAft>
                <a:spcPts val="600"/>
              </a:spcAft>
              <a:buSzPct val="100000"/>
              <a:buChar char="•"/>
            </a:pPr>
            <a:r>
              <a:rPr lang="en-US" sz="1600" dirty="0">
                <a:solidFill>
                  <a:srgbClr val="2428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 least 3 different colours.</a:t>
            </a:r>
            <a:endParaRPr lang="en-US" sz="1600" dirty="0"/>
          </a:p>
          <a:p>
            <a:pPr marL="177800" indent="-177800">
              <a:lnSpc>
                <a:spcPts val="2480"/>
              </a:lnSpc>
              <a:spcAft>
                <a:spcPts val="600"/>
              </a:spcAft>
              <a:buSzPct val="100000"/>
              <a:buChar char="•"/>
            </a:pPr>
            <a:r>
              <a:rPr lang="en-US" sz="1600" dirty="0">
                <a:solidFill>
                  <a:srgbClr val="2428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algorithm must contain a for or while loop.</a:t>
            </a:r>
            <a:endParaRPr lang="en-US" sz="1600" dirty="0"/>
          </a:p>
          <a:p>
            <a:pPr marL="177800" indent="-177800">
              <a:lnSpc>
                <a:spcPts val="2480"/>
              </a:lnSpc>
              <a:spcAft>
                <a:spcPts val="600"/>
              </a:spcAft>
              <a:buSzPct val="100000"/>
              <a:buChar char="•"/>
            </a:pPr>
            <a:r>
              <a:rPr lang="en-US" sz="1600" dirty="0">
                <a:solidFill>
                  <a:srgbClr val="2428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 least one parameter that changes the shape.</a:t>
            </a:r>
            <a:endParaRPr lang="en-US" sz="1600" dirty="0"/>
          </a:p>
          <a:p>
            <a:pPr marL="177800" indent="-177800">
              <a:lnSpc>
                <a:spcPts val="2480"/>
              </a:lnSpc>
              <a:spcAft>
                <a:spcPts val="600"/>
              </a:spcAft>
              <a:buSzPct val="100000"/>
              <a:buChar char="•"/>
            </a:pPr>
            <a:r>
              <a:rPr lang="en-US" sz="1600" dirty="0">
                <a:solidFill>
                  <a:srgbClr val="2428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3D modelling programs.</a:t>
            </a:r>
            <a:endParaRPr lang="en-US" sz="1600" dirty="0"/>
          </a:p>
          <a:p>
            <a:pPr marL="177800" indent="-177800">
              <a:lnSpc>
                <a:spcPts val="2480"/>
              </a:lnSpc>
              <a:spcAft>
                <a:spcPts val="600"/>
              </a:spcAft>
              <a:buSzPct val="100000"/>
              <a:buChar char="•"/>
            </a:pPr>
            <a:r>
              <a:rPr lang="en-US" sz="1600" dirty="0">
                <a:solidFill>
                  <a:srgbClr val="2428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Individually or in pairs.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5532120" y="1481328"/>
            <a:ext cx="3044952" cy="2148840"/>
          </a:xfrm>
          <a:prstGeom prst="roundRect">
            <a:avLst>
              <a:gd name="adj" fmla="val 2553"/>
            </a:avLst>
          </a:prstGeom>
          <a:solidFill>
            <a:srgbClr val="FAFAFA"/>
          </a:solidFill>
          <a:ln w="9525">
            <a:solidFill>
              <a:srgbClr val="E3E1DD"/>
            </a:solidFill>
            <a:prstDash val="solid"/>
          </a:ln>
        </p:spPr>
      </p:sp>
      <p:pic>
        <p:nvPicPr>
          <p:cNvPr id="7" name="Image 0" descr="/home/claude/add3d/docs/images/city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5586984" y="1536192"/>
            <a:ext cx="2935224" cy="2039112"/>
          </a:xfrm>
          <a:prstGeom prst="rect">
            <a:avLst/>
          </a:prstGeom>
        </p:spPr>
      </p:pic>
      <p:sp>
        <p:nvSpPr>
          <p:cNvPr id="8" name="Text 5"/>
          <p:cNvSpPr txBox="1"/>
          <p:nvPr/>
        </p:nvSpPr>
        <p:spPr>
          <a:xfrm>
            <a:off x="5532120" y="3694176"/>
            <a:ext cx="304495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number (SEED) decides the whole city</a:t>
            </a:r>
            <a:endParaRPr lang="en-US" sz="1100" dirty="0"/>
          </a:p>
        </p:txBody>
      </p:sp>
      <p:sp>
        <p:nvSpPr>
          <p:cNvPr id="9" name="Text 6"/>
          <p:cNvSpPr txBox="1"/>
          <p:nvPr/>
        </p:nvSpPr>
        <p:spPr>
          <a:xfrm>
            <a:off x="5532120" y="4251960"/>
            <a:ext cx="304495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8A4B1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add.check()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2428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tells you which requirements are already met.</a:t>
            </a:r>
            <a:endParaRPr lang="en-US" sz="13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329184"/>
            <a:ext cx="80101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60" kern="0" dirty="0">
                <a:solidFill>
                  <a:srgbClr val="8A4B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ENVIRONMENT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66928" y="548640"/>
            <a:ext cx="8010144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2428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Recommended tools</a:t>
            </a:r>
            <a:endParaRPr lang="en-US" sz="3000" dirty="0"/>
          </a:p>
        </p:txBody>
      </p:sp>
      <p:sp>
        <p:nvSpPr>
          <p:cNvPr id="4" name="Text 2"/>
          <p:cNvSpPr txBox="1"/>
          <p:nvPr/>
        </p:nvSpPr>
        <p:spPr>
          <a:xfrm>
            <a:off x="8119872" y="6382512"/>
            <a:ext cx="457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566928" y="1508760"/>
            <a:ext cx="3886200" cy="1188720"/>
          </a:xfrm>
          <a:prstGeom prst="roundRect">
            <a:avLst>
              <a:gd name="adj" fmla="val 3846"/>
            </a:avLst>
          </a:prstGeom>
          <a:solidFill>
            <a:srgbClr val="F6EFE8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768096" y="1655064"/>
            <a:ext cx="348386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8A4B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Python 3</a:t>
            </a:r>
            <a:endParaRPr lang="en-US" sz="1500" dirty="0"/>
          </a:p>
        </p:txBody>
      </p:sp>
      <p:sp>
        <p:nvSpPr>
          <p:cNvPr id="7" name="Text 5"/>
          <p:cNvSpPr txBox="1"/>
          <p:nvPr/>
        </p:nvSpPr>
        <p:spPr>
          <a:xfrm>
            <a:off x="768096" y="1984248"/>
            <a:ext cx="348386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50" dirty="0">
                <a:solidFill>
                  <a:srgbClr val="2428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Nothing else to install: add.py uses only math and random.</a:t>
            </a:r>
            <a:endParaRPr lang="en-US" sz="1250" dirty="0"/>
          </a:p>
        </p:txBody>
      </p:sp>
      <p:sp>
        <p:nvSpPr>
          <p:cNvPr id="8" name="Shape 6"/>
          <p:cNvSpPr/>
          <p:nvPr/>
        </p:nvSpPr>
        <p:spPr>
          <a:xfrm>
            <a:off x="4690872" y="1508760"/>
            <a:ext cx="3886200" cy="1188720"/>
          </a:xfrm>
          <a:prstGeom prst="roundRect">
            <a:avLst>
              <a:gd name="adj" fmla="val 3846"/>
            </a:avLst>
          </a:prstGeom>
          <a:solidFill>
            <a:srgbClr val="F6EFE8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4892040" y="1655064"/>
            <a:ext cx="348386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8A4B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add.py</a:t>
            </a:r>
            <a:endParaRPr lang="en-US" sz="1500" dirty="0"/>
          </a:p>
        </p:txBody>
      </p:sp>
      <p:sp>
        <p:nvSpPr>
          <p:cNvPr id="10" name="Text 8"/>
          <p:cNvSpPr txBox="1"/>
          <p:nvPr/>
        </p:nvSpPr>
        <p:spPr>
          <a:xfrm>
            <a:off x="4892040" y="1984248"/>
            <a:ext cx="348386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50" dirty="0">
                <a:solidFill>
                  <a:srgbClr val="2428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file next to your script. Downloaded from GitHub (project add3d).</a:t>
            </a:r>
            <a:endParaRPr lang="en-US" sz="1250" dirty="0"/>
          </a:p>
        </p:txBody>
      </p:sp>
      <p:sp>
        <p:nvSpPr>
          <p:cNvPr id="11" name="Shape 9"/>
          <p:cNvSpPr/>
          <p:nvPr/>
        </p:nvSpPr>
        <p:spPr>
          <a:xfrm>
            <a:off x="566928" y="2935224"/>
            <a:ext cx="3886200" cy="1188720"/>
          </a:xfrm>
          <a:prstGeom prst="roundRect">
            <a:avLst>
              <a:gd name="adj" fmla="val 3846"/>
            </a:avLst>
          </a:prstGeom>
          <a:solidFill>
            <a:srgbClr val="F6EFE8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768096" y="3081528"/>
            <a:ext cx="348386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8A4B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tools/preview.py</a:t>
            </a:r>
            <a:endParaRPr lang="en-US" sz="1500" dirty="0"/>
          </a:p>
        </p:txBody>
      </p:sp>
      <p:sp>
        <p:nvSpPr>
          <p:cNvPr id="13" name="Text 11"/>
          <p:cNvSpPr txBox="1"/>
          <p:nvPr/>
        </p:nvSpPr>
        <p:spPr>
          <a:xfrm>
            <a:off x="768096" y="3410712"/>
            <a:ext cx="348386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50" dirty="0">
                <a:solidFill>
                  <a:srgbClr val="2428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Look at a model without any other program: writes a PNG.</a:t>
            </a:r>
            <a:endParaRPr lang="en-US" sz="1250" dirty="0"/>
          </a:p>
        </p:txBody>
      </p:sp>
      <p:sp>
        <p:nvSpPr>
          <p:cNvPr id="14" name="Shape 12"/>
          <p:cNvSpPr/>
          <p:nvPr/>
        </p:nvSpPr>
        <p:spPr>
          <a:xfrm>
            <a:off x="4690872" y="2935224"/>
            <a:ext cx="3886200" cy="1188720"/>
          </a:xfrm>
          <a:prstGeom prst="roundRect">
            <a:avLst>
              <a:gd name="adj" fmla="val 3846"/>
            </a:avLst>
          </a:prstGeom>
          <a:solidFill>
            <a:srgbClr val="F6EFE8"/>
          </a:solidFill>
          <a:ln/>
        </p:spPr>
      </p:sp>
      <p:sp>
        <p:nvSpPr>
          <p:cNvPr id="15" name="Text 13"/>
          <p:cNvSpPr txBox="1"/>
          <p:nvPr/>
        </p:nvSpPr>
        <p:spPr>
          <a:xfrm>
            <a:off x="4892040" y="3081528"/>
            <a:ext cx="348386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8A4B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GeoGebra</a:t>
            </a:r>
            <a:endParaRPr lang="en-US" sz="1500" dirty="0"/>
          </a:p>
        </p:txBody>
      </p:sp>
      <p:sp>
        <p:nvSpPr>
          <p:cNvPr id="16" name="Text 14"/>
          <p:cNvSpPr txBox="1"/>
          <p:nvPr/>
        </p:nvSpPr>
        <p:spPr>
          <a:xfrm>
            <a:off x="4892040" y="3410712"/>
            <a:ext cx="348386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50" dirty="0">
                <a:solidFill>
                  <a:srgbClr val="2428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Handy for checking curve and surface formulas before coding them.</a:t>
            </a:r>
            <a:endParaRPr lang="en-US" sz="1250" dirty="0"/>
          </a:p>
        </p:txBody>
      </p:sp>
      <p:sp>
        <p:nvSpPr>
          <p:cNvPr id="17" name="Shape 15"/>
          <p:cNvSpPr/>
          <p:nvPr/>
        </p:nvSpPr>
        <p:spPr>
          <a:xfrm>
            <a:off x="566928" y="4361688"/>
            <a:ext cx="3886200" cy="1188720"/>
          </a:xfrm>
          <a:prstGeom prst="roundRect">
            <a:avLst>
              <a:gd name="adj" fmla="val 3846"/>
            </a:avLst>
          </a:prstGeom>
          <a:solidFill>
            <a:srgbClr val="F6EFE8"/>
          </a:solidFill>
          <a:ln/>
        </p:spPr>
      </p:sp>
      <p:sp>
        <p:nvSpPr>
          <p:cNvPr id="18" name="Text 16"/>
          <p:cNvSpPr txBox="1"/>
          <p:nvPr/>
        </p:nvSpPr>
        <p:spPr>
          <a:xfrm>
            <a:off x="768096" y="4507992"/>
            <a:ext cx="348386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8A4B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MeshLab</a:t>
            </a:r>
            <a:endParaRPr lang="en-US" sz="1500" dirty="0"/>
          </a:p>
        </p:txBody>
      </p:sp>
      <p:sp>
        <p:nvSpPr>
          <p:cNvPr id="19" name="Text 17"/>
          <p:cNvSpPr txBox="1"/>
          <p:nvPr/>
        </p:nvSpPr>
        <p:spPr>
          <a:xfrm>
            <a:off x="768096" y="4837176"/>
            <a:ext cx="348386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50" dirty="0">
                <a:solidFill>
                  <a:srgbClr val="2428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Viewing and converting OFF. No longer required: add.py writes OBJ itself.</a:t>
            </a:r>
            <a:endParaRPr lang="en-US" sz="1250" dirty="0"/>
          </a:p>
        </p:txBody>
      </p:sp>
      <p:sp>
        <p:nvSpPr>
          <p:cNvPr id="20" name="Shape 18"/>
          <p:cNvSpPr/>
          <p:nvPr/>
        </p:nvSpPr>
        <p:spPr>
          <a:xfrm>
            <a:off x="4690872" y="4361688"/>
            <a:ext cx="3886200" cy="1188720"/>
          </a:xfrm>
          <a:prstGeom prst="roundRect">
            <a:avLst>
              <a:gd name="adj" fmla="val 3846"/>
            </a:avLst>
          </a:prstGeom>
          <a:solidFill>
            <a:srgbClr val="F6EFE8"/>
          </a:solidFill>
          <a:ln/>
        </p:spPr>
      </p:sp>
      <p:sp>
        <p:nvSpPr>
          <p:cNvPr id="21" name="Text 19"/>
          <p:cNvSpPr txBox="1"/>
          <p:nvPr/>
        </p:nvSpPr>
        <p:spPr>
          <a:xfrm>
            <a:off x="4892040" y="4507992"/>
            <a:ext cx="348386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8A4B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Sketchfab.com</a:t>
            </a:r>
            <a:endParaRPr lang="en-US" sz="1500" dirty="0"/>
          </a:p>
        </p:txBody>
      </p:sp>
      <p:sp>
        <p:nvSpPr>
          <p:cNvPr id="22" name="Text 20"/>
          <p:cNvSpPr txBox="1"/>
          <p:nvPr/>
        </p:nvSpPr>
        <p:spPr>
          <a:xfrm>
            <a:off x="4892040" y="4837176"/>
            <a:ext cx="348386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50" dirty="0">
                <a:solidFill>
                  <a:srgbClr val="2428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.obj + .mtl in one archive -- and anyone can turn the model in a browser.</a:t>
            </a:r>
            <a:endParaRPr lang="en-US" sz="12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329184"/>
            <a:ext cx="80101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60" kern="0" dirty="0">
                <a:solidFill>
                  <a:srgbClr val="8A4B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BASICS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66928" y="548640"/>
            <a:ext cx="8010144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2428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 model is two lists</a:t>
            </a:r>
            <a:endParaRPr lang="en-US" sz="3000" dirty="0"/>
          </a:p>
        </p:txBody>
      </p:sp>
      <p:sp>
        <p:nvSpPr>
          <p:cNvPr id="4" name="Text 2"/>
          <p:cNvSpPr txBox="1"/>
          <p:nvPr/>
        </p:nvSpPr>
        <p:spPr>
          <a:xfrm>
            <a:off x="8119872" y="6382512"/>
            <a:ext cx="457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566928" y="1481328"/>
            <a:ext cx="3749040" cy="2286000"/>
          </a:xfrm>
          <a:prstGeom prst="roundRect">
            <a:avLst>
              <a:gd name="adj" fmla="val 2400"/>
            </a:avLst>
          </a:prstGeom>
          <a:solidFill>
            <a:srgbClr val="F7F7F8"/>
          </a:solidFill>
          <a:ln w="9525">
            <a:solidFill>
              <a:srgbClr val="E3E1DD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713232" y="1609344"/>
            <a:ext cx="3456432" cy="20299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30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OFF</a:t>
            </a:r>
            <a:endParaRPr lang="en-US" sz="130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30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8 6 0</a:t>
            </a:r>
            <a:endParaRPr lang="en-US" sz="130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30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-1 -1 -1</a:t>
            </a:r>
            <a:endParaRPr lang="en-US" sz="130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30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-1 -1  1</a:t>
            </a:r>
            <a:endParaRPr lang="en-US" sz="130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30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...</a:t>
            </a:r>
            <a:endParaRPr lang="en-US" sz="130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30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4 0 4 5 1 255 0 0</a:t>
            </a:r>
            <a:endParaRPr lang="en-US" sz="130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30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4 0 1 3 2 255 0 0</a:t>
            </a:r>
            <a:endParaRPr lang="en-US" sz="130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30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...</a:t>
            </a:r>
            <a:endParaRPr lang="en-US" sz="1300" dirty="0"/>
          </a:p>
        </p:txBody>
      </p:sp>
      <p:sp>
        <p:nvSpPr>
          <p:cNvPr id="7" name="Text 5"/>
          <p:cNvSpPr txBox="1"/>
          <p:nvPr/>
        </p:nvSpPr>
        <p:spPr>
          <a:xfrm>
            <a:off x="4572000" y="1572768"/>
            <a:ext cx="4023360" cy="2194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100"/>
              </a:lnSpc>
              <a:buNone/>
            </a:pPr>
            <a:r>
              <a:rPr lang="en-US" sz="1350" b="1" dirty="0">
                <a:solidFill>
                  <a:srgbClr val="24282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OFF</a:t>
            </a:r>
            <a:pPr indent="0" marL="0">
              <a:lnSpc>
                <a:spcPts val="2100"/>
              </a:lnSpc>
              <a:buNone/>
            </a:pPr>
            <a:r>
              <a:rPr lang="en-US" sz="1350" dirty="0">
                <a:solidFill>
                  <a:srgbClr val="2428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-- the format's name</a:t>
            </a:r>
            <a:endParaRPr lang="en-US" sz="1350" dirty="0"/>
          </a:p>
          <a:p>
            <a:pPr indent="0" marL="0">
              <a:lnSpc>
                <a:spcPts val="2100"/>
              </a:lnSpc>
              <a:buNone/>
            </a:pPr>
            <a:r>
              <a:rPr lang="en-US" sz="1350" b="1" dirty="0">
                <a:solidFill>
                  <a:srgbClr val="24282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8 6 0</a:t>
            </a:r>
            <a:pPr indent="0" marL="0">
              <a:lnSpc>
                <a:spcPts val="2100"/>
              </a:lnSpc>
              <a:buNone/>
            </a:pPr>
            <a:r>
              <a:rPr lang="en-US" sz="1350" dirty="0">
                <a:solidFill>
                  <a:srgbClr val="2428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-- number of vertices, faces and edges</a:t>
            </a:r>
            <a:endParaRPr lang="en-US" sz="1350" dirty="0"/>
          </a:p>
          <a:p>
            <a:pPr indent="0" marL="0">
              <a:lnSpc>
                <a:spcPts val="2100"/>
              </a:lnSpc>
              <a:buNone/>
            </a:pPr>
            <a:r>
              <a:rPr lang="en-US" sz="1350" dirty="0">
                <a:solidFill>
                  <a:srgbClr val="2428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then the vertex coordinates</a:t>
            </a:r>
            <a:endParaRPr lang="en-US" sz="1350" dirty="0"/>
          </a:p>
          <a:p>
            <a:pPr indent="0" marL="0">
              <a:lnSpc>
                <a:spcPts val="2100"/>
              </a:lnSpc>
              <a:buNone/>
            </a:pPr>
            <a:r>
              <a:rPr lang="en-US" sz="1350" b="1" dirty="0">
                <a:solidFill>
                  <a:srgbClr val="24282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4 0 4 5 1</a:t>
            </a:r>
            <a:pPr indent="0" marL="0">
              <a:lnSpc>
                <a:spcPts val="2100"/>
              </a:lnSpc>
              <a:buNone/>
            </a:pPr>
            <a:r>
              <a:rPr lang="en-US" sz="1350" dirty="0">
                <a:solidFill>
                  <a:srgbClr val="2428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-- a quadrilateral joining vertices 0, 4, 5 and 1</a:t>
            </a:r>
            <a:endParaRPr lang="en-US" sz="1350" dirty="0"/>
          </a:p>
          <a:p>
            <a:pPr indent="0" marL="0">
              <a:lnSpc>
                <a:spcPts val="2100"/>
              </a:lnSpc>
              <a:buNone/>
            </a:pPr>
            <a:r>
              <a:rPr lang="en-US" sz="1350" b="1" dirty="0">
                <a:solidFill>
                  <a:srgbClr val="24282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255 0 0</a:t>
            </a:r>
            <a:pPr indent="0" marL="0">
              <a:lnSpc>
                <a:spcPts val="2100"/>
              </a:lnSpc>
              <a:buNone/>
            </a:pPr>
            <a:r>
              <a:rPr lang="en-US" sz="1350" dirty="0">
                <a:solidFill>
                  <a:srgbClr val="2428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-- the face's colour</a:t>
            </a:r>
            <a:endParaRPr lang="en-US" sz="1350" dirty="0"/>
          </a:p>
        </p:txBody>
      </p:sp>
      <p:sp>
        <p:nvSpPr>
          <p:cNvPr id="8" name="Text 6"/>
          <p:cNvSpPr txBox="1"/>
          <p:nvPr/>
        </p:nvSpPr>
        <p:spPr>
          <a:xfrm>
            <a:off x="566928" y="4069080"/>
            <a:ext cx="801014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2428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drawing function in the library does the same thing: it works out some points and adds some faces.</a:t>
            </a:r>
            <a:endParaRPr lang="en-US" sz="1600" dirty="0"/>
          </a:p>
        </p:txBody>
      </p:sp>
      <p:sp>
        <p:nvSpPr>
          <p:cNvPr id="9" name="Shape 7"/>
          <p:cNvSpPr/>
          <p:nvPr/>
        </p:nvSpPr>
        <p:spPr>
          <a:xfrm>
            <a:off x="566928" y="4709160"/>
            <a:ext cx="3749040" cy="1234440"/>
          </a:xfrm>
          <a:prstGeom prst="roundRect">
            <a:avLst>
              <a:gd name="adj" fmla="val 4444"/>
            </a:avLst>
          </a:prstGeom>
          <a:solidFill>
            <a:srgbClr val="F7F7F8"/>
          </a:solidFill>
          <a:ln w="9525">
            <a:solidFill>
              <a:srgbClr val="E3E1DD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713232" y="4837176"/>
            <a:ext cx="3456432" cy="9784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30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import add</a:t>
            </a:r>
            <a:endParaRPr lang="en-US" sz="1300" dirty="0"/>
          </a:p>
          <a:p>
            <a:pPr indent="0" marL="0">
              <a:lnSpc>
                <a:spcPts val="1600"/>
              </a:lnSpc>
              <a:buNone/>
            </a:pPr>
            <a:endParaRPr lang="en-US" sz="130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30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add.box([0, 0, 0], 2, "red")</a:t>
            </a:r>
            <a:endParaRPr lang="en-US" sz="130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30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add.save("cube.off")</a:t>
            </a:r>
            <a:endParaRPr lang="en-US" sz="1300" dirty="0"/>
          </a:p>
        </p:txBody>
      </p:sp>
      <p:sp>
        <p:nvSpPr>
          <p:cNvPr id="11" name="Text 9"/>
          <p:cNvSpPr txBox="1"/>
          <p:nvPr/>
        </p:nvSpPr>
        <p:spPr>
          <a:xfrm>
            <a:off x="4572000" y="5120640"/>
            <a:ext cx="4023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same cube -- four lines.</a:t>
            </a:r>
            <a:endParaRPr lang="en-US" sz="14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329184"/>
            <a:ext cx="80101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60" kern="0" dirty="0">
                <a:solidFill>
                  <a:srgbClr val="8A4B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BASICS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66928" y="548640"/>
            <a:ext cx="8010144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2428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Inside and outside</a:t>
            </a:r>
            <a:endParaRPr lang="en-US" sz="3000" dirty="0"/>
          </a:p>
        </p:txBody>
      </p:sp>
      <p:sp>
        <p:nvSpPr>
          <p:cNvPr id="4" name="Text 2"/>
          <p:cNvSpPr txBox="1"/>
          <p:nvPr/>
        </p:nvSpPr>
        <p:spPr>
          <a:xfrm>
            <a:off x="8119872" y="6382512"/>
            <a:ext cx="457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000" dirty="0"/>
          </a:p>
        </p:txBody>
      </p:sp>
      <p:sp>
        <p:nvSpPr>
          <p:cNvPr id="5" name="Text 3"/>
          <p:cNvSpPr txBox="1"/>
          <p:nvPr/>
        </p:nvSpPr>
        <p:spPr>
          <a:xfrm>
            <a:off x="566928" y="1417320"/>
            <a:ext cx="4754880" cy="4206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lnSpc>
                <a:spcPts val="2403"/>
              </a:lnSpc>
              <a:spcAft>
                <a:spcPts val="600"/>
              </a:spcAft>
              <a:buSzPct val="100000"/>
              <a:buChar char="•"/>
            </a:pPr>
            <a:r>
              <a:rPr lang="en-US" sz="1550" dirty="0">
                <a:solidFill>
                  <a:srgbClr val="2428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Seen from outside the model, the corners of a face run counter-clockwise.</a:t>
            </a:r>
            <a:endParaRPr lang="en-US" sz="1550" dirty="0"/>
          </a:p>
          <a:p>
            <a:pPr marL="177800" indent="-177800">
              <a:lnSpc>
                <a:spcPts val="2403"/>
              </a:lnSpc>
              <a:spcAft>
                <a:spcPts val="600"/>
              </a:spcAft>
              <a:buSzPct val="100000"/>
              <a:buChar char="•"/>
            </a:pPr>
            <a:r>
              <a:rPr lang="en-US" sz="1550" dirty="0">
                <a:solidFill>
                  <a:srgbClr val="2428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Seen from inside -- clockwise.</a:t>
            </a:r>
            <a:endParaRPr lang="en-US" sz="1550" dirty="0"/>
          </a:p>
          <a:p>
            <a:pPr marL="177800" indent="-177800">
              <a:lnSpc>
                <a:spcPts val="2403"/>
              </a:lnSpc>
              <a:spcAft>
                <a:spcPts val="600"/>
              </a:spcAft>
              <a:buSzPct val="100000"/>
              <a:buChar char="•"/>
            </a:pPr>
            <a:r>
              <a:rPr lang="en-US" sz="1550" dirty="0">
                <a:solidFill>
                  <a:srgbClr val="2428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face the wrong way round is drawn black or not at all.</a:t>
            </a:r>
            <a:endParaRPr lang="en-US" sz="1550" dirty="0"/>
          </a:p>
          <a:p>
            <a:pPr marL="177800" indent="-177800">
              <a:lnSpc>
                <a:spcPts val="2403"/>
              </a:lnSpc>
              <a:spcAft>
                <a:spcPts val="600"/>
              </a:spcAft>
              <a:buSzPct val="100000"/>
              <a:buChar char="•"/>
            </a:pPr>
            <a:r>
              <a:rPr lang="en-US" sz="1550" dirty="0">
                <a:solidFill>
                  <a:srgbClr val="2428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library orients its own shapes; you only think about it when writing add.polygon(...) by hand.</a:t>
            </a:r>
            <a:endParaRPr lang="en-US" sz="1550" dirty="0"/>
          </a:p>
          <a:p>
            <a:pPr marL="177800" indent="-177800">
              <a:lnSpc>
                <a:spcPts val="2403"/>
              </a:lnSpc>
              <a:spcAft>
                <a:spcPts val="600"/>
              </a:spcAft>
              <a:buSzPct val="100000"/>
              <a:buChar char="•"/>
            </a:pPr>
            <a:r>
              <a:rPr lang="en-US" sz="1550" b="1" dirty="0">
                <a:solidFill>
                  <a:srgbClr val="2428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add.fix_normals(M) fixes a whole model; add.check() says whether the surface is closed.</a:t>
            </a:r>
            <a:endParaRPr lang="en-US" sz="1550" dirty="0"/>
          </a:p>
        </p:txBody>
      </p:sp>
      <p:sp>
        <p:nvSpPr>
          <p:cNvPr id="6" name="Shape 4"/>
          <p:cNvSpPr/>
          <p:nvPr/>
        </p:nvSpPr>
        <p:spPr>
          <a:xfrm>
            <a:off x="5440680" y="1481328"/>
            <a:ext cx="3136392" cy="2212848"/>
          </a:xfrm>
          <a:prstGeom prst="roundRect">
            <a:avLst>
              <a:gd name="adj" fmla="val 2479"/>
            </a:avLst>
          </a:prstGeom>
          <a:solidFill>
            <a:srgbClr val="FAFAFA"/>
          </a:solidFill>
          <a:ln w="9525">
            <a:solidFill>
              <a:srgbClr val="E3E1DD"/>
            </a:solidFill>
            <a:prstDash val="solid"/>
          </a:ln>
        </p:spPr>
      </p:sp>
      <p:pic>
        <p:nvPicPr>
          <p:cNvPr id="7" name="Image 0" descr="/home/claude/add3d/docs/images/two_sided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5495544" y="1536192"/>
            <a:ext cx="3026664" cy="2103120"/>
          </a:xfrm>
          <a:prstGeom prst="rect">
            <a:avLst/>
          </a:prstGeom>
        </p:spPr>
      </p:pic>
      <p:sp>
        <p:nvSpPr>
          <p:cNvPr id="8" name="Text 5"/>
          <p:cNvSpPr txBox="1"/>
          <p:nvPr/>
        </p:nvSpPr>
        <p:spPr>
          <a:xfrm>
            <a:off x="5440680" y="3758184"/>
            <a:ext cx="313639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same saddle: sheet, two-sided, solid</a:t>
            </a:r>
            <a:endParaRPr lang="en-US" sz="11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329184"/>
            <a:ext cx="80101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60" kern="0" dirty="0">
                <a:solidFill>
                  <a:srgbClr val="8A4B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MAIN IDEA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66928" y="548640"/>
            <a:ext cx="8010144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2428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scene, layers and meshes</a:t>
            </a:r>
            <a:endParaRPr lang="en-US" sz="3000" dirty="0"/>
          </a:p>
        </p:txBody>
      </p:sp>
      <p:sp>
        <p:nvSpPr>
          <p:cNvPr id="4" name="Text 2"/>
          <p:cNvSpPr txBox="1"/>
          <p:nvPr/>
        </p:nvSpPr>
        <p:spPr>
          <a:xfrm>
            <a:off x="8119872" y="6382512"/>
            <a:ext cx="457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566928" y="1481328"/>
            <a:ext cx="4800600" cy="2103120"/>
          </a:xfrm>
          <a:prstGeom prst="roundRect">
            <a:avLst>
              <a:gd name="adj" fmla="val 2609"/>
            </a:avLst>
          </a:prstGeom>
          <a:solidFill>
            <a:srgbClr val="F7F7F8"/>
          </a:solidFill>
          <a:ln w="9525">
            <a:solidFill>
              <a:srgbClr val="E3E1DD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713232" y="1609344"/>
            <a:ext cx="4507992" cy="18470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5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add.box([0, 0, 0], 1, "red")</a:t>
            </a:r>
            <a:endParaRPr lang="en-US" sz="125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25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brick = add.layer()     # the scene is empty again</a:t>
            </a:r>
            <a:endParaRPr lang="en-US" sz="1250" dirty="0"/>
          </a:p>
          <a:p>
            <a:pPr indent="0" marL="0">
              <a:lnSpc>
                <a:spcPts val="1600"/>
              </a:lnSpc>
              <a:buNone/>
            </a:pPr>
            <a:endParaRPr lang="en-US" sz="125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25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for i in range(10):</a:t>
            </a:r>
            <a:endParaRPr lang="en-US" sz="125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25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add.mesh(add.move(brick, [i * 1.2, 0, 0]))</a:t>
            </a:r>
            <a:endParaRPr lang="en-US" sz="1250" dirty="0"/>
          </a:p>
          <a:p>
            <a:pPr indent="0" marL="0">
              <a:lnSpc>
                <a:spcPts val="1600"/>
              </a:lnSpc>
              <a:buNone/>
            </a:pPr>
            <a:endParaRPr lang="en-US" sz="125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25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add.save("wall.off")</a:t>
            </a:r>
            <a:endParaRPr lang="en-US" sz="1250" dirty="0"/>
          </a:p>
        </p:txBody>
      </p:sp>
      <p:sp>
        <p:nvSpPr>
          <p:cNvPr id="7" name="Shape 5"/>
          <p:cNvSpPr/>
          <p:nvPr/>
        </p:nvSpPr>
        <p:spPr>
          <a:xfrm>
            <a:off x="566928" y="3794760"/>
            <a:ext cx="3886200" cy="1133856"/>
          </a:xfrm>
          <a:prstGeom prst="roundRect">
            <a:avLst>
              <a:gd name="adj" fmla="val 4032"/>
            </a:avLst>
          </a:prstGeom>
          <a:solidFill>
            <a:srgbClr val="F6EFE8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768096" y="3941064"/>
            <a:ext cx="348386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8A4B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layer()</a:t>
            </a:r>
            <a:endParaRPr lang="en-US" sz="1500" dirty="0"/>
          </a:p>
        </p:txBody>
      </p:sp>
      <p:sp>
        <p:nvSpPr>
          <p:cNvPr id="9" name="Text 7"/>
          <p:cNvSpPr txBox="1"/>
          <p:nvPr/>
        </p:nvSpPr>
        <p:spPr>
          <a:xfrm>
            <a:off x="768096" y="4270248"/>
            <a:ext cx="3483864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50" dirty="0">
                <a:solidFill>
                  <a:srgbClr val="2428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Takes the scene out as a mesh and leaves the scene empty.</a:t>
            </a:r>
            <a:endParaRPr lang="en-US" sz="1250" dirty="0"/>
          </a:p>
        </p:txBody>
      </p:sp>
      <p:sp>
        <p:nvSpPr>
          <p:cNvPr id="10" name="Shape 8"/>
          <p:cNvSpPr/>
          <p:nvPr/>
        </p:nvSpPr>
        <p:spPr>
          <a:xfrm>
            <a:off x="4690872" y="3794760"/>
            <a:ext cx="3886200" cy="1133856"/>
          </a:xfrm>
          <a:prstGeom prst="roundRect">
            <a:avLst>
              <a:gd name="adj" fmla="val 4032"/>
            </a:avLst>
          </a:prstGeom>
          <a:solidFill>
            <a:srgbClr val="F6EFE8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4892040" y="3941064"/>
            <a:ext cx="348386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8A4B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mesh(M)</a:t>
            </a:r>
            <a:endParaRPr lang="en-US" sz="1500" dirty="0"/>
          </a:p>
        </p:txBody>
      </p:sp>
      <p:sp>
        <p:nvSpPr>
          <p:cNvPr id="12" name="Text 10"/>
          <p:cNvSpPr txBox="1"/>
          <p:nvPr/>
        </p:nvSpPr>
        <p:spPr>
          <a:xfrm>
            <a:off x="4892040" y="4270248"/>
            <a:ext cx="3483864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50" dirty="0">
                <a:solidFill>
                  <a:srgbClr val="2428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Puts a mesh back into the scene.</a:t>
            </a:r>
            <a:endParaRPr lang="en-US" sz="1250" dirty="0"/>
          </a:p>
        </p:txBody>
      </p:sp>
      <p:sp>
        <p:nvSpPr>
          <p:cNvPr id="13" name="Shape 11"/>
          <p:cNvSpPr/>
          <p:nvPr/>
        </p:nvSpPr>
        <p:spPr>
          <a:xfrm>
            <a:off x="566928" y="5166360"/>
            <a:ext cx="3886200" cy="1133856"/>
          </a:xfrm>
          <a:prstGeom prst="roundRect">
            <a:avLst>
              <a:gd name="adj" fmla="val 4032"/>
            </a:avLst>
          </a:prstGeom>
          <a:solidFill>
            <a:srgbClr val="F6EFE8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768096" y="5312664"/>
            <a:ext cx="348386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8A4B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merge([...])</a:t>
            </a:r>
            <a:endParaRPr lang="en-US" sz="1500" dirty="0"/>
          </a:p>
        </p:txBody>
      </p:sp>
      <p:sp>
        <p:nvSpPr>
          <p:cNvPr id="15" name="Text 13"/>
          <p:cNvSpPr txBox="1"/>
          <p:nvPr/>
        </p:nvSpPr>
        <p:spPr>
          <a:xfrm>
            <a:off x="768096" y="5641848"/>
            <a:ext cx="3483864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50" dirty="0">
                <a:solidFill>
                  <a:srgbClr val="2428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Joins several meshes into one.</a:t>
            </a:r>
            <a:endParaRPr lang="en-US" sz="1250" dirty="0"/>
          </a:p>
        </p:txBody>
      </p:sp>
      <p:sp>
        <p:nvSpPr>
          <p:cNvPr id="16" name="Shape 14"/>
          <p:cNvSpPr/>
          <p:nvPr/>
        </p:nvSpPr>
        <p:spPr>
          <a:xfrm>
            <a:off x="4690872" y="5166360"/>
            <a:ext cx="3886200" cy="1133856"/>
          </a:xfrm>
          <a:prstGeom prst="roundRect">
            <a:avLst>
              <a:gd name="adj" fmla="val 4032"/>
            </a:avLst>
          </a:prstGeom>
          <a:solidFill>
            <a:srgbClr val="F6EFE8"/>
          </a:solidFill>
          <a:ln/>
        </p:spPr>
      </p:sp>
      <p:sp>
        <p:nvSpPr>
          <p:cNvPr id="17" name="Text 15"/>
          <p:cNvSpPr txBox="1"/>
          <p:nvPr/>
        </p:nvSpPr>
        <p:spPr>
          <a:xfrm>
            <a:off x="4892040" y="5312664"/>
            <a:ext cx="348386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8A4B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push() / pop()</a:t>
            </a:r>
            <a:endParaRPr lang="en-US" sz="1500" dirty="0"/>
          </a:p>
        </p:txBody>
      </p:sp>
      <p:sp>
        <p:nvSpPr>
          <p:cNvPr id="18" name="Text 16"/>
          <p:cNvSpPr txBox="1"/>
          <p:nvPr/>
        </p:nvSpPr>
        <p:spPr>
          <a:xfrm>
            <a:off x="4892040" y="5641848"/>
            <a:ext cx="3483864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50" dirty="0">
                <a:solidFill>
                  <a:srgbClr val="2428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Inside a function that builds a part: put the scene aside, then bring it back.</a:t>
            </a:r>
            <a:endParaRPr lang="en-US" sz="1250" dirty="0"/>
          </a:p>
        </p:txBody>
      </p:sp>
      <p:sp>
        <p:nvSpPr>
          <p:cNvPr id="19" name="Text 17"/>
          <p:cNvSpPr txBox="1"/>
          <p:nvPr/>
        </p:nvSpPr>
        <p:spPr>
          <a:xfrm>
            <a:off x="5577840" y="1874520"/>
            <a:ext cx="30175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100" b="1" dirty="0">
                <a:solidFill>
                  <a:srgbClr val="8A4B1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Build once -- place many times.</a:t>
            </a:r>
            <a:endParaRPr lang="en-US" sz="2100" dirty="0"/>
          </a:p>
        </p:txBody>
      </p:sp>
      <p:sp>
        <p:nvSpPr>
          <p:cNvPr id="20" name="Text 18"/>
          <p:cNvSpPr txBox="1"/>
          <p:nvPr/>
        </p:nvSpPr>
        <p:spPr>
          <a:xfrm>
            <a:off x="5577840" y="2743200"/>
            <a:ext cx="30175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Transformations never change the mesh you give them -- they return a new one.</a:t>
            </a:r>
            <a:endParaRPr lang="en-US" sz="13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329184"/>
            <a:ext cx="80101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60" kern="0" dirty="0">
                <a:solidFill>
                  <a:srgbClr val="8A4B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START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66928" y="548640"/>
            <a:ext cx="8010144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2428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first model</a:t>
            </a:r>
            <a:endParaRPr lang="en-US" sz="3000" dirty="0"/>
          </a:p>
        </p:txBody>
      </p:sp>
      <p:sp>
        <p:nvSpPr>
          <p:cNvPr id="4" name="Text 2"/>
          <p:cNvSpPr txBox="1"/>
          <p:nvPr/>
        </p:nvSpPr>
        <p:spPr>
          <a:xfrm>
            <a:off x="8119872" y="6382512"/>
            <a:ext cx="457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566928" y="1481328"/>
            <a:ext cx="4114800" cy="2606040"/>
          </a:xfrm>
          <a:prstGeom prst="roundRect">
            <a:avLst>
              <a:gd name="adj" fmla="val 2105"/>
            </a:avLst>
          </a:prstGeom>
          <a:solidFill>
            <a:srgbClr val="F7F7F8"/>
          </a:solidFill>
          <a:ln w="9525">
            <a:solidFill>
              <a:srgbClr val="E3E1DD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713232" y="1609344"/>
            <a:ext cx="3822192" cy="23500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30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import add</a:t>
            </a:r>
            <a:endParaRPr lang="en-US" sz="1300" dirty="0"/>
          </a:p>
          <a:p>
            <a:pPr indent="0" marL="0">
              <a:lnSpc>
                <a:spcPts val="1600"/>
              </a:lnSpc>
              <a:buNone/>
            </a:pPr>
            <a:endParaRPr lang="en-US" sz="130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30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add.box([0, 0, 0], 2, "red")</a:t>
            </a:r>
            <a:endParaRPr lang="en-US" sz="130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30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add.sphere([3, 0, 0], 1, 20, "blue")</a:t>
            </a:r>
            <a:endParaRPr lang="en-US" sz="130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30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add.cylinder([0, 2, 0], [3, 2, 0],</a:t>
            </a:r>
            <a:endParaRPr lang="en-US" sz="130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30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     0.3, 24, "gold")</a:t>
            </a:r>
            <a:endParaRPr lang="en-US" sz="1300" dirty="0"/>
          </a:p>
          <a:p>
            <a:pPr indent="0" marL="0">
              <a:lnSpc>
                <a:spcPts val="1600"/>
              </a:lnSpc>
              <a:buNone/>
            </a:pPr>
            <a:endParaRPr lang="en-US" sz="130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30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add.check()</a:t>
            </a:r>
            <a:endParaRPr lang="en-US" sz="130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30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add.save("first.off")</a:t>
            </a:r>
            <a:endParaRPr lang="en-US" sz="1300" dirty="0"/>
          </a:p>
        </p:txBody>
      </p:sp>
      <p:sp>
        <p:nvSpPr>
          <p:cNvPr id="7" name="Shape 5"/>
          <p:cNvSpPr/>
          <p:nvPr/>
        </p:nvSpPr>
        <p:spPr>
          <a:xfrm>
            <a:off x="4937760" y="1481328"/>
            <a:ext cx="3639312" cy="2606040"/>
          </a:xfrm>
          <a:prstGeom prst="roundRect">
            <a:avLst>
              <a:gd name="adj" fmla="val 2105"/>
            </a:avLst>
          </a:prstGeom>
          <a:solidFill>
            <a:srgbClr val="FAFAFA"/>
          </a:solidFill>
          <a:ln w="9525">
            <a:solidFill>
              <a:srgbClr val="E3E1DD"/>
            </a:solidFill>
            <a:prstDash val="solid"/>
          </a:ln>
        </p:spPr>
      </p:sp>
      <p:pic>
        <p:nvPicPr>
          <p:cNvPr id="8" name="Image 0" descr="/home/claude/add3d/docs/images/first_model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4992624" y="1536192"/>
            <a:ext cx="3529584" cy="2496312"/>
          </a:xfrm>
          <a:prstGeom prst="rect">
            <a:avLst/>
          </a:prstGeom>
        </p:spPr>
      </p:pic>
      <p:sp>
        <p:nvSpPr>
          <p:cNvPr id="9" name="Shape 6"/>
          <p:cNvSpPr/>
          <p:nvPr/>
        </p:nvSpPr>
        <p:spPr>
          <a:xfrm>
            <a:off x="566928" y="4434840"/>
            <a:ext cx="8010144" cy="1234440"/>
          </a:xfrm>
          <a:prstGeom prst="roundRect">
            <a:avLst>
              <a:gd name="adj" fmla="val 4444"/>
            </a:avLst>
          </a:prstGeom>
          <a:solidFill>
            <a:srgbClr val="F7F7F8"/>
          </a:solidFill>
          <a:ln w="9525">
            <a:solidFill>
              <a:srgbClr val="E3E1DD"/>
            </a:solidFill>
            <a:prstDash val="solid"/>
          </a:ln>
        </p:spPr>
      </p:sp>
      <p:sp>
        <p:nvSpPr>
          <p:cNvPr id="10" name="Text 7"/>
          <p:cNvSpPr txBox="1"/>
          <p:nvPr/>
        </p:nvSpPr>
        <p:spPr>
          <a:xfrm>
            <a:off x="713232" y="4562856"/>
            <a:ext cx="7717536" cy="9784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vertices            2460</a:t>
            </a:r>
            <a:endParaRPr lang="en-US" sz="120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!! polygons            2478  (need 10000)</a:t>
            </a:r>
            <a:endParaRPr lang="en-US" sz="120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OK colours             3     (need 3)</a:t>
            </a:r>
            <a:endParaRPr lang="en-US" sz="120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OK closed surface      yes</a:t>
            </a:r>
            <a:endParaRPr lang="en-US" sz="1200" dirty="0"/>
          </a:p>
        </p:txBody>
      </p:sp>
      <p:sp>
        <p:nvSpPr>
          <p:cNvPr id="11" name="Text 8"/>
          <p:cNvSpPr txBox="1"/>
          <p:nvPr/>
        </p:nvSpPr>
        <p:spPr>
          <a:xfrm>
            <a:off x="566928" y="5760720"/>
            <a:ext cx="801014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check() report: still short of polygons.</a:t>
            </a:r>
            <a:endParaRPr lang="en-US" sz="13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329184"/>
            <a:ext cx="80101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60" kern="0" dirty="0">
                <a:solidFill>
                  <a:srgbClr val="8A4B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NEW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66928" y="548640"/>
            <a:ext cx="8010144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2428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Only import add</a:t>
            </a:r>
            <a:endParaRPr lang="en-US" sz="3000" dirty="0"/>
          </a:p>
        </p:txBody>
      </p:sp>
      <p:sp>
        <p:nvSpPr>
          <p:cNvPr id="4" name="Text 2"/>
          <p:cNvSpPr txBox="1"/>
          <p:nvPr/>
        </p:nvSpPr>
        <p:spPr>
          <a:xfrm>
            <a:off x="8119872" y="6382512"/>
            <a:ext cx="457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566928" y="1463040"/>
            <a:ext cx="4846320" cy="2651760"/>
          </a:xfrm>
          <a:prstGeom prst="roundRect">
            <a:avLst>
              <a:gd name="adj" fmla="val 2069"/>
            </a:avLst>
          </a:prstGeom>
          <a:solidFill>
            <a:srgbClr val="F7F7F8"/>
          </a:solidFill>
          <a:ln w="9525">
            <a:solidFill>
              <a:srgbClr val="E3E1DD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713232" y="1591056"/>
            <a:ext cx="4553712" cy="23957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10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import add</a:t>
            </a:r>
            <a:endParaRPr lang="en-US" sz="1100" dirty="0"/>
          </a:p>
          <a:p>
            <a:pPr indent="0" marL="0">
              <a:lnSpc>
                <a:spcPts val="1600"/>
              </a:lnSpc>
              <a:buNone/>
            </a:pPr>
            <a:endParaRPr lang="en-US" sz="110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10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for i in range(12):</a:t>
            </a:r>
            <a:endParaRPr lang="en-US" sz="110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10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a = 2 * add.pi * i / 12</a:t>
            </a:r>
            <a:endParaRPr lang="en-US" sz="110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10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p = [3 * add.cos(a), 0, 3 * add.sin(a)]</a:t>
            </a:r>
            <a:endParaRPr lang="en-US" sz="110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10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add.sphere(p, 0.4, 8, add.hsv(i / 12))</a:t>
            </a:r>
            <a:endParaRPr lang="en-US" sz="1100" dirty="0"/>
          </a:p>
          <a:p>
            <a:pPr indent="0" marL="0">
              <a:lnSpc>
                <a:spcPts val="1600"/>
              </a:lnSpc>
              <a:buNone/>
            </a:pPr>
            <a:endParaRPr lang="en-US" sz="110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10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add.seed(7)</a:t>
            </a:r>
            <a:endParaRPr lang="en-US" sz="110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10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add.box([add.uniform(-3, 3), 0, 0], 1, "red")</a:t>
            </a:r>
            <a:endParaRPr lang="en-US" sz="1100" dirty="0"/>
          </a:p>
        </p:txBody>
      </p:sp>
      <p:sp>
        <p:nvSpPr>
          <p:cNvPr id="7" name="Shape 5"/>
          <p:cNvSpPr/>
          <p:nvPr/>
        </p:nvSpPr>
        <p:spPr>
          <a:xfrm>
            <a:off x="5532120" y="1463040"/>
            <a:ext cx="3044952" cy="1234440"/>
          </a:xfrm>
          <a:prstGeom prst="roundRect">
            <a:avLst>
              <a:gd name="adj" fmla="val 3704"/>
            </a:avLst>
          </a:prstGeom>
          <a:solidFill>
            <a:srgbClr val="F6EFE8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5733288" y="1609344"/>
            <a:ext cx="264261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8A4B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add.sin, add.pi, add.sqrt ...</a:t>
            </a:r>
            <a:endParaRPr lang="en-US" sz="1500" dirty="0"/>
          </a:p>
        </p:txBody>
      </p:sp>
      <p:sp>
        <p:nvSpPr>
          <p:cNvPr id="9" name="Text 7"/>
          <p:cNvSpPr txBox="1"/>
          <p:nvPr/>
        </p:nvSpPr>
        <p:spPr>
          <a:xfrm>
            <a:off x="5733288" y="1938528"/>
            <a:ext cx="2642616" cy="6126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50" dirty="0">
                <a:solidFill>
                  <a:srgbClr val="2428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Everything from math, straight from add.</a:t>
            </a:r>
            <a:endParaRPr lang="en-US" sz="1250" dirty="0"/>
          </a:p>
        </p:txBody>
      </p:sp>
      <p:sp>
        <p:nvSpPr>
          <p:cNvPr id="10" name="Shape 8"/>
          <p:cNvSpPr/>
          <p:nvPr/>
        </p:nvSpPr>
        <p:spPr>
          <a:xfrm>
            <a:off x="5532120" y="2935224"/>
            <a:ext cx="3044952" cy="1234440"/>
          </a:xfrm>
          <a:prstGeom prst="roundRect">
            <a:avLst>
              <a:gd name="adj" fmla="val 3704"/>
            </a:avLst>
          </a:prstGeom>
          <a:solidFill>
            <a:srgbClr val="F6EFE8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5733288" y="3081528"/>
            <a:ext cx="264261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8A4B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add.randint, add.seed, add.Random</a:t>
            </a:r>
            <a:endParaRPr lang="en-US" sz="1500" dirty="0"/>
          </a:p>
        </p:txBody>
      </p:sp>
      <p:sp>
        <p:nvSpPr>
          <p:cNvPr id="12" name="Text 10"/>
          <p:cNvSpPr txBox="1"/>
          <p:nvPr/>
        </p:nvSpPr>
        <p:spPr>
          <a:xfrm>
            <a:off x="5733288" y="3410712"/>
            <a:ext cx="2642616" cy="6126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50" dirty="0">
                <a:solidFill>
                  <a:srgbClr val="2428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Everything from random, too.</a:t>
            </a:r>
            <a:endParaRPr lang="en-US" sz="1250" dirty="0"/>
          </a:p>
        </p:txBody>
      </p:sp>
      <p:sp>
        <p:nvSpPr>
          <p:cNvPr id="13" name="Text 11"/>
          <p:cNvSpPr txBox="1"/>
          <p:nvPr/>
        </p:nvSpPr>
        <p:spPr>
          <a:xfrm>
            <a:off x="566928" y="4343400"/>
            <a:ext cx="801014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8A4B1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 model file has exactly one import. (Plain import math still works.)</a:t>
            </a:r>
            <a:endParaRPr lang="en-US" sz="1700" dirty="0"/>
          </a:p>
        </p:txBody>
      </p:sp>
      <p:sp>
        <p:nvSpPr>
          <p:cNvPr id="14" name="Text 12"/>
          <p:cNvSpPr txBox="1"/>
          <p:nvPr/>
        </p:nvSpPr>
        <p:spPr>
          <a:xfrm>
            <a:off x="566928" y="5742432"/>
            <a:ext cx="746150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examples in examples/ are written this way: import add and nothing else.</a:t>
            </a:r>
            <a:endParaRPr lang="en-US" sz="125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329184"/>
            <a:ext cx="80101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60" kern="0" dirty="0">
                <a:solidFill>
                  <a:srgbClr val="8A4B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FUNCTIONS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66928" y="548640"/>
            <a:ext cx="8010144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2428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Ready-made shapes</a:t>
            </a:r>
            <a:endParaRPr lang="en-US" sz="3000" dirty="0"/>
          </a:p>
        </p:txBody>
      </p:sp>
      <p:sp>
        <p:nvSpPr>
          <p:cNvPr id="4" name="Text 2"/>
          <p:cNvSpPr txBox="1"/>
          <p:nvPr/>
        </p:nvSpPr>
        <p:spPr>
          <a:xfrm>
            <a:off x="8119872" y="6382512"/>
            <a:ext cx="457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566928" y="1417320"/>
            <a:ext cx="4709160" cy="3291840"/>
          </a:xfrm>
          <a:prstGeom prst="roundRect">
            <a:avLst>
              <a:gd name="adj" fmla="val 1667"/>
            </a:avLst>
          </a:prstGeom>
          <a:solidFill>
            <a:srgbClr val="FAFAFA"/>
          </a:solidFill>
          <a:ln w="9525">
            <a:solidFill>
              <a:srgbClr val="E3E1DD"/>
            </a:solidFill>
            <a:prstDash val="solid"/>
          </a:ln>
        </p:spPr>
      </p:sp>
      <p:pic>
        <p:nvPicPr>
          <p:cNvPr id="6" name="Image 0" descr="/home/claude/add3d/docs/images/primitives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621792" y="1472184"/>
            <a:ext cx="4599432" cy="3182112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5486400" y="1371600"/>
            <a:ext cx="3108960" cy="4480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350"/>
              </a:lnSpc>
              <a:buNone/>
            </a:pPr>
            <a:r>
              <a:rPr lang="en-US" sz="1200" b="1" dirty="0">
                <a:solidFill>
                  <a:srgbClr val="8A4B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Solids
</a:t>
            </a:r>
            <a:endParaRPr lang="en-US" sz="1200" dirty="0"/>
          </a:p>
          <a:p>
            <a:pPr indent="0" marL="0">
              <a:lnSpc>
                <a:spcPts val="1350"/>
              </a:lnSpc>
              <a:buNone/>
            </a:pPr>
            <a:r>
              <a:rPr lang="en-US" sz="1050" dirty="0">
                <a:solidFill>
                  <a:srgbClr val="24282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box, cuboid, rounded_box, frame, pyramid, prism, polyhedron, voxels
</a:t>
            </a:r>
            <a:endParaRPr lang="en-US" sz="1200" dirty="0"/>
          </a:p>
          <a:p>
            <a:pPr indent="0" marL="0">
              <a:lnSpc>
                <a:spcPts val="1350"/>
              </a:lnSpc>
              <a:buNone/>
            </a:pPr>
            <a:r>
              <a:rPr lang="en-US" sz="1200" b="1" dirty="0">
                <a:solidFill>
                  <a:srgbClr val="8A4B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
Round
</a:t>
            </a:r>
            <a:endParaRPr lang="en-US" sz="1200" dirty="0"/>
          </a:p>
          <a:p>
            <a:pPr indent="0" marL="0">
              <a:lnSpc>
                <a:spcPts val="1350"/>
              </a:lnSpc>
              <a:buNone/>
            </a:pPr>
            <a:r>
              <a:rPr lang="en-US" sz="1050" dirty="0">
                <a:solidFill>
                  <a:srgbClr val="24282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sphere, hemisphere, uvsphere, ellipsoid, torus, capsule, cylinder, tube, cup, cone, cone_open, frustum, pipe
</a:t>
            </a:r>
            <a:endParaRPr lang="en-US" sz="1200" dirty="0"/>
          </a:p>
          <a:p>
            <a:pPr indent="0" marL="0">
              <a:lnSpc>
                <a:spcPts val="1350"/>
              </a:lnSpc>
              <a:buNone/>
            </a:pPr>
            <a:r>
              <a:rPr lang="en-US" sz="1200" b="1" dirty="0">
                <a:solidFill>
                  <a:srgbClr val="8A4B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
Flat
</a:t>
            </a:r>
            <a:endParaRPr lang="en-US" sz="1200" dirty="0"/>
          </a:p>
          <a:p>
            <a:pPr indent="0" marL="0">
              <a:lnSpc>
                <a:spcPts val="1350"/>
              </a:lnSpc>
              <a:buNone/>
            </a:pPr>
            <a:r>
              <a:rPr lang="en-US" sz="1050" dirty="0">
                <a:solidFill>
                  <a:srgbClr val="24282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polygon, triangle, quad, disc, ring, grid
</a:t>
            </a:r>
            <a:endParaRPr lang="en-US" sz="1200" dirty="0"/>
          </a:p>
          <a:p>
            <a:pPr indent="0" marL="0">
              <a:lnSpc>
                <a:spcPts val="1350"/>
              </a:lnSpc>
              <a:buNone/>
            </a:pPr>
            <a:r>
              <a:rPr lang="en-US" sz="1200" b="1" dirty="0">
                <a:solidFill>
                  <a:srgbClr val="8A4B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
Parts
</a:t>
            </a:r>
            <a:endParaRPr lang="en-US" sz="1200" dirty="0"/>
          </a:p>
          <a:p>
            <a:pPr indent="0" marL="0">
              <a:lnSpc>
                <a:spcPts val="1350"/>
              </a:lnSpc>
              <a:buNone/>
            </a:pPr>
            <a:r>
              <a:rPr lang="en-US" sz="1050" dirty="0">
                <a:solidFill>
                  <a:srgbClr val="24282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beam, arch, stairs, gear, wheel, roof, column, bricks, tree, pixels, heightmap, text</a:t>
            </a:r>
            <a:endParaRPr lang="en-US" sz="1200" dirty="0"/>
          </a:p>
        </p:txBody>
      </p:sp>
      <p:sp>
        <p:nvSpPr>
          <p:cNvPr id="8" name="Text 5"/>
          <p:cNvSpPr txBox="1"/>
          <p:nvPr/>
        </p:nvSpPr>
        <p:spPr>
          <a:xfrm>
            <a:off x="566928" y="5742432"/>
            <a:ext cx="746150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examples/02_primitives.py -- every shape in one program.</a:t>
            </a:r>
            <a:endParaRPr lang="en-US" sz="125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329184"/>
            <a:ext cx="80101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60" kern="0" dirty="0">
                <a:solidFill>
                  <a:srgbClr val="8A4B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SURFACES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66928" y="548640"/>
            <a:ext cx="8010144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2428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parametric() -- the central function</a:t>
            </a:r>
            <a:endParaRPr lang="en-US" sz="3000" dirty="0"/>
          </a:p>
        </p:txBody>
      </p:sp>
      <p:sp>
        <p:nvSpPr>
          <p:cNvPr id="4" name="Text 2"/>
          <p:cNvSpPr txBox="1"/>
          <p:nvPr/>
        </p:nvSpPr>
        <p:spPr>
          <a:xfrm>
            <a:off x="8119872" y="6382512"/>
            <a:ext cx="457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566928" y="1463040"/>
            <a:ext cx="4846320" cy="2194560"/>
          </a:xfrm>
          <a:prstGeom prst="roundRect">
            <a:avLst>
              <a:gd name="adj" fmla="val 2500"/>
            </a:avLst>
          </a:prstGeom>
          <a:solidFill>
            <a:srgbClr val="F7F7F8"/>
          </a:solidFill>
          <a:ln w="9525">
            <a:solidFill>
              <a:srgbClr val="E3E1DD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713232" y="1591056"/>
            <a:ext cx="4553712" cy="19385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def torus(u, v):</a:t>
            </a:r>
            <a:endParaRPr lang="en-US" sz="120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return [(5 + add.cos(u)) * add.cos(v),</a:t>
            </a:r>
            <a:endParaRPr lang="en-US" sz="120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    add.sin(u),</a:t>
            </a:r>
            <a:endParaRPr lang="en-US" sz="120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    (5 + add.cos(u)) * add.sin(v)]</a:t>
            </a:r>
            <a:endParaRPr lang="en-US" sz="1200" dirty="0"/>
          </a:p>
          <a:p>
            <a:pPr indent="0" marL="0">
              <a:lnSpc>
                <a:spcPts val="1600"/>
              </a:lnSpc>
              <a:buNone/>
            </a:pPr>
            <a:endParaRPr lang="en-US" sz="120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add.parametric(torus, 0, 2*add.pi, 40,</a:t>
            </a:r>
            <a:endParaRPr lang="en-US" sz="120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              0, 2*add.pi, 80,</a:t>
            </a:r>
            <a:endParaRPr lang="en-US" sz="120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       "gold", wrap_u=True, wrap_v=True)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5532120" y="1463040"/>
            <a:ext cx="3044952" cy="2194560"/>
          </a:xfrm>
          <a:prstGeom prst="roundRect">
            <a:avLst>
              <a:gd name="adj" fmla="val 2500"/>
            </a:avLst>
          </a:prstGeom>
          <a:solidFill>
            <a:srgbClr val="FAFAFA"/>
          </a:solidFill>
          <a:ln w="9525">
            <a:solidFill>
              <a:srgbClr val="E3E1DD"/>
            </a:solidFill>
            <a:prstDash val="solid"/>
          </a:ln>
        </p:spPr>
      </p:sp>
      <p:pic>
        <p:nvPicPr>
          <p:cNvPr id="8" name="Image 0" descr="/home/claude/add3d/docs/images/surfaces_classic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5586984" y="1517904"/>
            <a:ext cx="2935224" cy="2084832"/>
          </a:xfrm>
          <a:prstGeom prst="rect">
            <a:avLst/>
          </a:prstGeom>
        </p:spPr>
      </p:pic>
      <p:sp>
        <p:nvSpPr>
          <p:cNvPr id="9" name="Shape 6"/>
          <p:cNvSpPr/>
          <p:nvPr/>
        </p:nvSpPr>
        <p:spPr>
          <a:xfrm>
            <a:off x="566928" y="3886200"/>
            <a:ext cx="2511552" cy="1234440"/>
          </a:xfrm>
          <a:prstGeom prst="roundRect">
            <a:avLst>
              <a:gd name="adj" fmla="val 3704"/>
            </a:avLst>
          </a:prstGeom>
          <a:solidFill>
            <a:srgbClr val="F6EFE8"/>
          </a:solidFill>
          <a:ln/>
        </p:spPr>
      </p:sp>
      <p:sp>
        <p:nvSpPr>
          <p:cNvPr id="10" name="Text 7"/>
          <p:cNvSpPr txBox="1"/>
          <p:nvPr/>
        </p:nvSpPr>
        <p:spPr>
          <a:xfrm>
            <a:off x="768096" y="4032504"/>
            <a:ext cx="210921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8A4B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wrap_u, wrap_v</a:t>
            </a:r>
            <a:endParaRPr lang="en-US" sz="1500" dirty="0"/>
          </a:p>
        </p:txBody>
      </p:sp>
      <p:sp>
        <p:nvSpPr>
          <p:cNvPr id="11" name="Text 8"/>
          <p:cNvSpPr txBox="1"/>
          <p:nvPr/>
        </p:nvSpPr>
        <p:spPr>
          <a:xfrm>
            <a:off x="768096" y="4361688"/>
            <a:ext cx="2109216" cy="6126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50" dirty="0">
                <a:solidFill>
                  <a:srgbClr val="2428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Close the surface without a seam or repeated vertices.</a:t>
            </a:r>
            <a:endParaRPr lang="en-US" sz="1250" dirty="0"/>
          </a:p>
        </p:txBody>
      </p:sp>
      <p:sp>
        <p:nvSpPr>
          <p:cNvPr id="12" name="Shape 9"/>
          <p:cNvSpPr/>
          <p:nvPr/>
        </p:nvSpPr>
        <p:spPr>
          <a:xfrm>
            <a:off x="3316224" y="3886200"/>
            <a:ext cx="2511552" cy="1234440"/>
          </a:xfrm>
          <a:prstGeom prst="roundRect">
            <a:avLst>
              <a:gd name="adj" fmla="val 3704"/>
            </a:avLst>
          </a:prstGeom>
          <a:solidFill>
            <a:srgbClr val="F6EFE8"/>
          </a:solidFill>
          <a:ln/>
        </p:spPr>
      </p:sp>
      <p:sp>
        <p:nvSpPr>
          <p:cNvPr id="13" name="Text 10"/>
          <p:cNvSpPr txBox="1"/>
          <p:nvPr/>
        </p:nvSpPr>
        <p:spPr>
          <a:xfrm>
            <a:off x="3517392" y="4032504"/>
            <a:ext cx="210921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8A4B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thickness=</a:t>
            </a:r>
            <a:endParaRPr lang="en-US" sz="1500" dirty="0"/>
          </a:p>
        </p:txBody>
      </p:sp>
      <p:sp>
        <p:nvSpPr>
          <p:cNvPr id="14" name="Text 11"/>
          <p:cNvSpPr txBox="1"/>
          <p:nvPr/>
        </p:nvSpPr>
        <p:spPr>
          <a:xfrm>
            <a:off x="3517392" y="4361688"/>
            <a:ext cx="2109216" cy="6126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50" dirty="0">
                <a:solidFill>
                  <a:srgbClr val="2428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Give the sheet a real thickness -- a closed solid.</a:t>
            </a:r>
            <a:endParaRPr lang="en-US" sz="1250" dirty="0"/>
          </a:p>
        </p:txBody>
      </p:sp>
      <p:sp>
        <p:nvSpPr>
          <p:cNvPr id="15" name="Shape 12"/>
          <p:cNvSpPr/>
          <p:nvPr/>
        </p:nvSpPr>
        <p:spPr>
          <a:xfrm>
            <a:off x="6065520" y="3886200"/>
            <a:ext cx="2511552" cy="1234440"/>
          </a:xfrm>
          <a:prstGeom prst="roundRect">
            <a:avLst>
              <a:gd name="adj" fmla="val 3704"/>
            </a:avLst>
          </a:prstGeom>
          <a:solidFill>
            <a:srgbClr val="F6EFE8"/>
          </a:solidFill>
          <a:ln/>
        </p:spPr>
      </p:sp>
      <p:sp>
        <p:nvSpPr>
          <p:cNvPr id="16" name="Text 13"/>
          <p:cNvSpPr txBox="1"/>
          <p:nvPr/>
        </p:nvSpPr>
        <p:spPr>
          <a:xfrm>
            <a:off x="6266688" y="4032504"/>
            <a:ext cx="210921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8A4B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color=lambda u, v: ...</a:t>
            </a:r>
            <a:endParaRPr lang="en-US" sz="1500" dirty="0"/>
          </a:p>
        </p:txBody>
      </p:sp>
      <p:sp>
        <p:nvSpPr>
          <p:cNvPr id="17" name="Text 14"/>
          <p:cNvSpPr txBox="1"/>
          <p:nvPr/>
        </p:nvSpPr>
        <p:spPr>
          <a:xfrm>
            <a:off x="6266688" y="4361688"/>
            <a:ext cx="2109216" cy="6126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50" dirty="0">
                <a:solidFill>
                  <a:srgbClr val="2428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Paint every cell by its own parameters.</a:t>
            </a:r>
            <a:endParaRPr lang="en-US" sz="125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329184"/>
            <a:ext cx="80101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60" kern="0" dirty="0">
                <a:solidFill>
                  <a:srgbClr val="8A4B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NEW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66928" y="548640"/>
            <a:ext cx="8010144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2428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Colour functions</a:t>
            </a:r>
            <a:endParaRPr lang="en-US" sz="3000" dirty="0"/>
          </a:p>
        </p:txBody>
      </p:sp>
      <p:sp>
        <p:nvSpPr>
          <p:cNvPr id="4" name="Text 2"/>
          <p:cNvSpPr txBox="1"/>
          <p:nvPr/>
        </p:nvSpPr>
        <p:spPr>
          <a:xfrm>
            <a:off x="8119872" y="6382512"/>
            <a:ext cx="457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566928" y="1463040"/>
            <a:ext cx="4846320" cy="2514600"/>
          </a:xfrm>
          <a:prstGeom prst="roundRect">
            <a:avLst>
              <a:gd name="adj" fmla="val 2182"/>
            </a:avLst>
          </a:prstGeom>
          <a:solidFill>
            <a:srgbClr val="F7F7F8"/>
          </a:solidFill>
          <a:ln w="9525">
            <a:solidFill>
              <a:srgbClr val="E3E1DD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713232" y="1591056"/>
            <a:ext cx="4553712" cy="22585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00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add.parametric(f, 0, 1, 40, 0, 1, 40,</a:t>
            </a:r>
            <a:endParaRPr lang="en-US" sz="100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00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color=lambda u, v: add.hsv(u))</a:t>
            </a:r>
            <a:endParaRPr lang="en-US" sz="1000" dirty="0"/>
          </a:p>
          <a:p>
            <a:pPr indent="0" marL="0">
              <a:lnSpc>
                <a:spcPts val="1600"/>
              </a:lnSpc>
              <a:buNone/>
            </a:pPr>
            <a:endParaRPr lang="en-US" sz="100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00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add.revolve(vase, A, B, 0, 4, 60, 40,</a:t>
            </a:r>
            <a:endParaRPr lang="en-US" sz="100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00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color=lambda t, a: "red" if int(t) % 2 else "white")</a:t>
            </a:r>
            <a:endParaRPr lang="en-US" sz="1000" dirty="0"/>
          </a:p>
          <a:p>
            <a:pPr indent="0" marL="0">
              <a:lnSpc>
                <a:spcPts val="1600"/>
              </a:lnSpc>
              <a:buNone/>
            </a:pPr>
            <a:endParaRPr lang="en-US" sz="100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00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add.curve(spiral, 0, 20, 300, 12, 0.2,</a:t>
            </a:r>
            <a:endParaRPr lang="en-US" sz="100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00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color=lambda t, a: add.hsv(t / 20))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5532120" y="1463040"/>
            <a:ext cx="3044952" cy="2194560"/>
          </a:xfrm>
          <a:prstGeom prst="roundRect">
            <a:avLst>
              <a:gd name="adj" fmla="val 2500"/>
            </a:avLst>
          </a:prstGeom>
          <a:solidFill>
            <a:srgbClr val="FAFAFA"/>
          </a:solidFill>
          <a:ln w="9525">
            <a:solidFill>
              <a:srgbClr val="E3E1DD"/>
            </a:solidFill>
            <a:prstDash val="solid"/>
          </a:ln>
        </p:spPr>
      </p:sp>
      <p:pic>
        <p:nvPicPr>
          <p:cNvPr id="8" name="Image 0" descr="/home/claude/add3d/docs/images/solar_system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5586984" y="1517904"/>
            <a:ext cx="2935224" cy="2084832"/>
          </a:xfrm>
          <a:prstGeom prst="rect">
            <a:avLst/>
          </a:prstGeom>
        </p:spPr>
      </p:pic>
      <p:sp>
        <p:nvSpPr>
          <p:cNvPr id="9" name="Text 6"/>
          <p:cNvSpPr txBox="1"/>
          <p:nvPr/>
        </p:nvSpPr>
        <p:spPr>
          <a:xfrm>
            <a:off x="5532120" y="3721608"/>
            <a:ext cx="304495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Planets: lathes painted by (latitude, longitude)</a:t>
            </a:r>
            <a:endParaRPr lang="en-US" sz="1100" dirty="0"/>
          </a:p>
        </p:txBody>
      </p:sp>
      <p:sp>
        <p:nvSpPr>
          <p:cNvPr id="10" name="Text 7"/>
          <p:cNvSpPr txBox="1"/>
          <p:nvPr/>
        </p:nvSpPr>
        <p:spPr>
          <a:xfrm>
            <a:off x="566928" y="4297680"/>
            <a:ext cx="8010144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2428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function is called once per cell with the surface's own two parameters: (u, v) for parametric, (t, angle) for revolve and curve, (x, z) for grid. Stripes, chequerboards, maps and gradients cost one lambda.</a:t>
            </a:r>
            <a:endParaRPr lang="en-US" sz="1400" dirty="0"/>
          </a:p>
        </p:txBody>
      </p:sp>
      <p:sp>
        <p:nvSpPr>
          <p:cNvPr id="11" name="Text 8"/>
          <p:cNvSpPr txBox="1"/>
          <p:nvPr/>
        </p:nvSpPr>
        <p:spPr>
          <a:xfrm>
            <a:off x="566928" y="5742432"/>
            <a:ext cx="746150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 a mesh you already have: color_by(M, lambda p: ...) paints by position.</a:t>
            </a:r>
            <a:endParaRPr lang="en-US" sz="125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329184"/>
            <a:ext cx="80101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60" kern="0" dirty="0">
                <a:solidFill>
                  <a:srgbClr val="8A4B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PARAMETRIC SURFACES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66928" y="548640"/>
            <a:ext cx="8010144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2428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One equation, twelve shapes</a:t>
            </a:r>
            <a:endParaRPr lang="en-US" sz="3000" dirty="0"/>
          </a:p>
        </p:txBody>
      </p:sp>
      <p:sp>
        <p:nvSpPr>
          <p:cNvPr id="4" name="Text 2"/>
          <p:cNvSpPr txBox="1"/>
          <p:nvPr/>
        </p:nvSpPr>
        <p:spPr>
          <a:xfrm>
            <a:off x="8119872" y="6382512"/>
            <a:ext cx="457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566928" y="1417320"/>
            <a:ext cx="4846320" cy="3429000"/>
          </a:xfrm>
          <a:prstGeom prst="roundRect">
            <a:avLst>
              <a:gd name="adj" fmla="val 1600"/>
            </a:avLst>
          </a:prstGeom>
          <a:solidFill>
            <a:srgbClr val="FAFAFA"/>
          </a:solidFill>
          <a:ln w="9525">
            <a:solidFill>
              <a:srgbClr val="E3E1DD"/>
            </a:solidFill>
            <a:prstDash val="solid"/>
          </a:ln>
        </p:spPr>
      </p:sp>
      <p:pic>
        <p:nvPicPr>
          <p:cNvPr id="6" name="Image 0" descr="/home/claude/add3d/docs/images/supershapes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621792" y="1472184"/>
            <a:ext cx="4736592" cy="3319272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5623560" y="1508760"/>
            <a:ext cx="2971800" cy="3291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700"/>
              </a:lnSpc>
              <a:buNone/>
            </a:pPr>
            <a:r>
              <a:rPr lang="en-US" sz="1300" b="1" dirty="0">
                <a:solidFill>
                  <a:srgbClr val="8A4B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Gielis's superformula (2003)
</a:t>
            </a:r>
            <a:endParaRPr lang="en-US" sz="1300" dirty="0"/>
          </a:p>
          <a:p>
            <a:pPr indent="0" marL="0">
              <a:lnSpc>
                <a:spcPts val="1700"/>
              </a:lnSpc>
              <a:buNone/>
            </a:pPr>
            <a:r>
              <a:rPr lang="en-US" sz="1100" dirty="0">
                <a:solidFill>
                  <a:srgbClr val="24282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r(t) = ( |cos(m·t/4)/a|^n₂ + |sin(m·t/4)/b|^n₃ ) ^ (−1/n₁)
</a:t>
            </a:r>
            <a:endParaRPr lang="en-US" sz="1300" dirty="0"/>
          </a:p>
          <a:p>
            <a:pPr indent="0" marL="0">
              <a:lnSpc>
                <a:spcPts val="1700"/>
              </a:lnSpc>
              <a:buNone/>
            </a:pPr>
            <a:r>
              <a:rPr lang="en-US" sz="1300" dirty="0">
                <a:solidFill>
                  <a:srgbClr val="2428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Six numbers -- and you get a starfish, a flower, a crystal or a plain ball.
</a:t>
            </a:r>
            <a:endParaRPr lang="en-US" sz="1300" dirty="0"/>
          </a:p>
          <a:p>
            <a:pPr indent="0" marL="0">
              <a:lnSpc>
                <a:spcPts val="1700"/>
              </a:lnSpc>
              <a:buNone/>
            </a:pPr>
            <a:r>
              <a:rPr lang="en-US" sz="130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Exactly what the assignment asks for: one parameter that changes the shape.</a:t>
            </a:r>
            <a:endParaRPr lang="en-US" sz="1300" dirty="0"/>
          </a:p>
        </p:txBody>
      </p:sp>
      <p:sp>
        <p:nvSpPr>
          <p:cNvPr id="8" name="Text 5"/>
          <p:cNvSpPr txBox="1"/>
          <p:nvPr/>
        </p:nvSpPr>
        <p:spPr>
          <a:xfrm>
            <a:off x="566928" y="5742432"/>
            <a:ext cx="746150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examples/08_surfaces_superformula.py</a:t>
            </a:r>
            <a:endParaRPr lang="en-US" sz="125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329184"/>
            <a:ext cx="80101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60" kern="0" dirty="0">
                <a:solidFill>
                  <a:srgbClr val="8A4B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EXAMPLES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66928" y="548640"/>
            <a:ext cx="8010144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2428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Surfaces that look like things</a:t>
            </a:r>
            <a:endParaRPr lang="en-US" sz="3000" dirty="0"/>
          </a:p>
        </p:txBody>
      </p:sp>
      <p:sp>
        <p:nvSpPr>
          <p:cNvPr id="4" name="Text 2"/>
          <p:cNvSpPr txBox="1"/>
          <p:nvPr/>
        </p:nvSpPr>
        <p:spPr>
          <a:xfrm>
            <a:off x="8119872" y="6382512"/>
            <a:ext cx="457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13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566928" y="1417320"/>
            <a:ext cx="8010144" cy="3749040"/>
          </a:xfrm>
          <a:prstGeom prst="roundRect">
            <a:avLst>
              <a:gd name="adj" fmla="val 1463"/>
            </a:avLst>
          </a:prstGeom>
          <a:solidFill>
            <a:srgbClr val="FAFAFA"/>
          </a:solidFill>
          <a:ln w="9525">
            <a:solidFill>
              <a:srgbClr val="E3E1DD"/>
            </a:solidFill>
            <a:prstDash val="solid"/>
          </a:ln>
        </p:spPr>
      </p:sp>
      <p:pic>
        <p:nvPicPr>
          <p:cNvPr id="6" name="Image 0" descr="/home/claude/add3d/docs/images/surfaces_nature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621792" y="1472184"/>
            <a:ext cx="7900416" cy="3639312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566928" y="5742432"/>
            <a:ext cx="746150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Shell, snail, Dini's surface, apple, lemon, heart, horn, trumpet, wavy column, breather, ripples, drop. examples/09_surfaces_nature.py</a:t>
            </a:r>
            <a:endParaRPr lang="en-US" sz="125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329184"/>
            <a:ext cx="80101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60" kern="0" dirty="0">
                <a:solidFill>
                  <a:srgbClr val="8A4B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EXAMPLES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66928" y="548640"/>
            <a:ext cx="8010144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2428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Graphs and exotic surfaces</a:t>
            </a:r>
            <a:endParaRPr lang="en-US" sz="3000" dirty="0"/>
          </a:p>
        </p:txBody>
      </p:sp>
      <p:sp>
        <p:nvSpPr>
          <p:cNvPr id="4" name="Text 2"/>
          <p:cNvSpPr txBox="1"/>
          <p:nvPr/>
        </p:nvSpPr>
        <p:spPr>
          <a:xfrm>
            <a:off x="8119872" y="6382512"/>
            <a:ext cx="457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14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566928" y="1463040"/>
            <a:ext cx="3931920" cy="2743200"/>
          </a:xfrm>
          <a:prstGeom prst="roundRect">
            <a:avLst>
              <a:gd name="adj" fmla="val 2000"/>
            </a:avLst>
          </a:prstGeom>
          <a:solidFill>
            <a:srgbClr val="FAFAFA"/>
          </a:solidFill>
          <a:ln w="9525">
            <a:solidFill>
              <a:srgbClr val="E3E1DD"/>
            </a:solidFill>
            <a:prstDash val="solid"/>
          </a:ln>
        </p:spPr>
      </p:sp>
      <p:pic>
        <p:nvPicPr>
          <p:cNvPr id="6" name="Image 0" descr="/home/claude/add3d/docs/images/height_fields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621792" y="1517904"/>
            <a:ext cx="3822192" cy="2633472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566928" y="4270248"/>
            <a:ext cx="3931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 = f(x, z)  ·  10_height_fields.py</a:t>
            </a:r>
            <a:endParaRPr lang="en-US" sz="1100" dirty="0"/>
          </a:p>
        </p:txBody>
      </p:sp>
      <p:sp>
        <p:nvSpPr>
          <p:cNvPr id="8" name="Shape 5"/>
          <p:cNvSpPr/>
          <p:nvPr/>
        </p:nvSpPr>
        <p:spPr>
          <a:xfrm>
            <a:off x="4663440" y="1463040"/>
            <a:ext cx="3913632" cy="2743200"/>
          </a:xfrm>
          <a:prstGeom prst="roundRect">
            <a:avLst>
              <a:gd name="adj" fmla="val 2000"/>
            </a:avLst>
          </a:prstGeom>
          <a:solidFill>
            <a:srgbClr val="FAFAFA"/>
          </a:solidFill>
          <a:ln w="9525">
            <a:solidFill>
              <a:srgbClr val="E3E1DD"/>
            </a:solidFill>
            <a:prstDash val="solid"/>
          </a:ln>
        </p:spPr>
      </p:sp>
      <p:pic>
        <p:nvPicPr>
          <p:cNvPr id="9" name="Image 1" descr="/home/claude/add3d/docs/images/surfaces_exotic.png">    </p:cNvPr>
          <p:cNvPicPr>
            <a:picLocks noChangeAspect="1"/>
          </p:cNvPicPr>
          <p:nvPr/>
        </p:nvPicPr>
        <p:blipFill>
          <a:blip r:embed="rId2"/>
          <a:srcRect l="0" r="0" t="0" b="0"/>
          <a:stretch/>
        </p:blipFill>
        <p:spPr>
          <a:xfrm>
            <a:off x="4718304" y="1517904"/>
            <a:ext cx="3803904" cy="2633472"/>
          </a:xfrm>
          <a:prstGeom prst="rect">
            <a:avLst/>
          </a:prstGeom>
        </p:spPr>
      </p:pic>
      <p:sp>
        <p:nvSpPr>
          <p:cNvPr id="10" name="Text 6"/>
          <p:cNvSpPr txBox="1"/>
          <p:nvPr/>
        </p:nvSpPr>
        <p:spPr>
          <a:xfrm>
            <a:off x="4663440" y="4270248"/>
            <a:ext cx="391363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Möbius, Klein, Boy, Roman surface  ·  07_surfaces_exotic.py</a:t>
            </a:r>
            <a:endParaRPr lang="en-US" sz="1100" dirty="0"/>
          </a:p>
        </p:txBody>
      </p:sp>
      <p:sp>
        <p:nvSpPr>
          <p:cNvPr id="11" name="Text 7"/>
          <p:cNvSpPr txBox="1"/>
          <p:nvPr/>
        </p:nvSpPr>
        <p:spPr>
          <a:xfrm>
            <a:off x="566928" y="5029200"/>
            <a:ext cx="8010144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2428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One-sided surfaces have no "outside". Give them a thickness and they become ordinary two-sided solids.</a:t>
            </a:r>
            <a:endParaRPr lang="en-US" sz="15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329184"/>
            <a:ext cx="80101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60" kern="0" dirty="0">
                <a:solidFill>
                  <a:srgbClr val="8A4B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SURFACES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66928" y="548640"/>
            <a:ext cx="8010144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2428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When a surface is black from one side</a:t>
            </a:r>
            <a:endParaRPr lang="en-US" sz="3000" dirty="0"/>
          </a:p>
        </p:txBody>
      </p:sp>
      <p:sp>
        <p:nvSpPr>
          <p:cNvPr id="4" name="Text 2"/>
          <p:cNvSpPr txBox="1"/>
          <p:nvPr/>
        </p:nvSpPr>
        <p:spPr>
          <a:xfrm>
            <a:off x="8119872" y="6382512"/>
            <a:ext cx="457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566928" y="1417320"/>
            <a:ext cx="8010144" cy="2926080"/>
          </a:xfrm>
          <a:prstGeom prst="roundRect">
            <a:avLst>
              <a:gd name="adj" fmla="val 1875"/>
            </a:avLst>
          </a:prstGeom>
          <a:solidFill>
            <a:srgbClr val="FAFAFA"/>
          </a:solidFill>
          <a:ln w="9525">
            <a:solidFill>
              <a:srgbClr val="E3E1DD"/>
            </a:solidFill>
            <a:prstDash val="solid"/>
          </a:ln>
        </p:spPr>
      </p:sp>
      <p:pic>
        <p:nvPicPr>
          <p:cNvPr id="6" name="Image 0" descr="/home/claude/add3d/docs/images/two_sided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621792" y="1472184"/>
            <a:ext cx="7900416" cy="2816352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566928" y="4572000"/>
            <a:ext cx="2511552" cy="1234440"/>
          </a:xfrm>
          <a:prstGeom prst="roundRect">
            <a:avLst>
              <a:gd name="adj" fmla="val 3704"/>
            </a:avLst>
          </a:prstGeom>
          <a:solidFill>
            <a:srgbClr val="F6EFE8"/>
          </a:solidFill>
          <a:ln/>
        </p:spPr>
      </p:sp>
      <p:sp>
        <p:nvSpPr>
          <p:cNvPr id="8" name="Text 5"/>
          <p:cNvSpPr txBox="1"/>
          <p:nvPr/>
        </p:nvSpPr>
        <p:spPr>
          <a:xfrm>
            <a:off x="768096" y="4718304"/>
            <a:ext cx="210921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8A4B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plain sheet</a:t>
            </a:r>
            <a:endParaRPr lang="en-US" sz="1500" dirty="0"/>
          </a:p>
        </p:txBody>
      </p:sp>
      <p:sp>
        <p:nvSpPr>
          <p:cNvPr id="9" name="Text 6"/>
          <p:cNvSpPr txBox="1"/>
          <p:nvPr/>
        </p:nvSpPr>
        <p:spPr>
          <a:xfrm>
            <a:off x="768096" y="5047488"/>
            <a:ext cx="2109216" cy="6126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50" dirty="0">
                <a:solidFill>
                  <a:srgbClr val="2428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good side, one "dead" side.</a:t>
            </a:r>
            <a:endParaRPr lang="en-US" sz="1250" dirty="0"/>
          </a:p>
        </p:txBody>
      </p:sp>
      <p:sp>
        <p:nvSpPr>
          <p:cNvPr id="10" name="Shape 7"/>
          <p:cNvSpPr/>
          <p:nvPr/>
        </p:nvSpPr>
        <p:spPr>
          <a:xfrm>
            <a:off x="3316224" y="4572000"/>
            <a:ext cx="2511552" cy="1234440"/>
          </a:xfrm>
          <a:prstGeom prst="roundRect">
            <a:avLst>
              <a:gd name="adj" fmla="val 3704"/>
            </a:avLst>
          </a:prstGeom>
          <a:solidFill>
            <a:srgbClr val="F6EFE8"/>
          </a:solidFill>
          <a:ln/>
        </p:spPr>
      </p:sp>
      <p:sp>
        <p:nvSpPr>
          <p:cNvPr id="11" name="Text 8"/>
          <p:cNvSpPr txBox="1"/>
          <p:nvPr/>
        </p:nvSpPr>
        <p:spPr>
          <a:xfrm>
            <a:off x="3517392" y="4718304"/>
            <a:ext cx="210921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8A4B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double_sided=True</a:t>
            </a:r>
            <a:endParaRPr lang="en-US" sz="1500" dirty="0"/>
          </a:p>
        </p:txBody>
      </p:sp>
      <p:sp>
        <p:nvSpPr>
          <p:cNvPr id="12" name="Text 9"/>
          <p:cNvSpPr txBox="1"/>
          <p:nvPr/>
        </p:nvSpPr>
        <p:spPr>
          <a:xfrm>
            <a:off x="3517392" y="5047488"/>
            <a:ext cx="2109216" cy="6126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50" dirty="0">
                <a:solidFill>
                  <a:srgbClr val="2428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face and its reversed copy. Cheap; still no thickness.</a:t>
            </a:r>
            <a:endParaRPr lang="en-US" sz="1250" dirty="0"/>
          </a:p>
        </p:txBody>
      </p:sp>
      <p:sp>
        <p:nvSpPr>
          <p:cNvPr id="13" name="Shape 10"/>
          <p:cNvSpPr/>
          <p:nvPr/>
        </p:nvSpPr>
        <p:spPr>
          <a:xfrm>
            <a:off x="6065520" y="4572000"/>
            <a:ext cx="2511552" cy="1234440"/>
          </a:xfrm>
          <a:prstGeom prst="roundRect">
            <a:avLst>
              <a:gd name="adj" fmla="val 3704"/>
            </a:avLst>
          </a:prstGeom>
          <a:solidFill>
            <a:srgbClr val="F6EFE8"/>
          </a:solidFill>
          <a:ln/>
        </p:spPr>
      </p:sp>
      <p:sp>
        <p:nvSpPr>
          <p:cNvPr id="14" name="Text 11"/>
          <p:cNvSpPr txBox="1"/>
          <p:nvPr/>
        </p:nvSpPr>
        <p:spPr>
          <a:xfrm>
            <a:off x="6266688" y="4718304"/>
            <a:ext cx="210921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8A4B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thickness=0.1</a:t>
            </a:r>
            <a:endParaRPr lang="en-US" sz="1500" dirty="0"/>
          </a:p>
        </p:txBody>
      </p:sp>
      <p:sp>
        <p:nvSpPr>
          <p:cNvPr id="15" name="Text 12"/>
          <p:cNvSpPr txBox="1"/>
          <p:nvPr/>
        </p:nvSpPr>
        <p:spPr>
          <a:xfrm>
            <a:off x="6266688" y="5047488"/>
            <a:ext cx="2109216" cy="6126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50" dirty="0">
                <a:solidFill>
                  <a:srgbClr val="2428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real solid with a wall: closed, printable, right from every angle.</a:t>
            </a:r>
            <a:endParaRPr lang="en-US" sz="125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329184"/>
            <a:ext cx="80101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60" kern="0" dirty="0">
                <a:solidFill>
                  <a:srgbClr val="8A4B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SURFACES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66928" y="548640"/>
            <a:ext cx="8010144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2428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revolve() -- the lathe</a:t>
            </a:r>
            <a:endParaRPr lang="en-US" sz="3000" dirty="0"/>
          </a:p>
        </p:txBody>
      </p:sp>
      <p:sp>
        <p:nvSpPr>
          <p:cNvPr id="4" name="Text 2"/>
          <p:cNvSpPr txBox="1"/>
          <p:nvPr/>
        </p:nvSpPr>
        <p:spPr>
          <a:xfrm>
            <a:off x="8119872" y="6382512"/>
            <a:ext cx="457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16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566928" y="1463040"/>
            <a:ext cx="4023360" cy="1691640"/>
          </a:xfrm>
          <a:prstGeom prst="roundRect">
            <a:avLst>
              <a:gd name="adj" fmla="val 3243"/>
            </a:avLst>
          </a:prstGeom>
          <a:solidFill>
            <a:srgbClr val="F7F7F8"/>
          </a:solidFill>
          <a:ln w="9525">
            <a:solidFill>
              <a:srgbClr val="E3E1DD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713232" y="1591056"/>
            <a:ext cx="3730752" cy="1435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5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def vase(t):</a:t>
            </a:r>
            <a:endParaRPr lang="en-US" sz="125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25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return [1 + 0.4*add.sin(3*t), t]</a:t>
            </a:r>
            <a:endParaRPr lang="en-US" sz="1250" dirty="0"/>
          </a:p>
          <a:p>
            <a:pPr indent="0" marL="0">
              <a:lnSpc>
                <a:spcPts val="1600"/>
              </a:lnSpc>
              <a:buNone/>
            </a:pPr>
            <a:endParaRPr lang="en-US" sz="125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25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add.revolve(vase, [0, 0, 0], [0, 1, 0],</a:t>
            </a:r>
            <a:endParaRPr lang="en-US" sz="125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25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    0, 4, 60, 40, "teal")</a:t>
            </a:r>
            <a:endParaRPr lang="en-US" sz="1250" dirty="0"/>
          </a:p>
        </p:txBody>
      </p:sp>
      <p:sp>
        <p:nvSpPr>
          <p:cNvPr id="7" name="Text 5"/>
          <p:cNvSpPr txBox="1"/>
          <p:nvPr/>
        </p:nvSpPr>
        <p:spPr>
          <a:xfrm>
            <a:off x="566928" y="3291840"/>
            <a:ext cx="402336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700"/>
              </a:lnSpc>
              <a:buNone/>
            </a:pPr>
            <a:r>
              <a:rPr lang="en-US" sz="1300" b="1" dirty="0">
                <a:solidFill>
                  <a:srgbClr val="24282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profile(t)</a:t>
            </a:r>
            <a:pPr indent="0" marL="0">
              <a:lnSpc>
                <a:spcPts val="1700"/>
              </a:lnSpc>
              <a:buNone/>
            </a:pPr>
            <a:r>
              <a:rPr lang="en-US" sz="1300" dirty="0">
                <a:solidFill>
                  <a:srgbClr val="2428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returns [radius, height]</a:t>
            </a:r>
            <a:endParaRPr lang="en-US" sz="1300" dirty="0"/>
          </a:p>
          <a:p>
            <a:pPr indent="0" marL="0">
              <a:lnSpc>
                <a:spcPts val="1700"/>
              </a:lnSpc>
              <a:buNone/>
            </a:pPr>
            <a:endParaRPr lang="en-US" sz="1300" dirty="0"/>
          </a:p>
          <a:p>
            <a:pPr indent="0" marL="0">
              <a:lnSpc>
                <a:spcPts val="1700"/>
              </a:lnSpc>
              <a:buNone/>
            </a:pPr>
            <a:r>
              <a:rPr lang="en-US" sz="1300" dirty="0">
                <a:solidFill>
                  <a:srgbClr val="2428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caps=True closes the ends -- a solid ready for booleans</a:t>
            </a:r>
            <a:endParaRPr lang="en-US" sz="1300" dirty="0"/>
          </a:p>
          <a:p>
            <a:pPr indent="0" marL="0">
              <a:lnSpc>
                <a:spcPts val="1700"/>
              </a:lnSpc>
              <a:buNone/>
            </a:pPr>
            <a:endParaRPr lang="en-US" sz="1300" dirty="0"/>
          </a:p>
          <a:p>
            <a:pPr indent="0" marL="0">
              <a:lnSpc>
                <a:spcPts val="1700"/>
              </a:lnSpc>
              <a:buNone/>
            </a:pPr>
            <a:r>
              <a:rPr lang="en-US" sz="1300" dirty="0">
                <a:solidFill>
                  <a:srgbClr val="2428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angle= less than a full turn cuts out a wedge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4800600" y="1463040"/>
            <a:ext cx="3776472" cy="3200400"/>
          </a:xfrm>
          <a:prstGeom prst="roundRect">
            <a:avLst>
              <a:gd name="adj" fmla="val 1714"/>
            </a:avLst>
          </a:prstGeom>
          <a:solidFill>
            <a:srgbClr val="FAFAFA"/>
          </a:solidFill>
          <a:ln w="9525">
            <a:solidFill>
              <a:srgbClr val="E3E1DD"/>
            </a:solidFill>
            <a:prstDash val="solid"/>
          </a:ln>
        </p:spPr>
      </p:sp>
      <p:pic>
        <p:nvPicPr>
          <p:cNvPr id="9" name="Image 0" descr="/home/claude/add3d/docs/images/lathe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4855464" y="1517904"/>
            <a:ext cx="3666744" cy="3090672"/>
          </a:xfrm>
          <a:prstGeom prst="rect">
            <a:avLst/>
          </a:prstGeom>
        </p:spPr>
      </p:pic>
      <p:sp>
        <p:nvSpPr>
          <p:cNvPr id="10" name="Text 7"/>
          <p:cNvSpPr txBox="1"/>
          <p:nvPr/>
        </p:nvSpPr>
        <p:spPr>
          <a:xfrm>
            <a:off x="566928" y="5742432"/>
            <a:ext cx="746150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old spin3D(A, B, S, ...) still works -- the same lathe without lids. examples/14_lathe_gallery.py</a:t>
            </a:r>
            <a:endParaRPr lang="en-US" sz="125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329184"/>
            <a:ext cx="80101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60" kern="0" dirty="0">
                <a:solidFill>
                  <a:srgbClr val="8A4B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SURFACES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66928" y="548640"/>
            <a:ext cx="8010144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2428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 cross-section copied, turned and stretched</a:t>
            </a:r>
            <a:endParaRPr lang="en-US" sz="3000" dirty="0"/>
          </a:p>
        </p:txBody>
      </p:sp>
      <p:sp>
        <p:nvSpPr>
          <p:cNvPr id="4" name="Text 2"/>
          <p:cNvSpPr txBox="1"/>
          <p:nvPr/>
        </p:nvSpPr>
        <p:spPr>
          <a:xfrm>
            <a:off x="8119872" y="6382512"/>
            <a:ext cx="457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17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566928" y="1444752"/>
            <a:ext cx="4846320" cy="1005840"/>
          </a:xfrm>
          <a:prstGeom prst="roundRect">
            <a:avLst>
              <a:gd name="adj" fmla="val 5455"/>
            </a:avLst>
          </a:prstGeom>
          <a:solidFill>
            <a:srgbClr val="F7F7F8"/>
          </a:solidFill>
          <a:ln w="9525">
            <a:solidFill>
              <a:srgbClr val="E3E1DD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713232" y="1572768"/>
            <a:ext cx="4553712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add.extrude(star, [0, 3.4, 0], "gold",</a:t>
            </a:r>
            <a:endParaRPr lang="en-US" sz="120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    steps=90, twist=1.6*add.pi,</a:t>
            </a:r>
            <a:endParaRPr lang="en-US" sz="120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    scale=lambda t: 1 - 0.45*t)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5532120" y="1444752"/>
            <a:ext cx="3044952" cy="2194560"/>
          </a:xfrm>
          <a:prstGeom prst="roundRect">
            <a:avLst>
              <a:gd name="adj" fmla="val 2500"/>
            </a:avLst>
          </a:prstGeom>
          <a:solidFill>
            <a:srgbClr val="FAFAFA"/>
          </a:solidFill>
          <a:ln w="9525">
            <a:solidFill>
              <a:srgbClr val="E3E1DD"/>
            </a:solidFill>
            <a:prstDash val="solid"/>
          </a:ln>
        </p:spPr>
      </p:sp>
      <p:pic>
        <p:nvPicPr>
          <p:cNvPr id="8" name="Image 0" descr="/home/claude/add3d/docs/images/cross_sections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5586984" y="1499616"/>
            <a:ext cx="2935224" cy="2084832"/>
          </a:xfrm>
          <a:prstGeom prst="rect">
            <a:avLst/>
          </a:prstGeom>
        </p:spPr>
      </p:pic>
      <p:sp>
        <p:nvSpPr>
          <p:cNvPr id="9" name="Text 6"/>
          <p:cNvSpPr txBox="1"/>
          <p:nvPr/>
        </p:nvSpPr>
        <p:spPr>
          <a:xfrm>
            <a:off x="566928" y="2606040"/>
            <a:ext cx="48463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twist and scale may be functions of the position along the path -- the shape changes as it goes. profile_star, profile_gear, profile_rect ... give the outlines. examples/13_sweep_and_twist.py, 33_cross_sections.py</a:t>
            </a:r>
            <a:endParaRPr lang="en-US" sz="1250" dirty="0"/>
          </a:p>
        </p:txBody>
      </p:sp>
      <p:sp>
        <p:nvSpPr>
          <p:cNvPr id="10" name="Shape 7"/>
          <p:cNvSpPr/>
          <p:nvPr/>
        </p:nvSpPr>
        <p:spPr>
          <a:xfrm>
            <a:off x="566928" y="3703320"/>
            <a:ext cx="3886200" cy="1024128"/>
          </a:xfrm>
          <a:prstGeom prst="roundRect">
            <a:avLst>
              <a:gd name="adj" fmla="val 4464"/>
            </a:avLst>
          </a:prstGeom>
          <a:solidFill>
            <a:srgbClr val="F6EFE8"/>
          </a:solidFill>
          <a:ln/>
        </p:spPr>
      </p:sp>
      <p:sp>
        <p:nvSpPr>
          <p:cNvPr id="11" name="Text 8"/>
          <p:cNvSpPr txBox="1"/>
          <p:nvPr/>
        </p:nvSpPr>
        <p:spPr>
          <a:xfrm>
            <a:off x="768096" y="3849624"/>
            <a:ext cx="348386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8A4B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extrude</a:t>
            </a:r>
            <a:endParaRPr lang="en-US" sz="1500" dirty="0"/>
          </a:p>
        </p:txBody>
      </p:sp>
      <p:sp>
        <p:nvSpPr>
          <p:cNvPr id="12" name="Text 9"/>
          <p:cNvSpPr txBox="1"/>
          <p:nvPr/>
        </p:nvSpPr>
        <p:spPr>
          <a:xfrm>
            <a:off x="768096" y="4178808"/>
            <a:ext cx="3483864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50" dirty="0">
                <a:solidFill>
                  <a:srgbClr val="2428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2D shape pulled into 3D; turned and narrowed on the way.</a:t>
            </a:r>
            <a:endParaRPr lang="en-US" sz="1250" dirty="0"/>
          </a:p>
        </p:txBody>
      </p:sp>
      <p:sp>
        <p:nvSpPr>
          <p:cNvPr id="13" name="Shape 10"/>
          <p:cNvSpPr/>
          <p:nvPr/>
        </p:nvSpPr>
        <p:spPr>
          <a:xfrm>
            <a:off x="4690872" y="3703320"/>
            <a:ext cx="3886200" cy="1024128"/>
          </a:xfrm>
          <a:prstGeom prst="roundRect">
            <a:avLst>
              <a:gd name="adj" fmla="val 4464"/>
            </a:avLst>
          </a:prstGeom>
          <a:solidFill>
            <a:srgbClr val="F6EFE8"/>
          </a:solidFill>
          <a:ln/>
        </p:spPr>
      </p:sp>
      <p:sp>
        <p:nvSpPr>
          <p:cNvPr id="14" name="Text 11"/>
          <p:cNvSpPr txBox="1"/>
          <p:nvPr/>
        </p:nvSpPr>
        <p:spPr>
          <a:xfrm>
            <a:off x="4892040" y="3849624"/>
            <a:ext cx="348386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8A4B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sweep</a:t>
            </a:r>
            <a:endParaRPr lang="en-US" sz="1500" dirty="0"/>
          </a:p>
        </p:txBody>
      </p:sp>
      <p:sp>
        <p:nvSpPr>
          <p:cNvPr id="15" name="Text 12"/>
          <p:cNvSpPr txBox="1"/>
          <p:nvPr/>
        </p:nvSpPr>
        <p:spPr>
          <a:xfrm>
            <a:off x="4892040" y="4178808"/>
            <a:ext cx="3483864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50" dirty="0">
                <a:solidFill>
                  <a:srgbClr val="2428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cross-section pushed along any 3D path.</a:t>
            </a:r>
            <a:endParaRPr lang="en-US" sz="1250" dirty="0"/>
          </a:p>
        </p:txBody>
      </p:sp>
      <p:sp>
        <p:nvSpPr>
          <p:cNvPr id="16" name="Shape 13"/>
          <p:cNvSpPr/>
          <p:nvPr/>
        </p:nvSpPr>
        <p:spPr>
          <a:xfrm>
            <a:off x="566928" y="4965192"/>
            <a:ext cx="3886200" cy="1024128"/>
          </a:xfrm>
          <a:prstGeom prst="roundRect">
            <a:avLst>
              <a:gd name="adj" fmla="val 4464"/>
            </a:avLst>
          </a:prstGeom>
          <a:solidFill>
            <a:srgbClr val="F6EFE8"/>
          </a:solidFill>
          <a:ln/>
        </p:spPr>
      </p:sp>
      <p:sp>
        <p:nvSpPr>
          <p:cNvPr id="17" name="Text 14"/>
          <p:cNvSpPr txBox="1"/>
          <p:nvPr/>
        </p:nvSpPr>
        <p:spPr>
          <a:xfrm>
            <a:off x="768096" y="5111496"/>
            <a:ext cx="348386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8A4B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loft</a:t>
            </a:r>
            <a:endParaRPr lang="en-US" sz="1500" dirty="0"/>
          </a:p>
        </p:txBody>
      </p:sp>
      <p:sp>
        <p:nvSpPr>
          <p:cNvPr id="18" name="Text 15"/>
          <p:cNvSpPr txBox="1"/>
          <p:nvPr/>
        </p:nvSpPr>
        <p:spPr>
          <a:xfrm>
            <a:off x="768096" y="5440680"/>
            <a:ext cx="3483864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50" dirty="0">
                <a:solidFill>
                  <a:srgbClr val="2428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surface skinned over a sequence of cross-sections.</a:t>
            </a:r>
            <a:endParaRPr lang="en-US" sz="1250" dirty="0"/>
          </a:p>
        </p:txBody>
      </p:sp>
      <p:sp>
        <p:nvSpPr>
          <p:cNvPr id="19" name="Shape 16"/>
          <p:cNvSpPr/>
          <p:nvPr/>
        </p:nvSpPr>
        <p:spPr>
          <a:xfrm>
            <a:off x="4690872" y="4965192"/>
            <a:ext cx="3886200" cy="1024128"/>
          </a:xfrm>
          <a:prstGeom prst="roundRect">
            <a:avLst>
              <a:gd name="adj" fmla="val 4464"/>
            </a:avLst>
          </a:prstGeom>
          <a:solidFill>
            <a:srgbClr val="F6EFE8"/>
          </a:solidFill>
          <a:ln/>
        </p:spPr>
      </p:sp>
      <p:sp>
        <p:nvSpPr>
          <p:cNvPr id="20" name="Text 17"/>
          <p:cNvSpPr txBox="1"/>
          <p:nvPr/>
        </p:nvSpPr>
        <p:spPr>
          <a:xfrm>
            <a:off x="4892040" y="5111496"/>
            <a:ext cx="348386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8A4B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polyline, trace</a:t>
            </a:r>
            <a:endParaRPr lang="en-US" sz="1500" dirty="0"/>
          </a:p>
        </p:txBody>
      </p:sp>
      <p:sp>
        <p:nvSpPr>
          <p:cNvPr id="21" name="Text 18"/>
          <p:cNvSpPr txBox="1"/>
          <p:nvPr/>
        </p:nvSpPr>
        <p:spPr>
          <a:xfrm>
            <a:off x="4892040" y="5440680"/>
            <a:ext cx="3483864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50" dirty="0">
                <a:solidFill>
                  <a:srgbClr val="2428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tube through a list of points; the path of a vector field.</a:t>
            </a:r>
            <a:endParaRPr lang="en-US" sz="125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329184"/>
            <a:ext cx="80101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60" kern="0" dirty="0">
                <a:solidFill>
                  <a:srgbClr val="8A4B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SURFACES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66928" y="548640"/>
            <a:ext cx="8010144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2428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curve() -- curves as tubes</a:t>
            </a:r>
            <a:endParaRPr lang="en-US" sz="3000" dirty="0"/>
          </a:p>
        </p:txBody>
      </p:sp>
      <p:sp>
        <p:nvSpPr>
          <p:cNvPr id="4" name="Text 2"/>
          <p:cNvSpPr txBox="1"/>
          <p:nvPr/>
        </p:nvSpPr>
        <p:spPr>
          <a:xfrm>
            <a:off x="8119872" y="6382512"/>
            <a:ext cx="457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18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566928" y="1417320"/>
            <a:ext cx="4846320" cy="3429000"/>
          </a:xfrm>
          <a:prstGeom prst="roundRect">
            <a:avLst>
              <a:gd name="adj" fmla="val 1600"/>
            </a:avLst>
          </a:prstGeom>
          <a:solidFill>
            <a:srgbClr val="FAFAFA"/>
          </a:solidFill>
          <a:ln w="9525">
            <a:solidFill>
              <a:srgbClr val="E3E1DD"/>
            </a:solidFill>
            <a:prstDash val="solid"/>
          </a:ln>
        </p:spPr>
      </p:sp>
      <p:pic>
        <p:nvPicPr>
          <p:cNvPr id="6" name="Image 0" descr="/home/claude/add3d/docs/images/curves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621792" y="1472184"/>
            <a:ext cx="4736592" cy="3319272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5532120" y="1463040"/>
            <a:ext cx="3044952" cy="2103120"/>
          </a:xfrm>
          <a:prstGeom prst="roundRect">
            <a:avLst>
              <a:gd name="adj" fmla="val 2609"/>
            </a:avLst>
          </a:prstGeom>
          <a:solidFill>
            <a:srgbClr val="F7F7F8"/>
          </a:solidFill>
          <a:ln w="9525">
            <a:solidFill>
              <a:srgbClr val="E3E1DD"/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5678424" y="1591056"/>
            <a:ext cx="2752344" cy="18470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95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def knot(t):</a:t>
            </a:r>
            <a:endParaRPr lang="en-US" sz="950" dirty="0"/>
          </a:p>
          <a:p>
            <a:pPr indent="0" marL="0">
              <a:lnSpc>
                <a:spcPts val="1600"/>
              </a:lnSpc>
              <a:buNone/>
            </a:pPr>
            <a:r>
              <a:rPr lang="en-US" sz="95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return [add.sin(t) + 2*add.sin(2*t),</a:t>
            </a:r>
            <a:endParaRPr lang="en-US" sz="950" dirty="0"/>
          </a:p>
          <a:p>
            <a:pPr indent="0" marL="0">
              <a:lnSpc>
                <a:spcPts val="1600"/>
              </a:lnSpc>
              <a:buNone/>
            </a:pPr>
            <a:r>
              <a:rPr lang="en-US" sz="95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  -add.sin(3*t),</a:t>
            </a:r>
            <a:endParaRPr lang="en-US" sz="950" dirty="0"/>
          </a:p>
          <a:p>
            <a:pPr indent="0" marL="0">
              <a:lnSpc>
                <a:spcPts val="1600"/>
              </a:lnSpc>
              <a:buNone/>
            </a:pPr>
            <a:r>
              <a:rPr lang="en-US" sz="95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  add.cos(t) - 2*add.cos(2*t)]</a:t>
            </a:r>
            <a:endParaRPr lang="en-US" sz="950" dirty="0"/>
          </a:p>
          <a:p>
            <a:pPr indent="0" marL="0">
              <a:lnSpc>
                <a:spcPts val="1600"/>
              </a:lnSpc>
              <a:buNone/>
            </a:pPr>
            <a:endParaRPr lang="en-US" sz="950" dirty="0"/>
          </a:p>
          <a:p>
            <a:pPr indent="0" marL="0">
              <a:lnSpc>
                <a:spcPts val="1600"/>
              </a:lnSpc>
              <a:buNone/>
            </a:pPr>
            <a:r>
              <a:rPr lang="en-US" sz="95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add.curve(knot, 0, 2*add.pi,</a:t>
            </a:r>
            <a:endParaRPr lang="en-US" sz="950" dirty="0"/>
          </a:p>
          <a:p>
            <a:pPr indent="0" marL="0">
              <a:lnSpc>
                <a:spcPts val="1600"/>
              </a:lnSpc>
              <a:buNone/>
            </a:pPr>
            <a:r>
              <a:rPr lang="en-US" sz="95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300, 18, 0.28, "lime", True)</a:t>
            </a:r>
            <a:endParaRPr lang="en-US" sz="950" dirty="0"/>
          </a:p>
        </p:txBody>
      </p:sp>
      <p:sp>
        <p:nvSpPr>
          <p:cNvPr id="9" name="Text 6"/>
          <p:cNvSpPr txBox="1"/>
          <p:nvPr/>
        </p:nvSpPr>
        <p:spPr>
          <a:xfrm>
            <a:off x="5532120" y="3703320"/>
            <a:ext cx="3044952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radius may be a function r(t) -- the tube swells and narrows. The tube does not twist on its own: a rotation-minimising frame is carried along the curve.</a:t>
            </a:r>
            <a:endParaRPr lang="en-US" sz="125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329184"/>
            <a:ext cx="80101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60" kern="0" dirty="0">
                <a:solidFill>
                  <a:srgbClr val="8A4B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LAYERS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66928" y="548640"/>
            <a:ext cx="8010144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2428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Transformations</a:t>
            </a:r>
            <a:endParaRPr lang="en-US" sz="3000" dirty="0"/>
          </a:p>
        </p:txBody>
      </p:sp>
      <p:sp>
        <p:nvSpPr>
          <p:cNvPr id="4" name="Text 2"/>
          <p:cNvSpPr txBox="1"/>
          <p:nvPr/>
        </p:nvSpPr>
        <p:spPr>
          <a:xfrm>
            <a:off x="8119872" y="6382512"/>
            <a:ext cx="457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19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566928" y="1508760"/>
            <a:ext cx="3886200" cy="1042416"/>
          </a:xfrm>
          <a:prstGeom prst="roundRect">
            <a:avLst>
              <a:gd name="adj" fmla="val 4386"/>
            </a:avLst>
          </a:prstGeom>
          <a:solidFill>
            <a:srgbClr val="F6EFE8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768096" y="1655064"/>
            <a:ext cx="348386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8A4B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move, place, align, ground</a:t>
            </a:r>
            <a:endParaRPr lang="en-US" sz="1500" dirty="0"/>
          </a:p>
        </p:txBody>
      </p:sp>
      <p:sp>
        <p:nvSpPr>
          <p:cNvPr id="7" name="Text 5"/>
          <p:cNvSpPr txBox="1"/>
          <p:nvPr/>
        </p:nvSpPr>
        <p:spPr>
          <a:xfrm>
            <a:off x="768096" y="1984248"/>
            <a:ext cx="348386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50" dirty="0">
                <a:solidFill>
                  <a:srgbClr val="2428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Shift; put the centre, a corner or the bottom at a point.</a:t>
            </a:r>
            <a:endParaRPr lang="en-US" sz="1250" dirty="0"/>
          </a:p>
        </p:txBody>
      </p:sp>
      <p:sp>
        <p:nvSpPr>
          <p:cNvPr id="8" name="Shape 6"/>
          <p:cNvSpPr/>
          <p:nvPr/>
        </p:nvSpPr>
        <p:spPr>
          <a:xfrm>
            <a:off x="4690872" y="1508760"/>
            <a:ext cx="3886200" cy="1042416"/>
          </a:xfrm>
          <a:prstGeom prst="roundRect">
            <a:avLst>
              <a:gd name="adj" fmla="val 4386"/>
            </a:avLst>
          </a:prstGeom>
          <a:solidFill>
            <a:srgbClr val="F6EFE8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4892040" y="1655064"/>
            <a:ext cx="348386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8A4B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rotateX/Y/Z, rotate, aim</a:t>
            </a:r>
            <a:endParaRPr lang="en-US" sz="1500" dirty="0"/>
          </a:p>
        </p:txBody>
      </p:sp>
      <p:sp>
        <p:nvSpPr>
          <p:cNvPr id="10" name="Text 8"/>
          <p:cNvSpPr txBox="1"/>
          <p:nvPr/>
        </p:nvSpPr>
        <p:spPr>
          <a:xfrm>
            <a:off x="4892040" y="1984248"/>
            <a:ext cx="348386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50" dirty="0">
                <a:solidFill>
                  <a:srgbClr val="2428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Turn about an axis -- any axis -- or aim a part along a direction.</a:t>
            </a:r>
            <a:endParaRPr lang="en-US" sz="1250" dirty="0"/>
          </a:p>
        </p:txBody>
      </p:sp>
      <p:sp>
        <p:nvSpPr>
          <p:cNvPr id="11" name="Shape 9"/>
          <p:cNvSpPr/>
          <p:nvPr/>
        </p:nvSpPr>
        <p:spPr>
          <a:xfrm>
            <a:off x="566928" y="2788920"/>
            <a:ext cx="3886200" cy="1042416"/>
          </a:xfrm>
          <a:prstGeom prst="roundRect">
            <a:avLst>
              <a:gd name="adj" fmla="val 4386"/>
            </a:avLst>
          </a:prstGeom>
          <a:solidFill>
            <a:srgbClr val="F6EFE8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768096" y="2935224"/>
            <a:ext cx="348386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8A4B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zoom, stretch, fit</a:t>
            </a:r>
            <a:endParaRPr lang="en-US" sz="1500" dirty="0"/>
          </a:p>
        </p:txBody>
      </p:sp>
      <p:sp>
        <p:nvSpPr>
          <p:cNvPr id="13" name="Text 11"/>
          <p:cNvSpPr txBox="1"/>
          <p:nvPr/>
        </p:nvSpPr>
        <p:spPr>
          <a:xfrm>
            <a:off x="768096" y="3264408"/>
            <a:ext cx="348386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50" dirty="0">
                <a:solidFill>
                  <a:srgbClr val="2428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Scale: uniform, per axis, or to a size.</a:t>
            </a:r>
            <a:endParaRPr lang="en-US" sz="1250" dirty="0"/>
          </a:p>
        </p:txBody>
      </p:sp>
      <p:sp>
        <p:nvSpPr>
          <p:cNvPr id="14" name="Shape 12"/>
          <p:cNvSpPr/>
          <p:nvPr/>
        </p:nvSpPr>
        <p:spPr>
          <a:xfrm>
            <a:off x="4690872" y="2788920"/>
            <a:ext cx="3886200" cy="1042416"/>
          </a:xfrm>
          <a:prstGeom prst="roundRect">
            <a:avLst>
              <a:gd name="adj" fmla="val 4386"/>
            </a:avLst>
          </a:prstGeom>
          <a:solidFill>
            <a:srgbClr val="F6EFE8"/>
          </a:solidFill>
          <a:ln/>
        </p:spPr>
      </p:sp>
      <p:sp>
        <p:nvSpPr>
          <p:cNvPr id="15" name="Text 13"/>
          <p:cNvSpPr txBox="1"/>
          <p:nvPr/>
        </p:nvSpPr>
        <p:spPr>
          <a:xfrm>
            <a:off x="4892040" y="2935224"/>
            <a:ext cx="348386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8A4B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mirror</a:t>
            </a:r>
            <a:endParaRPr lang="en-US" sz="1500" dirty="0"/>
          </a:p>
        </p:txBody>
      </p:sp>
      <p:sp>
        <p:nvSpPr>
          <p:cNvPr id="16" name="Text 14"/>
          <p:cNvSpPr txBox="1"/>
          <p:nvPr/>
        </p:nvSpPr>
        <p:spPr>
          <a:xfrm>
            <a:off x="4892040" y="3264408"/>
            <a:ext cx="348386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50" dirty="0">
                <a:solidFill>
                  <a:srgbClr val="2428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Reflection in a plane; the face winding is reversed too.</a:t>
            </a:r>
            <a:endParaRPr lang="en-US" sz="1250" dirty="0"/>
          </a:p>
        </p:txBody>
      </p:sp>
      <p:sp>
        <p:nvSpPr>
          <p:cNvPr id="17" name="Shape 15"/>
          <p:cNvSpPr/>
          <p:nvPr/>
        </p:nvSpPr>
        <p:spPr>
          <a:xfrm>
            <a:off x="566928" y="4069080"/>
            <a:ext cx="3886200" cy="1042416"/>
          </a:xfrm>
          <a:prstGeom prst="roundRect">
            <a:avLst>
              <a:gd name="adj" fmla="val 4386"/>
            </a:avLst>
          </a:prstGeom>
          <a:solidFill>
            <a:srgbClr val="F6EFE8"/>
          </a:solidFill>
          <a:ln/>
        </p:spPr>
      </p:sp>
      <p:sp>
        <p:nvSpPr>
          <p:cNvPr id="18" name="Text 16"/>
          <p:cNvSpPr txBox="1"/>
          <p:nvPr/>
        </p:nvSpPr>
        <p:spPr>
          <a:xfrm>
            <a:off x="768096" y="4215384"/>
            <a:ext cx="348386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8A4B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twist, bend, taper</a:t>
            </a:r>
            <a:endParaRPr lang="en-US" sz="1500" dirty="0"/>
          </a:p>
        </p:txBody>
      </p:sp>
      <p:sp>
        <p:nvSpPr>
          <p:cNvPr id="19" name="Text 17"/>
          <p:cNvSpPr txBox="1"/>
          <p:nvPr/>
        </p:nvSpPr>
        <p:spPr>
          <a:xfrm>
            <a:off x="768096" y="4544568"/>
            <a:ext cx="348386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50" dirty="0">
                <a:solidFill>
                  <a:srgbClr val="2428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Twist, bend, narrow.</a:t>
            </a:r>
            <a:endParaRPr lang="en-US" sz="1250" dirty="0"/>
          </a:p>
        </p:txBody>
      </p:sp>
      <p:sp>
        <p:nvSpPr>
          <p:cNvPr id="20" name="Shape 18"/>
          <p:cNvSpPr/>
          <p:nvPr/>
        </p:nvSpPr>
        <p:spPr>
          <a:xfrm>
            <a:off x="4690872" y="4069080"/>
            <a:ext cx="3886200" cy="1042416"/>
          </a:xfrm>
          <a:prstGeom prst="roundRect">
            <a:avLst>
              <a:gd name="adj" fmla="val 4386"/>
            </a:avLst>
          </a:prstGeom>
          <a:solidFill>
            <a:srgbClr val="F6EFE8"/>
          </a:solidFill>
          <a:ln/>
        </p:spPr>
      </p:sp>
      <p:sp>
        <p:nvSpPr>
          <p:cNvPr id="21" name="Text 19"/>
          <p:cNvSpPr txBox="1"/>
          <p:nvPr/>
        </p:nvSpPr>
        <p:spPr>
          <a:xfrm>
            <a:off x="4892040" y="4215384"/>
            <a:ext cx="348386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8A4B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deform</a:t>
            </a:r>
            <a:endParaRPr lang="en-US" sz="1500" dirty="0"/>
          </a:p>
        </p:txBody>
      </p:sp>
      <p:sp>
        <p:nvSpPr>
          <p:cNvPr id="22" name="Text 20"/>
          <p:cNvSpPr txBox="1"/>
          <p:nvPr/>
        </p:nvSpPr>
        <p:spPr>
          <a:xfrm>
            <a:off x="4892040" y="4544568"/>
            <a:ext cx="348386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50" dirty="0">
                <a:solidFill>
                  <a:srgbClr val="2428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Any function of yours: f(p) -&gt; new point.</a:t>
            </a:r>
            <a:endParaRPr lang="en-US" sz="1250" dirty="0"/>
          </a:p>
        </p:txBody>
      </p:sp>
      <p:sp>
        <p:nvSpPr>
          <p:cNvPr id="23" name="Text 21"/>
          <p:cNvSpPr txBox="1"/>
          <p:nvPr/>
        </p:nvSpPr>
        <p:spPr>
          <a:xfrm>
            <a:off x="566928" y="5257800"/>
            <a:ext cx="801014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2428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All of them return a new mesh -- the original is untouched, so they chain:</a:t>
            </a:r>
            <a:endParaRPr lang="en-US" sz="1400" dirty="0"/>
          </a:p>
        </p:txBody>
      </p:sp>
      <p:sp>
        <p:nvSpPr>
          <p:cNvPr id="24" name="Shape 22"/>
          <p:cNvSpPr/>
          <p:nvPr/>
        </p:nvSpPr>
        <p:spPr>
          <a:xfrm>
            <a:off x="566928" y="5669280"/>
            <a:ext cx="8010144" cy="475488"/>
          </a:xfrm>
          <a:prstGeom prst="roundRect">
            <a:avLst>
              <a:gd name="adj" fmla="val 11538"/>
            </a:avLst>
          </a:prstGeom>
          <a:solidFill>
            <a:srgbClr val="F7F7F8"/>
          </a:solidFill>
          <a:ln w="9525">
            <a:solidFill>
              <a:srgbClr val="E3E1DD"/>
            </a:solidFill>
            <a:prstDash val="solid"/>
          </a:ln>
        </p:spPr>
      </p:sp>
      <p:sp>
        <p:nvSpPr>
          <p:cNvPr id="25" name="Text 23"/>
          <p:cNvSpPr txBox="1"/>
          <p:nvPr/>
        </p:nvSpPr>
        <p:spPr>
          <a:xfrm>
            <a:off x="713232" y="5797296"/>
            <a:ext cx="771753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M = add.move(add.rotateY(add.zoom(M, 0.5), 0.4), [0, 3, 0])</a:t>
            </a:r>
            <a:endParaRPr lang="en-US" sz="12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329184"/>
            <a:ext cx="80101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60" kern="0" dirty="0">
                <a:solidFill>
                  <a:srgbClr val="8A4B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LAYERS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66928" y="548640"/>
            <a:ext cx="8010144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2428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One part, many copies</a:t>
            </a:r>
            <a:endParaRPr lang="en-US" sz="3000" dirty="0"/>
          </a:p>
        </p:txBody>
      </p:sp>
      <p:sp>
        <p:nvSpPr>
          <p:cNvPr id="4" name="Text 2"/>
          <p:cNvSpPr txBox="1"/>
          <p:nvPr/>
        </p:nvSpPr>
        <p:spPr>
          <a:xfrm>
            <a:off x="8119872" y="6382512"/>
            <a:ext cx="457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566928" y="1417320"/>
            <a:ext cx="4846320" cy="3429000"/>
          </a:xfrm>
          <a:prstGeom prst="roundRect">
            <a:avLst>
              <a:gd name="adj" fmla="val 1600"/>
            </a:avLst>
          </a:prstGeom>
          <a:solidFill>
            <a:srgbClr val="FAFAFA"/>
          </a:solidFill>
          <a:ln w="9525">
            <a:solidFill>
              <a:srgbClr val="E3E1DD"/>
            </a:solidFill>
            <a:prstDash val="solid"/>
          </a:ln>
        </p:spPr>
      </p:sp>
      <p:pic>
        <p:nvPicPr>
          <p:cNvPr id="6" name="Image 0" descr="/home/claude/add3d/docs/images/patterns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621792" y="1472184"/>
            <a:ext cx="4736592" cy="3319272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5532120" y="1508760"/>
            <a:ext cx="3044952" cy="2651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800"/>
              </a:lnSpc>
              <a:buNone/>
            </a:pPr>
            <a:r>
              <a:rPr lang="en-US" sz="1200" dirty="0">
                <a:solidFill>
                  <a:srgbClr val="24282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array_linear(M, step, n)
</a:t>
            </a:r>
            <a:endParaRPr lang="en-US" sz="1300" dirty="0"/>
          </a:p>
          <a:p>
            <a:pPr indent="0" marL="0">
              <a:lnSpc>
                <a:spcPts val="1800"/>
              </a:lnSpc>
              <a:buNone/>
            </a:pPr>
            <a:r>
              <a:rPr lang="en-US" sz="1200" dirty="0">
                <a:solidFill>
                  <a:srgbClr val="24282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array_grid(M, steps, counts)
</a:t>
            </a:r>
            <a:endParaRPr lang="en-US" sz="1300" dirty="0"/>
          </a:p>
          <a:p>
            <a:pPr indent="0" marL="0">
              <a:lnSpc>
                <a:spcPts val="1800"/>
              </a:lnSpc>
              <a:buNone/>
            </a:pPr>
            <a:r>
              <a:rPr lang="en-US" sz="1200" dirty="0">
                <a:solidFill>
                  <a:srgbClr val="24282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array_radial(M, n, axis, P)
</a:t>
            </a:r>
            <a:endParaRPr lang="en-US" sz="1300" dirty="0"/>
          </a:p>
          <a:p>
            <a:pPr indent="0" marL="0">
              <a:lnSpc>
                <a:spcPts val="1800"/>
              </a:lnSpc>
              <a:buNone/>
            </a:pPr>
            <a:r>
              <a:rPr lang="en-US" sz="1200" dirty="0">
                <a:solidFill>
                  <a:srgbClr val="24282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array_mirror(M, point, normal)
</a:t>
            </a:r>
            <a:endParaRPr lang="en-US" sz="1300" dirty="0"/>
          </a:p>
          <a:p>
            <a:pPr indent="0" marL="0">
              <a:lnSpc>
                <a:spcPts val="1800"/>
              </a:lnSpc>
              <a:buNone/>
            </a:pPr>
            <a:r>
              <a:rPr lang="en-US" sz="1200" dirty="0">
                <a:solidFill>
                  <a:srgbClr val="24282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scatter(M, points, seed)
</a:t>
            </a:r>
            <a:endParaRPr lang="en-US" sz="1300" dirty="0"/>
          </a:p>
          <a:p>
            <a:pPr indent="0" marL="0">
              <a:lnSpc>
                <a:spcPts val="1800"/>
              </a:lnSpc>
              <a:buNone/>
            </a:pPr>
            <a:r>
              <a:rPr lang="en-US" sz="1200" dirty="0">
                <a:solidFill>
                  <a:srgbClr val="24282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along(M, path, n)
</a:t>
            </a:r>
            <a:endParaRPr lang="en-US" sz="1300" dirty="0"/>
          </a:p>
          <a:p>
            <a:pPr indent="0" marL="0">
              <a:lnSpc>
                <a:spcPts val="1800"/>
              </a:lnSpc>
              <a:buNone/>
            </a:pPr>
            <a:r>
              <a:rPr lang="en-US" sz="1200" b="1" dirty="0">
                <a:solidFill>
                  <a:srgbClr val="8A4B1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repeat(M, n, step)
</a:t>
            </a:r>
            <a:endParaRPr lang="en-US" sz="1300" dirty="0"/>
          </a:p>
          <a:p>
            <a:pPr indent="0" marL="0">
              <a:lnSpc>
                <a:spcPts val="1800"/>
              </a:lnSpc>
              <a:buNone/>
            </a:pPr>
            <a:r>
              <a:rPr lang="en-US" sz="1300" dirty="0">
                <a:solidFill>
                  <a:srgbClr val="2428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most general: you say where copy number i ends up.</a:t>
            </a:r>
            <a:endParaRPr lang="en-US" sz="1300" dirty="0"/>
          </a:p>
        </p:txBody>
      </p:sp>
      <p:sp>
        <p:nvSpPr>
          <p:cNvPr id="8" name="Shape 5"/>
          <p:cNvSpPr/>
          <p:nvPr/>
        </p:nvSpPr>
        <p:spPr>
          <a:xfrm>
            <a:off x="5532120" y="4206240"/>
            <a:ext cx="3044952" cy="1234440"/>
          </a:xfrm>
          <a:prstGeom prst="roundRect">
            <a:avLst>
              <a:gd name="adj" fmla="val 4444"/>
            </a:avLst>
          </a:prstGeom>
          <a:solidFill>
            <a:srgbClr val="F7F7F8"/>
          </a:solidFill>
          <a:ln w="9525">
            <a:solidFill>
              <a:srgbClr val="E3E1DD"/>
            </a:solidFill>
            <a:prstDash val="solid"/>
          </a:ln>
        </p:spPr>
      </p:sp>
      <p:sp>
        <p:nvSpPr>
          <p:cNvPr id="9" name="Text 6"/>
          <p:cNvSpPr txBox="1"/>
          <p:nvPr/>
        </p:nvSpPr>
        <p:spPr>
          <a:xfrm>
            <a:off x="5678424" y="4334256"/>
            <a:ext cx="2752344" cy="9784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05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spiral = add.repeat(brick, 40,</a:t>
            </a:r>
            <a:endParaRPr lang="en-US" sz="105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05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lambda M, i: add.move(</a:t>
            </a:r>
            <a:endParaRPr lang="en-US" sz="105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05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add.rotateY(M, i * 0.3),</a:t>
            </a:r>
            <a:endParaRPr lang="en-US" sz="105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05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[0, i * 0.2, 0]))</a:t>
            </a:r>
            <a:endParaRPr lang="en-US" sz="105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329184"/>
            <a:ext cx="80101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60" kern="0" dirty="0">
                <a:solidFill>
                  <a:srgbClr val="8A4B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NEW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66928" y="548640"/>
            <a:ext cx="8010144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2428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Parts that models keep needing</a:t>
            </a:r>
            <a:endParaRPr lang="en-US" sz="3000" dirty="0"/>
          </a:p>
        </p:txBody>
      </p:sp>
      <p:sp>
        <p:nvSpPr>
          <p:cNvPr id="4" name="Text 2"/>
          <p:cNvSpPr txBox="1"/>
          <p:nvPr/>
        </p:nvSpPr>
        <p:spPr>
          <a:xfrm>
            <a:off x="8119872" y="6382512"/>
            <a:ext cx="457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21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566928" y="1417320"/>
            <a:ext cx="3931920" cy="2331720"/>
          </a:xfrm>
          <a:prstGeom prst="roundRect">
            <a:avLst>
              <a:gd name="adj" fmla="val 2353"/>
            </a:avLst>
          </a:prstGeom>
          <a:solidFill>
            <a:srgbClr val="FAFAFA"/>
          </a:solidFill>
          <a:ln w="9525">
            <a:solidFill>
              <a:srgbClr val="E3E1DD"/>
            </a:solidFill>
            <a:prstDash val="solid"/>
          </a:ln>
        </p:spPr>
      </p:sp>
      <p:pic>
        <p:nvPicPr>
          <p:cNvPr id="6" name="Image 0" descr="/home/claude/add3d/docs/images/locomotive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621792" y="1472184"/>
            <a:ext cx="3822192" cy="2221992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566928" y="3813048"/>
            <a:ext cx="3931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23_locomotive.py -- wheel, beam, rotate_point, array_mirror</a:t>
            </a:r>
            <a:endParaRPr lang="en-US" sz="1100" dirty="0"/>
          </a:p>
        </p:txBody>
      </p:sp>
      <p:sp>
        <p:nvSpPr>
          <p:cNvPr id="8" name="Shape 5"/>
          <p:cNvSpPr/>
          <p:nvPr/>
        </p:nvSpPr>
        <p:spPr>
          <a:xfrm>
            <a:off x="4663440" y="1417320"/>
            <a:ext cx="3913632" cy="2331720"/>
          </a:xfrm>
          <a:prstGeom prst="roundRect">
            <a:avLst>
              <a:gd name="adj" fmla="val 2353"/>
            </a:avLst>
          </a:prstGeom>
          <a:solidFill>
            <a:srgbClr val="FAFAFA"/>
          </a:solidFill>
          <a:ln w="9525">
            <a:solidFill>
              <a:srgbClr val="E3E1DD"/>
            </a:solidFill>
            <a:prstDash val="solid"/>
          </a:ln>
        </p:spPr>
      </p:sp>
      <p:pic>
        <p:nvPicPr>
          <p:cNvPr id="9" name="Image 1" descr="/home/claude/add3d/docs/images/windmill.png">    </p:cNvPr>
          <p:cNvPicPr>
            <a:picLocks noChangeAspect="1"/>
          </p:cNvPicPr>
          <p:nvPr/>
        </p:nvPicPr>
        <p:blipFill>
          <a:blip r:embed="rId2"/>
          <a:srcRect l="0" r="0" t="0" b="0"/>
          <a:stretch/>
        </p:blipFill>
        <p:spPr>
          <a:xfrm>
            <a:off x="4718304" y="1472184"/>
            <a:ext cx="3803904" cy="2221992"/>
          </a:xfrm>
          <a:prstGeom prst="rect">
            <a:avLst/>
          </a:prstGeom>
        </p:spPr>
      </p:pic>
      <p:sp>
        <p:nvSpPr>
          <p:cNvPr id="10" name="Text 6"/>
          <p:cNvSpPr txBox="1"/>
          <p:nvPr/>
        </p:nvSpPr>
        <p:spPr>
          <a:xfrm>
            <a:off x="4663440" y="3813048"/>
            <a:ext cx="391363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24_windmill.py -- extrude, arch, stairs, tree, scatter, along</a:t>
            </a:r>
            <a:endParaRPr lang="en-US" sz="1100" dirty="0"/>
          </a:p>
        </p:txBody>
      </p:sp>
      <p:sp>
        <p:nvSpPr>
          <p:cNvPr id="11" name="Shape 7"/>
          <p:cNvSpPr/>
          <p:nvPr/>
        </p:nvSpPr>
        <p:spPr>
          <a:xfrm>
            <a:off x="566928" y="4251960"/>
            <a:ext cx="3886200" cy="1005840"/>
          </a:xfrm>
          <a:prstGeom prst="roundRect">
            <a:avLst>
              <a:gd name="adj" fmla="val 4545"/>
            </a:avLst>
          </a:prstGeom>
          <a:solidFill>
            <a:srgbClr val="F6EFE8"/>
          </a:solidFill>
          <a:ln/>
        </p:spPr>
      </p:sp>
      <p:sp>
        <p:nvSpPr>
          <p:cNvPr id="12" name="Text 8"/>
          <p:cNvSpPr txBox="1"/>
          <p:nvPr/>
        </p:nvSpPr>
        <p:spPr>
          <a:xfrm>
            <a:off x="768096" y="4398264"/>
            <a:ext cx="348386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8A4B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beam(A, B, w, h)</a:t>
            </a:r>
            <a:endParaRPr lang="en-US" sz="1500" dirty="0"/>
          </a:p>
        </p:txBody>
      </p:sp>
      <p:sp>
        <p:nvSpPr>
          <p:cNvPr id="13" name="Text 9"/>
          <p:cNvSpPr txBox="1"/>
          <p:nvPr/>
        </p:nvSpPr>
        <p:spPr>
          <a:xfrm>
            <a:off x="768096" y="4727448"/>
            <a:ext cx="348386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50" dirty="0">
                <a:solidFill>
                  <a:srgbClr val="2428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bar between two points -- it works out the orientation itself.</a:t>
            </a:r>
            <a:endParaRPr lang="en-US" sz="1250" dirty="0"/>
          </a:p>
        </p:txBody>
      </p:sp>
      <p:sp>
        <p:nvSpPr>
          <p:cNvPr id="14" name="Shape 10"/>
          <p:cNvSpPr/>
          <p:nvPr/>
        </p:nvSpPr>
        <p:spPr>
          <a:xfrm>
            <a:off x="4690872" y="4251960"/>
            <a:ext cx="3886200" cy="1005840"/>
          </a:xfrm>
          <a:prstGeom prst="roundRect">
            <a:avLst>
              <a:gd name="adj" fmla="val 4545"/>
            </a:avLst>
          </a:prstGeom>
          <a:solidFill>
            <a:srgbClr val="F6EFE8"/>
          </a:solidFill>
          <a:ln/>
        </p:spPr>
      </p:sp>
      <p:sp>
        <p:nvSpPr>
          <p:cNvPr id="15" name="Text 11"/>
          <p:cNvSpPr txBox="1"/>
          <p:nvPr/>
        </p:nvSpPr>
        <p:spPr>
          <a:xfrm>
            <a:off x="4892040" y="4398264"/>
            <a:ext cx="348386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8A4B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wheel, gear, arch, stairs</a:t>
            </a:r>
            <a:endParaRPr lang="en-US" sz="1500" dirty="0"/>
          </a:p>
        </p:txBody>
      </p:sp>
      <p:sp>
        <p:nvSpPr>
          <p:cNvPr id="16" name="Text 12"/>
          <p:cNvSpPr txBox="1"/>
          <p:nvPr/>
        </p:nvSpPr>
        <p:spPr>
          <a:xfrm>
            <a:off x="4892040" y="4727448"/>
            <a:ext cx="348386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50" dirty="0">
                <a:solidFill>
                  <a:srgbClr val="2428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Wheels with spokes, cogs that mesh, arches, flights of steps.</a:t>
            </a:r>
            <a:endParaRPr lang="en-US" sz="1250" dirty="0"/>
          </a:p>
        </p:txBody>
      </p:sp>
      <p:sp>
        <p:nvSpPr>
          <p:cNvPr id="17" name="Shape 13"/>
          <p:cNvSpPr/>
          <p:nvPr/>
        </p:nvSpPr>
        <p:spPr>
          <a:xfrm>
            <a:off x="566928" y="5495544"/>
            <a:ext cx="3886200" cy="1005840"/>
          </a:xfrm>
          <a:prstGeom prst="roundRect">
            <a:avLst>
              <a:gd name="adj" fmla="val 4545"/>
            </a:avLst>
          </a:prstGeom>
          <a:solidFill>
            <a:srgbClr val="F6EFE8"/>
          </a:solidFill>
          <a:ln/>
        </p:spPr>
      </p:sp>
      <p:sp>
        <p:nvSpPr>
          <p:cNvPr id="18" name="Text 14"/>
          <p:cNvSpPr txBox="1"/>
          <p:nvPr/>
        </p:nvSpPr>
        <p:spPr>
          <a:xfrm>
            <a:off x="768096" y="5641848"/>
            <a:ext cx="348386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8A4B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roof, column, bricks, tree</a:t>
            </a:r>
            <a:endParaRPr lang="en-US" sz="1500" dirty="0"/>
          </a:p>
        </p:txBody>
      </p:sp>
      <p:sp>
        <p:nvSpPr>
          <p:cNvPr id="19" name="Text 15"/>
          <p:cNvSpPr txBox="1"/>
          <p:nvPr/>
        </p:nvSpPr>
        <p:spPr>
          <a:xfrm>
            <a:off x="768096" y="5971032"/>
            <a:ext cx="348386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50" dirty="0">
                <a:solidFill>
                  <a:srgbClr val="2428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Houses, temples, walls, forests.</a:t>
            </a:r>
            <a:endParaRPr lang="en-US" sz="1250" dirty="0"/>
          </a:p>
        </p:txBody>
      </p:sp>
      <p:sp>
        <p:nvSpPr>
          <p:cNvPr id="20" name="Shape 16"/>
          <p:cNvSpPr/>
          <p:nvPr/>
        </p:nvSpPr>
        <p:spPr>
          <a:xfrm>
            <a:off x="4690872" y="5495544"/>
            <a:ext cx="3886200" cy="1005840"/>
          </a:xfrm>
          <a:prstGeom prst="roundRect">
            <a:avLst>
              <a:gd name="adj" fmla="val 4545"/>
            </a:avLst>
          </a:prstGeom>
          <a:solidFill>
            <a:srgbClr val="F6EFE8"/>
          </a:solidFill>
          <a:ln/>
        </p:spPr>
      </p:sp>
      <p:sp>
        <p:nvSpPr>
          <p:cNvPr id="21" name="Text 17"/>
          <p:cNvSpPr txBox="1"/>
          <p:nvPr/>
        </p:nvSpPr>
        <p:spPr>
          <a:xfrm>
            <a:off x="4892040" y="5641848"/>
            <a:ext cx="348386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8A4B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pixels, heightmap, text</a:t>
            </a:r>
            <a:endParaRPr lang="en-US" sz="1500" dirty="0"/>
          </a:p>
        </p:txBody>
      </p:sp>
      <p:sp>
        <p:nvSpPr>
          <p:cNvPr id="22" name="Text 18"/>
          <p:cNvSpPr txBox="1"/>
          <p:nvPr/>
        </p:nvSpPr>
        <p:spPr>
          <a:xfrm>
            <a:off x="4892040" y="5971032"/>
            <a:ext cx="348386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50" dirty="0">
                <a:solidFill>
                  <a:srgbClr val="2428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Pixel art, block terrain, labels in a built-in font (ĄČĘĖĮŠŲŪŽ too).</a:t>
            </a:r>
            <a:endParaRPr lang="en-US" sz="125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329184"/>
            <a:ext cx="80101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60" kern="0" dirty="0">
                <a:solidFill>
                  <a:srgbClr val="8A4B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NEW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66928" y="548640"/>
            <a:ext cx="8010144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2428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Placing: aim, scatter, along</a:t>
            </a:r>
            <a:endParaRPr lang="en-US" sz="3000" dirty="0"/>
          </a:p>
        </p:txBody>
      </p:sp>
      <p:sp>
        <p:nvSpPr>
          <p:cNvPr id="4" name="Text 2"/>
          <p:cNvSpPr txBox="1"/>
          <p:nvPr/>
        </p:nvSpPr>
        <p:spPr>
          <a:xfrm>
            <a:off x="8119872" y="6382512"/>
            <a:ext cx="457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22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566928" y="1463040"/>
            <a:ext cx="4846320" cy="3200400"/>
          </a:xfrm>
          <a:prstGeom prst="roundRect">
            <a:avLst>
              <a:gd name="adj" fmla="val 1714"/>
            </a:avLst>
          </a:prstGeom>
          <a:solidFill>
            <a:srgbClr val="F7F7F8"/>
          </a:solidFill>
          <a:ln w="9525">
            <a:solidFill>
              <a:srgbClr val="E3E1DD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713232" y="1591056"/>
            <a:ext cx="4553712" cy="2944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00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a part built around the origin, pointing up</a:t>
            </a:r>
            <a:endParaRPr lang="en-US" sz="100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00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add.push()</a:t>
            </a:r>
            <a:endParaRPr lang="en-US" sz="100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00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add.capsule([0, 0, 0], [0, 2, 0], 0.2, 12, "silver")</a:t>
            </a:r>
            <a:endParaRPr lang="en-US" sz="100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00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arm = add.pop()</a:t>
            </a:r>
            <a:endParaRPr lang="en-US" sz="1000" dirty="0"/>
          </a:p>
          <a:p>
            <a:pPr indent="0" marL="0">
              <a:lnSpc>
                <a:spcPts val="1600"/>
              </a:lnSpc>
              <a:buNone/>
            </a:pPr>
            <a:endParaRPr lang="en-US" sz="100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00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aim it from shoulder to hand, then move it</a:t>
            </a:r>
            <a:endParaRPr lang="en-US" sz="100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00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arm = add.aim(arm, add.direction(shoulder, hand))</a:t>
            </a:r>
            <a:endParaRPr lang="en-US" sz="100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00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add.mesh(add.move(arm, shoulder))</a:t>
            </a:r>
            <a:endParaRPr lang="en-US" sz="1000" dirty="0"/>
          </a:p>
          <a:p>
            <a:pPr indent="0" marL="0">
              <a:lnSpc>
                <a:spcPts val="1600"/>
              </a:lnSpc>
              <a:buNone/>
            </a:pPr>
            <a:endParaRPr lang="en-US" sz="100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00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forty trees on the hills</a:t>
            </a:r>
            <a:endParaRPr lang="en-US" sz="100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00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spots = add.random_points(40, lo, hi, seed=1,</a:t>
            </a:r>
            <a:endParaRPr lang="en-US" sz="100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00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                  height=hills)</a:t>
            </a:r>
            <a:endParaRPr lang="en-US" sz="100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00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add.mesh(add.scatter(tree, spots, seed=1,</a:t>
            </a:r>
            <a:endParaRPr lang="en-US" sz="100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00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             scale=(0.7, 1.4)))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5532120" y="1463040"/>
            <a:ext cx="3044952" cy="3200400"/>
          </a:xfrm>
          <a:prstGeom prst="roundRect">
            <a:avLst>
              <a:gd name="adj" fmla="val 1802"/>
            </a:avLst>
          </a:prstGeom>
          <a:solidFill>
            <a:srgbClr val="FAFAFA"/>
          </a:solidFill>
          <a:ln w="9525">
            <a:solidFill>
              <a:srgbClr val="E3E1DD"/>
            </a:solidFill>
            <a:prstDash val="solid"/>
          </a:ln>
        </p:spPr>
      </p:sp>
      <p:pic>
        <p:nvPicPr>
          <p:cNvPr id="8" name="Image 0" descr="/home/claude/add3d/docs/images/robot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5586984" y="1517904"/>
            <a:ext cx="2935224" cy="3090672"/>
          </a:xfrm>
          <a:prstGeom prst="rect">
            <a:avLst/>
          </a:prstGeom>
        </p:spPr>
      </p:pic>
      <p:sp>
        <p:nvSpPr>
          <p:cNvPr id="9" name="Text 6"/>
          <p:cNvSpPr txBox="1"/>
          <p:nvPr/>
        </p:nvSpPr>
        <p:spPr>
          <a:xfrm>
            <a:off x="5532120" y="4727448"/>
            <a:ext cx="304495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27_robot.py -- every limb aimed at a point</a:t>
            </a:r>
            <a:endParaRPr lang="en-US" sz="1100" dirty="0"/>
          </a:p>
        </p:txBody>
      </p:sp>
      <p:sp>
        <p:nvSpPr>
          <p:cNvPr id="10" name="Text 7"/>
          <p:cNvSpPr txBox="1"/>
          <p:nvPr/>
        </p:nvSpPr>
        <p:spPr>
          <a:xfrm>
            <a:off x="566928" y="4983480"/>
            <a:ext cx="8010144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8A4B1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Build every part around the origin between push() and pop(); then aim it, turn it, and move it into place.</a:t>
            </a:r>
            <a:endParaRPr lang="en-US" sz="160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329184"/>
            <a:ext cx="80101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60" kern="0" dirty="0">
                <a:solidFill>
                  <a:srgbClr val="8A4B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LAYERS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66928" y="548640"/>
            <a:ext cx="8010144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2428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Colours</a:t>
            </a:r>
            <a:endParaRPr lang="en-US" sz="3000" dirty="0"/>
          </a:p>
        </p:txBody>
      </p:sp>
      <p:sp>
        <p:nvSpPr>
          <p:cNvPr id="4" name="Text 2"/>
          <p:cNvSpPr txBox="1"/>
          <p:nvPr/>
        </p:nvSpPr>
        <p:spPr>
          <a:xfrm>
            <a:off x="8119872" y="6382512"/>
            <a:ext cx="457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23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566928" y="1463040"/>
            <a:ext cx="4572000" cy="2651760"/>
          </a:xfrm>
          <a:prstGeom prst="roundRect">
            <a:avLst>
              <a:gd name="adj" fmla="val 2069"/>
            </a:avLst>
          </a:prstGeom>
          <a:solidFill>
            <a:srgbClr val="F7F7F8"/>
          </a:solidFill>
          <a:ln w="9525">
            <a:solidFill>
              <a:srgbClr val="E3E1DD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713232" y="1591056"/>
            <a:ext cx="4279392" cy="23957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add.box(c, 1, "red")            # by name</a:t>
            </a:r>
            <a:endParaRPr lang="en-US" sz="120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add.box(c, 1, "#ff8800")        # hex</a:t>
            </a:r>
            <a:endParaRPr lang="en-US" sz="120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add.box(c, 1, [255, 136, 0])    # RGB</a:t>
            </a:r>
            <a:endParaRPr lang="en-US" sz="1200" dirty="0"/>
          </a:p>
          <a:p>
            <a:pPr indent="0" marL="0">
              <a:lnSpc>
                <a:spcPts val="1600"/>
              </a:lnSpc>
              <a:buNone/>
            </a:pPr>
            <a:endParaRPr lang="en-US" sz="120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add.hsv(0.3, 0.7, 1.0)          # hue</a:t>
            </a:r>
            <a:endParaRPr lang="en-US" sz="120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add.gradient(t, "navy", "gold") # blend</a:t>
            </a:r>
            <a:endParaRPr lang="en-US" sz="120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add.shade("red", 0.6)           # darker</a:t>
            </a:r>
            <a:endParaRPr lang="en-US" sz="1200" dirty="0"/>
          </a:p>
          <a:p>
            <a:pPr indent="0" marL="0">
              <a:lnSpc>
                <a:spcPts val="1600"/>
              </a:lnSpc>
              <a:buNone/>
            </a:pPr>
            <a:endParaRPr lang="en-US" sz="120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M = add.color_by(M,</a:t>
            </a:r>
            <a:endParaRPr lang="en-US" sz="120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lambda p: add.hsv(p[1] / 10.0))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566928" y="4206240"/>
            <a:ext cx="3886200" cy="1005840"/>
          </a:xfrm>
          <a:prstGeom prst="roundRect">
            <a:avLst>
              <a:gd name="adj" fmla="val 4545"/>
            </a:avLst>
          </a:prstGeom>
          <a:solidFill>
            <a:srgbClr val="F6EFE8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768096" y="4352544"/>
            <a:ext cx="348386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8A4B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color(M, colour)</a:t>
            </a:r>
            <a:endParaRPr lang="en-US" sz="1500" dirty="0"/>
          </a:p>
        </p:txBody>
      </p:sp>
      <p:sp>
        <p:nvSpPr>
          <p:cNvPr id="9" name="Text 7"/>
          <p:cNvSpPr txBox="1"/>
          <p:nvPr/>
        </p:nvSpPr>
        <p:spPr>
          <a:xfrm>
            <a:off x="768096" y="4681728"/>
            <a:ext cx="348386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50" dirty="0">
                <a:solidFill>
                  <a:srgbClr val="2428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Repaints the whole mesh.</a:t>
            </a:r>
            <a:endParaRPr lang="en-US" sz="1250" dirty="0"/>
          </a:p>
        </p:txBody>
      </p:sp>
      <p:sp>
        <p:nvSpPr>
          <p:cNvPr id="10" name="Shape 8"/>
          <p:cNvSpPr/>
          <p:nvPr/>
        </p:nvSpPr>
        <p:spPr>
          <a:xfrm>
            <a:off x="4690872" y="4206240"/>
            <a:ext cx="3886200" cy="1005840"/>
          </a:xfrm>
          <a:prstGeom prst="roundRect">
            <a:avLst>
              <a:gd name="adj" fmla="val 4545"/>
            </a:avLst>
          </a:prstGeom>
          <a:solidFill>
            <a:srgbClr val="F6EFE8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4892040" y="4352544"/>
            <a:ext cx="348386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8A4B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color_by(M, fn)</a:t>
            </a:r>
            <a:endParaRPr lang="en-US" sz="1500" dirty="0"/>
          </a:p>
        </p:txBody>
      </p:sp>
      <p:sp>
        <p:nvSpPr>
          <p:cNvPr id="12" name="Text 10"/>
          <p:cNvSpPr txBox="1"/>
          <p:nvPr/>
        </p:nvSpPr>
        <p:spPr>
          <a:xfrm>
            <a:off x="4892040" y="4681728"/>
            <a:ext cx="348386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50" dirty="0">
                <a:solidFill>
                  <a:srgbClr val="2428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Colour by the position of each face -- rainbows, height maps.</a:t>
            </a:r>
            <a:endParaRPr lang="en-US" sz="1250" dirty="0"/>
          </a:p>
        </p:txBody>
      </p:sp>
      <p:sp>
        <p:nvSpPr>
          <p:cNvPr id="13" name="Shape 11"/>
          <p:cNvSpPr/>
          <p:nvPr/>
        </p:nvSpPr>
        <p:spPr>
          <a:xfrm>
            <a:off x="566928" y="5449824"/>
            <a:ext cx="3886200" cy="1005840"/>
          </a:xfrm>
          <a:prstGeom prst="roundRect">
            <a:avLst>
              <a:gd name="adj" fmla="val 4545"/>
            </a:avLst>
          </a:prstGeom>
          <a:solidFill>
            <a:srgbClr val="F6EFE8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768096" y="5596128"/>
            <a:ext cx="348386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8A4B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color_gradient</a:t>
            </a:r>
            <a:endParaRPr lang="en-US" sz="1500" dirty="0"/>
          </a:p>
        </p:txBody>
      </p:sp>
      <p:sp>
        <p:nvSpPr>
          <p:cNvPr id="15" name="Text 13"/>
          <p:cNvSpPr txBox="1"/>
          <p:nvPr/>
        </p:nvSpPr>
        <p:spPr>
          <a:xfrm>
            <a:off x="768096" y="5925312"/>
            <a:ext cx="348386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50" dirty="0">
                <a:solidFill>
                  <a:srgbClr val="2428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blend from one colour to another along an axis.</a:t>
            </a:r>
            <a:endParaRPr lang="en-US" sz="1250" dirty="0"/>
          </a:p>
        </p:txBody>
      </p:sp>
      <p:sp>
        <p:nvSpPr>
          <p:cNvPr id="16" name="Shape 14"/>
          <p:cNvSpPr/>
          <p:nvPr/>
        </p:nvSpPr>
        <p:spPr>
          <a:xfrm>
            <a:off x="4690872" y="5449824"/>
            <a:ext cx="3886200" cy="1005840"/>
          </a:xfrm>
          <a:prstGeom prst="roundRect">
            <a:avLst>
              <a:gd name="adj" fmla="val 4545"/>
            </a:avLst>
          </a:prstGeom>
          <a:solidFill>
            <a:srgbClr val="F6EFE8"/>
          </a:solidFill>
          <a:ln/>
        </p:spPr>
      </p:sp>
      <p:sp>
        <p:nvSpPr>
          <p:cNvPr id="17" name="Text 15"/>
          <p:cNvSpPr txBox="1"/>
          <p:nvPr/>
        </p:nvSpPr>
        <p:spPr>
          <a:xfrm>
            <a:off x="4892040" y="5596128"/>
            <a:ext cx="348386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8A4B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color_random</a:t>
            </a:r>
            <a:endParaRPr lang="en-US" sz="1500" dirty="0"/>
          </a:p>
        </p:txBody>
      </p:sp>
      <p:sp>
        <p:nvSpPr>
          <p:cNvPr id="18" name="Text 16"/>
          <p:cNvSpPr txBox="1"/>
          <p:nvPr/>
        </p:nvSpPr>
        <p:spPr>
          <a:xfrm>
            <a:off x="4892040" y="5925312"/>
            <a:ext cx="348386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50" dirty="0">
                <a:solidFill>
                  <a:srgbClr val="2428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face its own random colour.</a:t>
            </a:r>
            <a:endParaRPr lang="en-US" sz="1250" dirty="0"/>
          </a:p>
        </p:txBody>
      </p:sp>
      <p:sp>
        <p:nvSpPr>
          <p:cNvPr id="19" name="Text 17"/>
          <p:cNvSpPr txBox="1"/>
          <p:nvPr/>
        </p:nvSpPr>
        <p:spPr>
          <a:xfrm>
            <a:off x="5303520" y="1691640"/>
            <a:ext cx="329184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dirty="0">
                <a:solidFill>
                  <a:srgbClr val="8A4B1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assignment wants at least three colours -- it looks better when they mean something.</a:t>
            </a:r>
            <a:endParaRPr lang="en-US" sz="170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329184"/>
            <a:ext cx="80101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60" kern="0" dirty="0">
                <a:solidFill>
                  <a:srgbClr val="8A4B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SOLIDS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66928" y="548640"/>
            <a:ext cx="8010144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2428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Boolean operations on solids</a:t>
            </a:r>
            <a:endParaRPr lang="en-US" sz="3000" dirty="0"/>
          </a:p>
        </p:txBody>
      </p:sp>
      <p:sp>
        <p:nvSpPr>
          <p:cNvPr id="4" name="Text 2"/>
          <p:cNvSpPr txBox="1"/>
          <p:nvPr/>
        </p:nvSpPr>
        <p:spPr>
          <a:xfrm>
            <a:off x="8119872" y="6382512"/>
            <a:ext cx="457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24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566928" y="1417320"/>
            <a:ext cx="4846320" cy="3291840"/>
          </a:xfrm>
          <a:prstGeom prst="roundRect">
            <a:avLst>
              <a:gd name="adj" fmla="val 1667"/>
            </a:avLst>
          </a:prstGeom>
          <a:solidFill>
            <a:srgbClr val="FAFAFA"/>
          </a:solidFill>
          <a:ln w="9525">
            <a:solidFill>
              <a:srgbClr val="E3E1DD"/>
            </a:solidFill>
            <a:prstDash val="solid"/>
          </a:ln>
        </p:spPr>
      </p:sp>
      <p:pic>
        <p:nvPicPr>
          <p:cNvPr id="6" name="Image 0" descr="/home/claude/add3d/docs/images/booleans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621792" y="1472184"/>
            <a:ext cx="4736592" cy="3182112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5532120" y="1417320"/>
            <a:ext cx="3044952" cy="3383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300"/>
              </a:lnSpc>
              <a:buNone/>
            </a:pPr>
            <a:r>
              <a:rPr lang="en-US" sz="1250" b="1" dirty="0">
                <a:solidFill>
                  <a:srgbClr val="8A4B1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union(A, B)
</a:t>
            </a:r>
            <a:endParaRPr lang="en-US" sz="1100" dirty="0"/>
          </a:p>
          <a:p>
            <a:pPr indent="0" marL="0">
              <a:lnSpc>
                <a:spcPts val="1300"/>
              </a:lnSpc>
              <a:buNone/>
            </a:pPr>
            <a:r>
              <a:rPr lang="en-US" sz="1100" dirty="0">
                <a:solidFill>
                  <a:srgbClr val="2428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Union: everything in either solid. Hidden inner walls disappear.
</a:t>
            </a:r>
            <a:endParaRPr lang="en-US" sz="1100" dirty="0"/>
          </a:p>
          <a:p>
            <a:pPr indent="0" marL="0">
              <a:lnSpc>
                <a:spcPts val="1300"/>
              </a:lnSpc>
              <a:buNone/>
            </a:pPr>
            <a:r>
              <a:rPr lang="en-US" sz="1250" b="1" dirty="0">
                <a:solidFill>
                  <a:srgbClr val="8A4B1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
intersect(A, B)
</a:t>
            </a:r>
            <a:endParaRPr lang="en-US" sz="1100" dirty="0"/>
          </a:p>
          <a:p>
            <a:pPr indent="0" marL="0">
              <a:lnSpc>
                <a:spcPts val="1300"/>
              </a:lnSpc>
              <a:buNone/>
            </a:pPr>
            <a:r>
              <a:rPr lang="en-US" sz="1100" dirty="0">
                <a:solidFill>
                  <a:srgbClr val="2428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Intersection: only what is common.
</a:t>
            </a:r>
            <a:endParaRPr lang="en-US" sz="1100" dirty="0"/>
          </a:p>
          <a:p>
            <a:pPr indent="0" marL="0">
              <a:lnSpc>
                <a:spcPts val="1300"/>
              </a:lnSpc>
              <a:buNone/>
            </a:pPr>
            <a:r>
              <a:rPr lang="en-US" sz="1250" b="1" dirty="0">
                <a:solidFill>
                  <a:srgbClr val="8A4B1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
difference(A, B)
</a:t>
            </a:r>
            <a:endParaRPr lang="en-US" sz="1100" dirty="0"/>
          </a:p>
          <a:p>
            <a:pPr indent="0" marL="0">
              <a:lnSpc>
                <a:spcPts val="1300"/>
              </a:lnSpc>
              <a:buNone/>
            </a:pPr>
            <a:r>
              <a:rPr lang="en-US" sz="1100" dirty="0">
                <a:solidFill>
                  <a:srgbClr val="2428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Difference: A with B cut out. This is how holes and notches are made.
</a:t>
            </a:r>
            <a:endParaRPr lang="en-US" sz="1100" dirty="0"/>
          </a:p>
          <a:p>
            <a:pPr indent="0" marL="0">
              <a:lnSpc>
                <a:spcPts val="1300"/>
              </a:lnSpc>
              <a:buNone/>
            </a:pPr>
            <a:r>
              <a:rPr lang="en-US" sz="1250" b="1" dirty="0">
                <a:solidFill>
                  <a:srgbClr val="8A4B1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
cut(M, point, normal)
</a:t>
            </a:r>
            <a:endParaRPr lang="en-US" sz="1100" dirty="0"/>
          </a:p>
          <a:p>
            <a:pPr indent="0" marL="0">
              <a:lnSpc>
                <a:spcPts val="1300"/>
              </a:lnSpc>
              <a:buNone/>
            </a:pPr>
            <a:r>
              <a:rPr lang="en-US" sz="1100" dirty="0">
                <a:solidFill>
                  <a:srgbClr val="2428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cut with a plane -- cheaper.</a:t>
            </a:r>
            <a:endParaRPr lang="en-US" sz="1100" dirty="0"/>
          </a:p>
        </p:txBody>
      </p:sp>
      <p:sp>
        <p:nvSpPr>
          <p:cNvPr id="8" name="Shape 5"/>
          <p:cNvSpPr/>
          <p:nvPr/>
        </p:nvSpPr>
        <p:spPr>
          <a:xfrm>
            <a:off x="566928" y="4983480"/>
            <a:ext cx="8010144" cy="1280160"/>
          </a:xfrm>
          <a:prstGeom prst="roundRect">
            <a:avLst>
              <a:gd name="adj" fmla="val 4286"/>
            </a:avLst>
          </a:prstGeom>
          <a:solidFill>
            <a:srgbClr val="F7F7F8"/>
          </a:solidFill>
          <a:ln w="9525">
            <a:solidFill>
              <a:srgbClr val="E3E1DD"/>
            </a:solidFill>
            <a:prstDash val="solid"/>
          </a:ln>
        </p:spPr>
      </p:sp>
      <p:sp>
        <p:nvSpPr>
          <p:cNvPr id="9" name="Text 6"/>
          <p:cNvSpPr txBox="1"/>
          <p:nvPr/>
        </p:nvSpPr>
        <p:spPr>
          <a:xfrm>
            <a:off x="713232" y="5111496"/>
            <a:ext cx="7717536" cy="10241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15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add.cuboid([0,0,0], [4,1,4], "brown")</a:t>
            </a:r>
            <a:endParaRPr lang="en-US" sz="115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15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plate = add.layer()</a:t>
            </a:r>
            <a:endParaRPr lang="en-US" sz="115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15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add.cylinder([0,-1,0], [0,1,0], 0.6, 32, "black")</a:t>
            </a:r>
            <a:endParaRPr lang="en-US" sz="115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15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drill = add.layer()</a:t>
            </a:r>
            <a:endParaRPr lang="en-US" sz="115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15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add.mesh(add.difference(plate, drill))</a:t>
            </a:r>
            <a:endParaRPr lang="en-US" sz="1150" dirty="0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329184"/>
            <a:ext cx="80101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60" kern="0" dirty="0">
                <a:solidFill>
                  <a:srgbClr val="8A4B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SOLIDS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66928" y="548640"/>
            <a:ext cx="8010144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2428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How the booleans work</a:t>
            </a:r>
            <a:endParaRPr lang="en-US" sz="3000" dirty="0"/>
          </a:p>
        </p:txBody>
      </p:sp>
      <p:sp>
        <p:nvSpPr>
          <p:cNvPr id="4" name="Text 2"/>
          <p:cNvSpPr txBox="1"/>
          <p:nvPr/>
        </p:nvSpPr>
        <p:spPr>
          <a:xfrm>
            <a:off x="8119872" y="6382512"/>
            <a:ext cx="457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25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566928" y="1463040"/>
            <a:ext cx="2511552" cy="1783080"/>
          </a:xfrm>
          <a:prstGeom prst="roundRect">
            <a:avLst>
              <a:gd name="adj" fmla="val 2564"/>
            </a:avLst>
          </a:prstGeom>
          <a:solidFill>
            <a:srgbClr val="F6EFE8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768096" y="1609344"/>
            <a:ext cx="210921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8A4B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 Split</a:t>
            </a:r>
            <a:endParaRPr lang="en-US" sz="1500" dirty="0"/>
          </a:p>
        </p:txBody>
      </p:sp>
      <p:sp>
        <p:nvSpPr>
          <p:cNvPr id="7" name="Text 5"/>
          <p:cNvSpPr txBox="1"/>
          <p:nvPr/>
        </p:nvSpPr>
        <p:spPr>
          <a:xfrm>
            <a:off x="768096" y="1938528"/>
            <a:ext cx="2109216" cy="11612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50" dirty="0">
                <a:solidFill>
                  <a:srgbClr val="2428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face is cut where the other solid's triangles could cross it. Neighbours come from a spatial grid, so a distant face is never cut.</a:t>
            </a:r>
            <a:endParaRPr lang="en-US" sz="1250" dirty="0"/>
          </a:p>
        </p:txBody>
      </p:sp>
      <p:sp>
        <p:nvSpPr>
          <p:cNvPr id="8" name="Shape 6"/>
          <p:cNvSpPr/>
          <p:nvPr/>
        </p:nvSpPr>
        <p:spPr>
          <a:xfrm>
            <a:off x="3316224" y="1463040"/>
            <a:ext cx="2511552" cy="1783080"/>
          </a:xfrm>
          <a:prstGeom prst="roundRect">
            <a:avLst>
              <a:gd name="adj" fmla="val 2564"/>
            </a:avLst>
          </a:prstGeom>
          <a:solidFill>
            <a:srgbClr val="F6EFE8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3517392" y="1609344"/>
            <a:ext cx="210921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8A4B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 Ask</a:t>
            </a:r>
            <a:endParaRPr lang="en-US" sz="1500" dirty="0"/>
          </a:p>
        </p:txBody>
      </p:sp>
      <p:sp>
        <p:nvSpPr>
          <p:cNvPr id="10" name="Text 8"/>
          <p:cNvSpPr txBox="1"/>
          <p:nvPr/>
        </p:nvSpPr>
        <p:spPr>
          <a:xfrm>
            <a:off x="3517392" y="1938528"/>
            <a:ext cx="2109216" cy="11612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50" dirty="0">
                <a:solidFill>
                  <a:srgbClr val="2428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Each piece is asked: inside, outside, or lying on the other surface? A ray counting crossings answers.</a:t>
            </a:r>
            <a:endParaRPr lang="en-US" sz="1250" dirty="0"/>
          </a:p>
        </p:txBody>
      </p:sp>
      <p:sp>
        <p:nvSpPr>
          <p:cNvPr id="11" name="Shape 9"/>
          <p:cNvSpPr/>
          <p:nvPr/>
        </p:nvSpPr>
        <p:spPr>
          <a:xfrm>
            <a:off x="6065520" y="1463040"/>
            <a:ext cx="2511552" cy="1783080"/>
          </a:xfrm>
          <a:prstGeom prst="roundRect">
            <a:avLst>
              <a:gd name="adj" fmla="val 2564"/>
            </a:avLst>
          </a:prstGeom>
          <a:solidFill>
            <a:srgbClr val="F6EFE8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6266688" y="1609344"/>
            <a:ext cx="210921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8A4B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3. Keep</a:t>
            </a:r>
            <a:endParaRPr lang="en-US" sz="1500" dirty="0"/>
          </a:p>
        </p:txBody>
      </p:sp>
      <p:sp>
        <p:nvSpPr>
          <p:cNvPr id="13" name="Text 11"/>
          <p:cNvSpPr txBox="1"/>
          <p:nvPr/>
        </p:nvSpPr>
        <p:spPr>
          <a:xfrm>
            <a:off x="6266688" y="1938528"/>
            <a:ext cx="2109216" cy="11612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50" dirty="0">
                <a:solidFill>
                  <a:srgbClr val="2428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Union keeps what is outside; intersection what is inside; difference A's outside and B's inside, reversed.</a:t>
            </a:r>
            <a:endParaRPr lang="en-US" sz="1250" dirty="0"/>
          </a:p>
        </p:txBody>
      </p:sp>
      <p:sp>
        <p:nvSpPr>
          <p:cNvPr id="14" name="Text 12"/>
          <p:cNvSpPr txBox="1"/>
          <p:nvPr/>
        </p:nvSpPr>
        <p:spPr>
          <a:xfrm>
            <a:off x="566928" y="3566160"/>
            <a:ext cx="8010144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200"/>
              </a:lnSpc>
              <a:buNone/>
            </a:pPr>
            <a:r>
              <a:rPr lang="en-US" sz="1500" b="1" dirty="0">
                <a:solidFill>
                  <a:srgbClr val="2428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About 600 lines of plain Python. No libraries.
</a:t>
            </a:r>
            <a:endParaRPr lang="en-US" sz="1500" dirty="0"/>
          </a:p>
          <a:p>
            <a:pPr indent="0" marL="0">
              <a:lnSpc>
                <a:spcPts val="2200"/>
              </a:lnSpc>
              <a:buNone/>
            </a:pPr>
            <a:r>
              <a:rPr lang="en-US" sz="1500" dirty="0">
                <a:solidFill>
                  <a:srgbClr val="2428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6000-face sphere minus a box: about 0.5 s.  </a:t>
            </a:r>
            <a:pPr indent="0" marL="0">
              <a:lnSpc>
                <a:spcPts val="2200"/>
              </a:lnSpc>
              <a:buNone/>
            </a:pPr>
            <a:r>
              <a:rPr lang="en-US" sz="1500" dirty="0">
                <a:solidFill>
                  <a:srgbClr val="2428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25 000 faces: about 2 s.
</a:t>
            </a:r>
            <a:endParaRPr lang="en-US" sz="1500" dirty="0"/>
          </a:p>
          <a:p>
            <a:pPr indent="0" marL="0">
              <a:lnSpc>
                <a:spcPts val="2200"/>
              </a:lnSpc>
              <a:buNone/>
            </a:pPr>
            <a:r>
              <a:rPr lang="en-US" sz="1500" dirty="0">
                <a:solidFill>
                  <a:srgbClr val="2428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result is welded, its T-junctions healed, the surface closed.</a:t>
            </a:r>
            <a:endParaRPr lang="en-US" sz="1500" dirty="0"/>
          </a:p>
        </p:txBody>
      </p:sp>
      <p:sp>
        <p:nvSpPr>
          <p:cNvPr id="15" name="Shape 13"/>
          <p:cNvSpPr/>
          <p:nvPr/>
        </p:nvSpPr>
        <p:spPr>
          <a:xfrm>
            <a:off x="566928" y="4800600"/>
            <a:ext cx="8010144" cy="960120"/>
          </a:xfrm>
          <a:prstGeom prst="roundRect">
            <a:avLst>
              <a:gd name="adj" fmla="val 4762"/>
            </a:avLst>
          </a:prstGeom>
          <a:solidFill>
            <a:srgbClr val="EAF3EF"/>
          </a:solidFill>
          <a:ln/>
        </p:spPr>
      </p:sp>
      <p:sp>
        <p:nvSpPr>
          <p:cNvPr id="16" name="Text 14"/>
          <p:cNvSpPr txBox="1"/>
          <p:nvPr/>
        </p:nvSpPr>
        <p:spPr>
          <a:xfrm>
            <a:off x="795528" y="4983480"/>
            <a:ext cx="7552944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1E6B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Booleans need closed solids. If the result looks odd, check both inputs with add.check() first.</a:t>
            </a:r>
            <a:endParaRPr lang="en-US" sz="1400" dirty="0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329184"/>
            <a:ext cx="80101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60" kern="0" dirty="0">
                <a:solidFill>
                  <a:srgbClr val="8A4B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TOOLS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66928" y="548640"/>
            <a:ext cx="8010144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2428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Repairing and checking a model</a:t>
            </a:r>
            <a:endParaRPr lang="en-US" sz="3000" dirty="0"/>
          </a:p>
        </p:txBody>
      </p:sp>
      <p:sp>
        <p:nvSpPr>
          <p:cNvPr id="4" name="Text 2"/>
          <p:cNvSpPr txBox="1"/>
          <p:nvPr/>
        </p:nvSpPr>
        <p:spPr>
          <a:xfrm>
            <a:off x="8119872" y="6382512"/>
            <a:ext cx="457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26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566928" y="1444752"/>
            <a:ext cx="3886200" cy="1133856"/>
          </a:xfrm>
          <a:prstGeom prst="roundRect">
            <a:avLst>
              <a:gd name="adj" fmla="val 4032"/>
            </a:avLst>
          </a:prstGeom>
          <a:solidFill>
            <a:srgbClr val="F6EFE8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768096" y="1591056"/>
            <a:ext cx="348386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8A4B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clean(M)</a:t>
            </a:r>
            <a:endParaRPr lang="en-US" sz="1500" dirty="0"/>
          </a:p>
        </p:txBody>
      </p:sp>
      <p:sp>
        <p:nvSpPr>
          <p:cNvPr id="7" name="Text 5"/>
          <p:cNvSpPr txBox="1"/>
          <p:nvPr/>
        </p:nvSpPr>
        <p:spPr>
          <a:xfrm>
            <a:off x="768096" y="1920240"/>
            <a:ext cx="3483864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50" dirty="0">
                <a:solidFill>
                  <a:srgbClr val="2428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Welds coincident vertices, drops zero-area and repeated faces, removes the inner walls where two solids touch.</a:t>
            </a:r>
            <a:endParaRPr lang="en-US" sz="1250" dirty="0"/>
          </a:p>
        </p:txBody>
      </p:sp>
      <p:sp>
        <p:nvSpPr>
          <p:cNvPr id="8" name="Shape 6"/>
          <p:cNvSpPr/>
          <p:nvPr/>
        </p:nvSpPr>
        <p:spPr>
          <a:xfrm>
            <a:off x="4690872" y="1444752"/>
            <a:ext cx="3886200" cy="1133856"/>
          </a:xfrm>
          <a:prstGeom prst="roundRect">
            <a:avLst>
              <a:gd name="adj" fmla="val 4032"/>
            </a:avLst>
          </a:prstGeom>
          <a:solidFill>
            <a:srgbClr val="F6EFE8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4892040" y="1591056"/>
            <a:ext cx="348386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8A4B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heal(M)</a:t>
            </a:r>
            <a:endParaRPr lang="en-US" sz="1500" dirty="0"/>
          </a:p>
        </p:txBody>
      </p:sp>
      <p:sp>
        <p:nvSpPr>
          <p:cNvPr id="10" name="Text 8"/>
          <p:cNvSpPr txBox="1"/>
          <p:nvPr/>
        </p:nvSpPr>
        <p:spPr>
          <a:xfrm>
            <a:off x="4892040" y="1920240"/>
            <a:ext cx="3483864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50" dirty="0">
                <a:solidFill>
                  <a:srgbClr val="2428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Closes the hairline gaps where an edge passes a foreign vertex.</a:t>
            </a:r>
            <a:endParaRPr lang="en-US" sz="1250" dirty="0"/>
          </a:p>
        </p:txBody>
      </p:sp>
      <p:sp>
        <p:nvSpPr>
          <p:cNvPr id="11" name="Shape 9"/>
          <p:cNvSpPr/>
          <p:nvPr/>
        </p:nvSpPr>
        <p:spPr>
          <a:xfrm>
            <a:off x="566928" y="2816352"/>
            <a:ext cx="3886200" cy="1133856"/>
          </a:xfrm>
          <a:prstGeom prst="roundRect">
            <a:avLst>
              <a:gd name="adj" fmla="val 4032"/>
            </a:avLst>
          </a:prstGeom>
          <a:solidFill>
            <a:srgbClr val="F6EFE8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768096" y="2962656"/>
            <a:ext cx="348386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8A4B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fix_normals(M)</a:t>
            </a:r>
            <a:endParaRPr lang="en-US" sz="1500" dirty="0"/>
          </a:p>
        </p:txBody>
      </p:sp>
      <p:sp>
        <p:nvSpPr>
          <p:cNvPr id="13" name="Text 11"/>
          <p:cNvSpPr txBox="1"/>
          <p:nvPr/>
        </p:nvSpPr>
        <p:spPr>
          <a:xfrm>
            <a:off x="768096" y="3291840"/>
            <a:ext cx="3483864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50" dirty="0">
                <a:solidFill>
                  <a:srgbClr val="2428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Points every face the same way -- outwards, for a closed model.</a:t>
            </a:r>
            <a:endParaRPr lang="en-US" sz="1250" dirty="0"/>
          </a:p>
        </p:txBody>
      </p:sp>
      <p:sp>
        <p:nvSpPr>
          <p:cNvPr id="14" name="Shape 12"/>
          <p:cNvSpPr/>
          <p:nvPr/>
        </p:nvSpPr>
        <p:spPr>
          <a:xfrm>
            <a:off x="4690872" y="2816352"/>
            <a:ext cx="3886200" cy="1133856"/>
          </a:xfrm>
          <a:prstGeom prst="roundRect">
            <a:avLst>
              <a:gd name="adj" fmla="val 4032"/>
            </a:avLst>
          </a:prstGeom>
          <a:solidFill>
            <a:srgbClr val="F6EFE8"/>
          </a:solidFill>
          <a:ln/>
        </p:spPr>
      </p:sp>
      <p:sp>
        <p:nvSpPr>
          <p:cNvPr id="15" name="Text 13"/>
          <p:cNvSpPr txBox="1"/>
          <p:nvPr/>
        </p:nvSpPr>
        <p:spPr>
          <a:xfrm>
            <a:off x="4892040" y="2962656"/>
            <a:ext cx="348386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8A4B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triangulate(M), inside(M, p)</a:t>
            </a:r>
            <a:endParaRPr lang="en-US" sz="1500" dirty="0"/>
          </a:p>
        </p:txBody>
      </p:sp>
      <p:sp>
        <p:nvSpPr>
          <p:cNvPr id="16" name="Text 14"/>
          <p:cNvSpPr txBox="1"/>
          <p:nvPr/>
        </p:nvSpPr>
        <p:spPr>
          <a:xfrm>
            <a:off x="4892040" y="3291840"/>
            <a:ext cx="3483864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50" dirty="0">
                <a:solidFill>
                  <a:srgbClr val="2428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face a triangle; is a point inside the solid?</a:t>
            </a:r>
            <a:endParaRPr lang="en-US" sz="1250" dirty="0"/>
          </a:p>
        </p:txBody>
      </p:sp>
      <p:sp>
        <p:nvSpPr>
          <p:cNvPr id="17" name="Shape 15"/>
          <p:cNvSpPr/>
          <p:nvPr/>
        </p:nvSpPr>
        <p:spPr>
          <a:xfrm>
            <a:off x="566928" y="4069080"/>
            <a:ext cx="3931920" cy="1005840"/>
          </a:xfrm>
          <a:prstGeom prst="roundRect">
            <a:avLst>
              <a:gd name="adj" fmla="val 5455"/>
            </a:avLst>
          </a:prstGeom>
          <a:solidFill>
            <a:srgbClr val="F7F7F8"/>
          </a:solidFill>
          <a:ln w="9525">
            <a:solidFill>
              <a:srgbClr val="E3E1DD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713232" y="4197096"/>
            <a:ext cx="3639312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5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model = add.clean(add.layer())</a:t>
            </a:r>
            <a:endParaRPr lang="en-US" sz="125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25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add.mesh(model)</a:t>
            </a:r>
            <a:endParaRPr lang="en-US" sz="125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25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add.check()</a:t>
            </a:r>
            <a:endParaRPr lang="en-US" sz="1250" dirty="0"/>
          </a:p>
        </p:txBody>
      </p:sp>
      <p:sp>
        <p:nvSpPr>
          <p:cNvPr id="19" name="Shape 17"/>
          <p:cNvSpPr/>
          <p:nvPr/>
        </p:nvSpPr>
        <p:spPr>
          <a:xfrm>
            <a:off x="4709160" y="4069080"/>
            <a:ext cx="3867912" cy="1417320"/>
          </a:xfrm>
          <a:prstGeom prst="roundRect">
            <a:avLst>
              <a:gd name="adj" fmla="val 3871"/>
            </a:avLst>
          </a:prstGeom>
          <a:solidFill>
            <a:srgbClr val="F7F7F8"/>
          </a:solidFill>
          <a:ln w="9525">
            <a:solidFill>
              <a:srgbClr val="E3E1DD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4855464" y="4197096"/>
            <a:ext cx="3575304" cy="11612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10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vertices            136768</a:t>
            </a:r>
            <a:endParaRPr lang="en-US" sz="110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10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OK polygons            163132</a:t>
            </a:r>
            <a:endParaRPr lang="en-US" sz="110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10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OK colours             6</a:t>
            </a:r>
            <a:endParaRPr lang="en-US" sz="110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10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OK closed surface      yes</a:t>
            </a:r>
            <a:endParaRPr lang="en-US" sz="110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10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volume              60.286</a:t>
            </a:r>
            <a:endParaRPr lang="en-US" sz="1100" dirty="0"/>
          </a:p>
        </p:txBody>
      </p:sp>
      <p:sp>
        <p:nvSpPr>
          <p:cNvPr id="21" name="Text 19"/>
          <p:cNvSpPr txBox="1"/>
          <p:nvPr/>
        </p:nvSpPr>
        <p:spPr>
          <a:xfrm>
            <a:off x="566928" y="5742432"/>
            <a:ext cx="746150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Two touching cubes each keep a wall where nobody can see it. clean() finds and removes them. examples/31_workbench.py shows every repair tool at work.</a:t>
            </a:r>
            <a:endParaRPr lang="en-US" sz="1250" dirty="0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329184"/>
            <a:ext cx="80101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60" kern="0" dirty="0">
                <a:solidFill>
                  <a:srgbClr val="8A4B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SHAPES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66928" y="548640"/>
            <a:ext cx="8010144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2428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five regular polyhedra, and a sphere of triangles</a:t>
            </a:r>
            <a:endParaRPr lang="en-US" sz="3000" dirty="0"/>
          </a:p>
        </p:txBody>
      </p:sp>
      <p:sp>
        <p:nvSpPr>
          <p:cNvPr id="4" name="Text 2"/>
          <p:cNvSpPr txBox="1"/>
          <p:nvPr/>
        </p:nvSpPr>
        <p:spPr>
          <a:xfrm>
            <a:off x="8119872" y="6382512"/>
            <a:ext cx="457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27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566928" y="1463040"/>
            <a:ext cx="4709160" cy="2240280"/>
          </a:xfrm>
          <a:prstGeom prst="roundRect">
            <a:avLst>
              <a:gd name="adj" fmla="val 2449"/>
            </a:avLst>
          </a:prstGeom>
          <a:solidFill>
            <a:srgbClr val="F7F7F8"/>
          </a:solidFill>
          <a:ln w="9525">
            <a:solidFill>
              <a:srgbClr val="E3E1DD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713232" y="1591056"/>
            <a:ext cx="4416552" cy="19842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15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add.icosahedron([0, 0, 0], 2, "purple")</a:t>
            </a:r>
            <a:endParaRPr lang="en-US" sz="115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15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add.dodecahedron([5, 0, 0], 2, "gold")</a:t>
            </a:r>
            <a:endParaRPr lang="en-US" sz="115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15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 = add.polyhedron_points("icosahedron")</a:t>
            </a:r>
            <a:endParaRPr lang="en-US" sz="1150" dirty="0"/>
          </a:p>
          <a:p>
            <a:pPr indent="0" marL="0">
              <a:lnSpc>
                <a:spcPts val="1600"/>
              </a:lnSpc>
              <a:buNone/>
            </a:pPr>
            <a:endParaRPr lang="en-US" sz="115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15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add.sphere([0, 5, 0], 2, 20, "sky")    # 5120 tri</a:t>
            </a:r>
            <a:endParaRPr lang="en-US" sz="115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15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add.icosphere([5, 5, 0], 2, 3, "red")  # 1280</a:t>
            </a:r>
            <a:endParaRPr lang="en-US" sz="115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15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add.quadsphere([9, 5, 0], 2, 12, "gold")</a:t>
            </a:r>
            <a:endParaRPr lang="en-US" sz="1150" dirty="0"/>
          </a:p>
        </p:txBody>
      </p:sp>
      <p:sp>
        <p:nvSpPr>
          <p:cNvPr id="7" name="Shape 5"/>
          <p:cNvSpPr/>
          <p:nvPr/>
        </p:nvSpPr>
        <p:spPr>
          <a:xfrm>
            <a:off x="5440680" y="1463040"/>
            <a:ext cx="3136392" cy="2240280"/>
          </a:xfrm>
          <a:prstGeom prst="roundRect">
            <a:avLst>
              <a:gd name="adj" fmla="val 2449"/>
            </a:avLst>
          </a:prstGeom>
          <a:solidFill>
            <a:srgbClr val="FAFAFA"/>
          </a:solidFill>
          <a:ln w="9525">
            <a:solidFill>
              <a:srgbClr val="E3E1DD"/>
            </a:solidFill>
            <a:prstDash val="solid"/>
          </a:ln>
        </p:spPr>
      </p:sp>
      <p:pic>
        <p:nvPicPr>
          <p:cNvPr id="8" name="Image 0" descr="/home/claude/add3d/docs/images/polyhedra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5495544" y="1517904"/>
            <a:ext cx="3026664" cy="2130552"/>
          </a:xfrm>
          <a:prstGeom prst="rect">
            <a:avLst/>
          </a:prstGeom>
        </p:spPr>
      </p:pic>
      <p:sp>
        <p:nvSpPr>
          <p:cNvPr id="9" name="Text 6"/>
          <p:cNvSpPr txBox="1"/>
          <p:nvPr/>
        </p:nvSpPr>
        <p:spPr>
          <a:xfrm>
            <a:off x="5440680" y="3767328"/>
            <a:ext cx="313639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38_polyhedra.py -- solids, duals, truncations, domes, smooth</a:t>
            </a:r>
            <a:endParaRPr lang="en-US" sz="1100" dirty="0"/>
          </a:p>
        </p:txBody>
      </p:sp>
      <p:sp>
        <p:nvSpPr>
          <p:cNvPr id="10" name="Shape 7"/>
          <p:cNvSpPr/>
          <p:nvPr/>
        </p:nvSpPr>
        <p:spPr>
          <a:xfrm>
            <a:off x="566928" y="4114800"/>
            <a:ext cx="2511552" cy="1371600"/>
          </a:xfrm>
          <a:prstGeom prst="roundRect">
            <a:avLst>
              <a:gd name="adj" fmla="val 3333"/>
            </a:avLst>
          </a:prstGeom>
          <a:solidFill>
            <a:srgbClr val="F6EFE8"/>
          </a:solidFill>
          <a:ln/>
        </p:spPr>
      </p:sp>
      <p:sp>
        <p:nvSpPr>
          <p:cNvPr id="11" name="Text 8"/>
          <p:cNvSpPr txBox="1"/>
          <p:nvPr/>
        </p:nvSpPr>
        <p:spPr>
          <a:xfrm>
            <a:off x="768096" y="4261104"/>
            <a:ext cx="210921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8A4B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Centred</a:t>
            </a:r>
            <a:endParaRPr lang="en-US" sz="1500" dirty="0"/>
          </a:p>
        </p:txBody>
      </p:sp>
      <p:sp>
        <p:nvSpPr>
          <p:cNvPr id="12" name="Text 9"/>
          <p:cNvSpPr txBox="1"/>
          <p:nvPr/>
        </p:nvSpPr>
        <p:spPr>
          <a:xfrm>
            <a:off x="768096" y="4590288"/>
            <a:ext cx="2109216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50" dirty="0">
                <a:solidFill>
                  <a:srgbClr val="2428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average of the vertices is exactly the centre; every vertex at distance r.</a:t>
            </a:r>
            <a:endParaRPr lang="en-US" sz="1250" dirty="0"/>
          </a:p>
        </p:txBody>
      </p:sp>
      <p:sp>
        <p:nvSpPr>
          <p:cNvPr id="13" name="Shape 10"/>
          <p:cNvSpPr/>
          <p:nvPr/>
        </p:nvSpPr>
        <p:spPr>
          <a:xfrm>
            <a:off x="3316224" y="4114800"/>
            <a:ext cx="2511552" cy="1371600"/>
          </a:xfrm>
          <a:prstGeom prst="roundRect">
            <a:avLst>
              <a:gd name="adj" fmla="val 3333"/>
            </a:avLst>
          </a:prstGeom>
          <a:solidFill>
            <a:srgbClr val="F6EFE8"/>
          </a:solidFill>
          <a:ln/>
        </p:spPr>
      </p:sp>
      <p:sp>
        <p:nvSpPr>
          <p:cNvPr id="14" name="Text 11"/>
          <p:cNvSpPr txBox="1"/>
          <p:nvPr/>
        </p:nvSpPr>
        <p:spPr>
          <a:xfrm>
            <a:off x="3517392" y="4261104"/>
            <a:ext cx="210921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8A4B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dome principle</a:t>
            </a:r>
            <a:endParaRPr lang="en-US" sz="1500" dirty="0"/>
          </a:p>
        </p:txBody>
      </p:sp>
      <p:sp>
        <p:nvSpPr>
          <p:cNvPr id="15" name="Text 12"/>
          <p:cNvSpPr txBox="1"/>
          <p:nvPr/>
        </p:nvSpPr>
        <p:spPr>
          <a:xfrm>
            <a:off x="3517392" y="4590288"/>
            <a:ext cx="2109216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50" dirty="0">
                <a:solidFill>
                  <a:srgbClr val="2428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Split every triangle in four, push the midpoints out to the sphere, repeat: 20, 80, 320, 1280 ...</a:t>
            </a:r>
            <a:endParaRPr lang="en-US" sz="1250" dirty="0"/>
          </a:p>
        </p:txBody>
      </p:sp>
      <p:sp>
        <p:nvSpPr>
          <p:cNvPr id="16" name="Shape 13"/>
          <p:cNvSpPr/>
          <p:nvPr/>
        </p:nvSpPr>
        <p:spPr>
          <a:xfrm>
            <a:off x="6065520" y="4114800"/>
            <a:ext cx="2511552" cy="1371600"/>
          </a:xfrm>
          <a:prstGeom prst="roundRect">
            <a:avLst>
              <a:gd name="adj" fmla="val 3333"/>
            </a:avLst>
          </a:prstGeom>
          <a:solidFill>
            <a:srgbClr val="F6EFE8"/>
          </a:solidFill>
          <a:ln/>
        </p:spPr>
      </p:sp>
      <p:sp>
        <p:nvSpPr>
          <p:cNvPr id="17" name="Text 14"/>
          <p:cNvSpPr txBox="1"/>
          <p:nvPr/>
        </p:nvSpPr>
        <p:spPr>
          <a:xfrm>
            <a:off x="6266688" y="4261104"/>
            <a:ext cx="210921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8A4B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 as before</a:t>
            </a:r>
            <a:endParaRPr lang="en-US" sz="1500" dirty="0"/>
          </a:p>
        </p:txBody>
      </p:sp>
      <p:sp>
        <p:nvSpPr>
          <p:cNvPr id="18" name="Text 15"/>
          <p:cNvSpPr txBox="1"/>
          <p:nvPr/>
        </p:nvSpPr>
        <p:spPr>
          <a:xfrm>
            <a:off x="6266688" y="4590288"/>
            <a:ext cx="2109216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50" dirty="0">
                <a:solidFill>
                  <a:srgbClr val="2428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sphere(c, r, k) picks the level from k: k=10 -&gt; 1280, k=20 -&gt; 5120 faces.</a:t>
            </a:r>
            <a:endParaRPr lang="en-US" sz="1250" dirty="0"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329184"/>
            <a:ext cx="80101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60" kern="0" dirty="0">
                <a:solidFill>
                  <a:srgbClr val="8A4B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VERTEX TOOLS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66928" y="548640"/>
            <a:ext cx="8010144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2428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 football from the vertices of an icosahedron</a:t>
            </a:r>
            <a:endParaRPr lang="en-US" sz="3000" dirty="0"/>
          </a:p>
        </p:txBody>
      </p:sp>
      <p:sp>
        <p:nvSpPr>
          <p:cNvPr id="4" name="Text 2"/>
          <p:cNvSpPr txBox="1"/>
          <p:nvPr/>
        </p:nvSpPr>
        <p:spPr>
          <a:xfrm>
            <a:off x="8119872" y="6382512"/>
            <a:ext cx="457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28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566928" y="1463040"/>
            <a:ext cx="4709160" cy="2377440"/>
          </a:xfrm>
          <a:prstGeom prst="roundRect">
            <a:avLst>
              <a:gd name="adj" fmla="val 2308"/>
            </a:avLst>
          </a:prstGeom>
          <a:solidFill>
            <a:srgbClr val="F7F7F8"/>
          </a:solidFill>
          <a:ln w="9525">
            <a:solidFill>
              <a:srgbClr val="E3E1DD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713232" y="1591056"/>
            <a:ext cx="4416552" cy="21214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15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ico = add.make(add.icosahedron, [0, 0, 0], 3)</a:t>
            </a:r>
            <a:endParaRPr lang="en-US" sz="115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15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print(add.neighbors(ico, 0))   # 5, in order</a:t>
            </a:r>
            <a:endParaRPr lang="en-US" sz="115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15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print(add.valence(ico, 0))</a:t>
            </a:r>
            <a:endParaRPr lang="en-US" sz="1150" dirty="0"/>
          </a:p>
          <a:p>
            <a:pPr indent="0" marL="0">
              <a:lnSpc>
                <a:spcPts val="1600"/>
              </a:lnSpc>
              <a:buNone/>
            </a:pPr>
            <a:endParaRPr lang="en-US" sz="115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15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ball = add.truncate(ico, 1 / 3.0)   # corners off</a:t>
            </a:r>
            <a:endParaRPr lang="en-US" sz="115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15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ball = add.color_by_sides(ball,</a:t>
            </a:r>
            <a:endParaRPr lang="en-US" sz="115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15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                  {5: "black", 6: "white"})</a:t>
            </a:r>
            <a:endParaRPr lang="en-US" sz="115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15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add.mesh(add.smooth(ball, 16))      # rounded</a:t>
            </a:r>
            <a:endParaRPr lang="en-US" sz="1150" dirty="0"/>
          </a:p>
        </p:txBody>
      </p:sp>
      <p:sp>
        <p:nvSpPr>
          <p:cNvPr id="7" name="Shape 5"/>
          <p:cNvSpPr/>
          <p:nvPr/>
        </p:nvSpPr>
        <p:spPr>
          <a:xfrm>
            <a:off x="5440680" y="1463040"/>
            <a:ext cx="3136392" cy="2377440"/>
          </a:xfrm>
          <a:prstGeom prst="roundRect">
            <a:avLst>
              <a:gd name="adj" fmla="val 2308"/>
            </a:avLst>
          </a:prstGeom>
          <a:solidFill>
            <a:srgbClr val="FAFAFA"/>
          </a:solidFill>
          <a:ln w="9525">
            <a:solidFill>
              <a:srgbClr val="E3E1DD"/>
            </a:solidFill>
            <a:prstDash val="solid"/>
          </a:ln>
        </p:spPr>
      </p:sp>
      <p:pic>
        <p:nvPicPr>
          <p:cNvPr id="8" name="Image 0" descr="/home/claude/add3d/docs/images/football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5495544" y="1517904"/>
            <a:ext cx="3026664" cy="2267712"/>
          </a:xfrm>
          <a:prstGeom prst="rect">
            <a:avLst/>
          </a:prstGeom>
        </p:spPr>
      </p:pic>
      <p:sp>
        <p:nvSpPr>
          <p:cNvPr id="9" name="Text 6"/>
          <p:cNvSpPr txBox="1"/>
          <p:nvPr/>
        </p:nvSpPr>
        <p:spPr>
          <a:xfrm>
            <a:off x="5440680" y="3904488"/>
            <a:ext cx="313639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37_football.py</a:t>
            </a:r>
            <a:endParaRPr lang="en-US" sz="1100" dirty="0"/>
          </a:p>
        </p:txBody>
      </p:sp>
      <p:sp>
        <p:nvSpPr>
          <p:cNvPr id="10" name="Shape 7"/>
          <p:cNvSpPr/>
          <p:nvPr/>
        </p:nvSpPr>
        <p:spPr>
          <a:xfrm>
            <a:off x="566928" y="4251960"/>
            <a:ext cx="2511552" cy="1325880"/>
          </a:xfrm>
          <a:prstGeom prst="roundRect">
            <a:avLst>
              <a:gd name="adj" fmla="val 3448"/>
            </a:avLst>
          </a:prstGeom>
          <a:solidFill>
            <a:srgbClr val="F6EFE8"/>
          </a:solidFill>
          <a:ln/>
        </p:spPr>
      </p:sp>
      <p:sp>
        <p:nvSpPr>
          <p:cNvPr id="11" name="Text 8"/>
          <p:cNvSpPr txBox="1"/>
          <p:nvPr/>
        </p:nvSpPr>
        <p:spPr>
          <a:xfrm>
            <a:off x="768096" y="4398264"/>
            <a:ext cx="210921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8A4B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Ask the mesh</a:t>
            </a:r>
            <a:endParaRPr lang="en-US" sz="1500" dirty="0"/>
          </a:p>
        </p:txBody>
      </p:sp>
      <p:sp>
        <p:nvSpPr>
          <p:cNvPr id="12" name="Text 9"/>
          <p:cNvSpPr txBox="1"/>
          <p:nvPr/>
        </p:nvSpPr>
        <p:spPr>
          <a:xfrm>
            <a:off x="768096" y="4727448"/>
            <a:ext cx="2109216" cy="7040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50" dirty="0">
                <a:solidFill>
                  <a:srgbClr val="2428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neighbors, valence, mean_neighbor_distance, edges, vertex_normal, face_center, boundary_loops.</a:t>
            </a:r>
            <a:endParaRPr lang="en-US" sz="1250" dirty="0"/>
          </a:p>
        </p:txBody>
      </p:sp>
      <p:sp>
        <p:nvSpPr>
          <p:cNvPr id="13" name="Shape 10"/>
          <p:cNvSpPr/>
          <p:nvPr/>
        </p:nvSpPr>
        <p:spPr>
          <a:xfrm>
            <a:off x="3316224" y="4251960"/>
            <a:ext cx="2511552" cy="1325880"/>
          </a:xfrm>
          <a:prstGeom prst="roundRect">
            <a:avLst>
              <a:gd name="adj" fmla="val 3448"/>
            </a:avLst>
          </a:prstGeom>
          <a:solidFill>
            <a:srgbClr val="F6EFE8"/>
          </a:solidFill>
          <a:ln/>
        </p:spPr>
      </p:sp>
      <p:sp>
        <p:nvSpPr>
          <p:cNvPr id="14" name="Text 11"/>
          <p:cNvSpPr txBox="1"/>
          <p:nvPr/>
        </p:nvSpPr>
        <p:spPr>
          <a:xfrm>
            <a:off x="3517392" y="4398264"/>
            <a:ext cx="210921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8A4B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Change one corner</a:t>
            </a:r>
            <a:endParaRPr lang="en-US" sz="1500" dirty="0"/>
          </a:p>
        </p:txBody>
      </p:sp>
      <p:sp>
        <p:nvSpPr>
          <p:cNvPr id="15" name="Text 12"/>
          <p:cNvSpPr txBox="1"/>
          <p:nvPr/>
        </p:nvSpPr>
        <p:spPr>
          <a:xfrm>
            <a:off x="3517392" y="4727448"/>
            <a:ext cx="2109216" cy="7040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50" dirty="0">
                <a:solidFill>
                  <a:srgbClr val="2428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set_vertex(M, i, [x, None, z]) moves vertex i and keeps the faces -- then smooth() it.</a:t>
            </a:r>
            <a:endParaRPr lang="en-US" sz="1250" dirty="0"/>
          </a:p>
        </p:txBody>
      </p:sp>
      <p:sp>
        <p:nvSpPr>
          <p:cNvPr id="16" name="Shape 13"/>
          <p:cNvSpPr/>
          <p:nvPr/>
        </p:nvSpPr>
        <p:spPr>
          <a:xfrm>
            <a:off x="6065520" y="4251960"/>
            <a:ext cx="2511552" cy="1325880"/>
          </a:xfrm>
          <a:prstGeom prst="roundRect">
            <a:avLst>
              <a:gd name="adj" fmla="val 3448"/>
            </a:avLst>
          </a:prstGeom>
          <a:solidFill>
            <a:srgbClr val="F6EFE8"/>
          </a:solidFill>
          <a:ln/>
        </p:spPr>
      </p:sp>
      <p:sp>
        <p:nvSpPr>
          <p:cNvPr id="17" name="Text 14"/>
          <p:cNvSpPr txBox="1"/>
          <p:nvPr/>
        </p:nvSpPr>
        <p:spPr>
          <a:xfrm>
            <a:off x="6266688" y="4398264"/>
            <a:ext cx="210921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8A4B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Rebuild</a:t>
            </a:r>
            <a:endParaRPr lang="en-US" sz="1500" dirty="0"/>
          </a:p>
        </p:txBody>
      </p:sp>
      <p:sp>
        <p:nvSpPr>
          <p:cNvPr id="18" name="Text 15"/>
          <p:cNvSpPr txBox="1"/>
          <p:nvPr/>
        </p:nvSpPr>
        <p:spPr>
          <a:xfrm>
            <a:off x="6266688" y="4727448"/>
            <a:ext cx="2109216" cy="7040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50" dirty="0">
                <a:solidFill>
                  <a:srgbClr val="2428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dual, truncate, refine + spherify, inflate -- new solids from old ones.</a:t>
            </a:r>
            <a:endParaRPr lang="en-US" sz="1250" dirty="0"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329184"/>
            <a:ext cx="80101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60" kern="0" dirty="0">
                <a:solidFill>
                  <a:srgbClr val="8A4B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SMOOTH()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66928" y="548640"/>
            <a:ext cx="8010144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2428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Smooth surfaces: generalised Catmull-Clark</a:t>
            </a:r>
            <a:endParaRPr lang="en-US" sz="3000" dirty="0"/>
          </a:p>
        </p:txBody>
      </p:sp>
      <p:sp>
        <p:nvSpPr>
          <p:cNvPr id="4" name="Text 2"/>
          <p:cNvSpPr txBox="1"/>
          <p:nvPr/>
        </p:nvSpPr>
        <p:spPr>
          <a:xfrm>
            <a:off x="8119872" y="6382512"/>
            <a:ext cx="457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29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566928" y="1463040"/>
            <a:ext cx="4709160" cy="2148840"/>
          </a:xfrm>
          <a:prstGeom prst="roundRect">
            <a:avLst>
              <a:gd name="adj" fmla="val 2553"/>
            </a:avLst>
          </a:prstGeom>
          <a:solidFill>
            <a:srgbClr val="F7F7F8"/>
          </a:solidFill>
          <a:ln w="9525">
            <a:solidFill>
              <a:srgbClr val="E3E1DD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713232" y="1591056"/>
            <a:ext cx="4416552" cy="18928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15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add.box([0, 0, 0], 2, "gold")</a:t>
            </a:r>
            <a:endParaRPr lang="en-US" sz="115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15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block = add.layer()</a:t>
            </a:r>
            <a:endParaRPr lang="en-US" sz="115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15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 = add.nearest_vertex(block, [1, 1, 1])</a:t>
            </a:r>
            <a:endParaRPr lang="en-US" sz="115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15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block = add.set_vertex(block, i, [2.5, 2.5, None])</a:t>
            </a:r>
            <a:endParaRPr lang="en-US" sz="1150" dirty="0"/>
          </a:p>
          <a:p>
            <a:pPr indent="0" marL="0">
              <a:lnSpc>
                <a:spcPts val="1600"/>
              </a:lnSpc>
              <a:buNone/>
            </a:pPr>
            <a:endParaRPr lang="en-US" sz="115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15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add.mesh(add.smooth(block, 8))    # 8 per edge</a:t>
            </a:r>
            <a:endParaRPr lang="en-US" sz="115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15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add.mesh(add.catmull_clark(block, 3))</a:t>
            </a:r>
            <a:endParaRPr lang="en-US" sz="1150" dirty="0"/>
          </a:p>
        </p:txBody>
      </p:sp>
      <p:sp>
        <p:nvSpPr>
          <p:cNvPr id="7" name="Shape 5"/>
          <p:cNvSpPr/>
          <p:nvPr/>
        </p:nvSpPr>
        <p:spPr>
          <a:xfrm>
            <a:off x="5440680" y="1463040"/>
            <a:ext cx="3136392" cy="2148840"/>
          </a:xfrm>
          <a:prstGeom prst="roundRect">
            <a:avLst>
              <a:gd name="adj" fmla="val 2553"/>
            </a:avLst>
          </a:prstGeom>
          <a:solidFill>
            <a:srgbClr val="FAFAFA"/>
          </a:solidFill>
          <a:ln w="9525">
            <a:solidFill>
              <a:srgbClr val="E3E1DD"/>
            </a:solidFill>
            <a:prstDash val="solid"/>
          </a:ln>
        </p:spPr>
      </p:sp>
      <p:pic>
        <p:nvPicPr>
          <p:cNvPr id="8" name="Image 0" descr="/home/claude/add3d/docs/images/smooth_shapes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5495544" y="1517904"/>
            <a:ext cx="3026664" cy="2039112"/>
          </a:xfrm>
          <a:prstGeom prst="rect">
            <a:avLst/>
          </a:prstGeom>
        </p:spPr>
      </p:pic>
      <p:sp>
        <p:nvSpPr>
          <p:cNvPr id="9" name="Text 6"/>
          <p:cNvSpPr txBox="1"/>
          <p:nvPr/>
        </p:nvSpPr>
        <p:spPr>
          <a:xfrm>
            <a:off x="5440680" y="3675888"/>
            <a:ext cx="313639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39_smooth_shapes.py -- n = 1 ... 7 on one prism</a:t>
            </a:r>
            <a:endParaRPr lang="en-US" sz="1100" dirty="0"/>
          </a:p>
        </p:txBody>
      </p:sp>
      <p:sp>
        <p:nvSpPr>
          <p:cNvPr id="10" name="Shape 7"/>
          <p:cNvSpPr/>
          <p:nvPr/>
        </p:nvSpPr>
        <p:spPr>
          <a:xfrm>
            <a:off x="566928" y="4023360"/>
            <a:ext cx="2511552" cy="1600200"/>
          </a:xfrm>
          <a:prstGeom prst="roundRect">
            <a:avLst>
              <a:gd name="adj" fmla="val 2857"/>
            </a:avLst>
          </a:prstGeom>
          <a:solidFill>
            <a:srgbClr val="F6EFE8"/>
          </a:solidFill>
          <a:ln/>
        </p:spPr>
      </p:sp>
      <p:sp>
        <p:nvSpPr>
          <p:cNvPr id="11" name="Text 8"/>
          <p:cNvSpPr txBox="1"/>
          <p:nvPr/>
        </p:nvSpPr>
        <p:spPr>
          <a:xfrm>
            <a:off x="768096" y="4169664"/>
            <a:ext cx="210921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8A4B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Any n</a:t>
            </a:r>
            <a:endParaRPr lang="en-US" sz="1500" dirty="0"/>
          </a:p>
        </p:txBody>
      </p:sp>
      <p:sp>
        <p:nvSpPr>
          <p:cNvPr id="12" name="Text 9"/>
          <p:cNvSpPr txBox="1"/>
          <p:nvPr/>
        </p:nvSpPr>
        <p:spPr>
          <a:xfrm>
            <a:off x="768096" y="4498848"/>
            <a:ext cx="2109216" cy="9784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50" dirty="0">
                <a:solidFill>
                  <a:srgbClr val="2428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 cells on every control edge for n = 1, 2, 3, 4, 5 ... -- classical subdivision only gives 2, 4, 8.</a:t>
            </a:r>
            <a:endParaRPr lang="en-US" sz="1250" dirty="0"/>
          </a:p>
        </p:txBody>
      </p:sp>
      <p:sp>
        <p:nvSpPr>
          <p:cNvPr id="13" name="Shape 10"/>
          <p:cNvSpPr/>
          <p:nvPr/>
        </p:nvSpPr>
        <p:spPr>
          <a:xfrm>
            <a:off x="3316224" y="4023360"/>
            <a:ext cx="2511552" cy="1600200"/>
          </a:xfrm>
          <a:prstGeom prst="roundRect">
            <a:avLst>
              <a:gd name="adj" fmla="val 2857"/>
            </a:avLst>
          </a:prstGeom>
          <a:solidFill>
            <a:srgbClr val="F6EFE8"/>
          </a:solidFill>
          <a:ln/>
        </p:spPr>
      </p:sp>
      <p:sp>
        <p:nvSpPr>
          <p:cNvPr id="14" name="Text 11"/>
          <p:cNvSpPr txBox="1"/>
          <p:nvPr/>
        </p:nvSpPr>
        <p:spPr>
          <a:xfrm>
            <a:off x="3517392" y="4169664"/>
            <a:ext cx="210921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8A4B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Exactly on the limit surface</a:t>
            </a:r>
            <a:endParaRPr lang="en-US" sz="1500" dirty="0"/>
          </a:p>
        </p:txBody>
      </p:sp>
      <p:sp>
        <p:nvSpPr>
          <p:cNvPr id="15" name="Text 12"/>
          <p:cNvSpPr txBox="1"/>
          <p:nvPr/>
        </p:nvSpPr>
        <p:spPr>
          <a:xfrm>
            <a:off x="3517392" y="4498848"/>
            <a:ext cx="2109216" cy="9784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50" dirty="0">
                <a:solidFill>
                  <a:srgbClr val="2428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new vertex is evaluated on the limit surface; near odd corners the grid is reparameterised to stay even.</a:t>
            </a:r>
            <a:endParaRPr lang="en-US" sz="1250" dirty="0"/>
          </a:p>
        </p:txBody>
      </p:sp>
      <p:sp>
        <p:nvSpPr>
          <p:cNvPr id="16" name="Shape 13"/>
          <p:cNvSpPr/>
          <p:nvPr/>
        </p:nvSpPr>
        <p:spPr>
          <a:xfrm>
            <a:off x="6065520" y="4023360"/>
            <a:ext cx="2511552" cy="1600200"/>
          </a:xfrm>
          <a:prstGeom prst="roundRect">
            <a:avLst>
              <a:gd name="adj" fmla="val 2857"/>
            </a:avLst>
          </a:prstGeom>
          <a:solidFill>
            <a:srgbClr val="F6EFE8"/>
          </a:solidFill>
          <a:ln/>
        </p:spPr>
      </p:sp>
      <p:sp>
        <p:nvSpPr>
          <p:cNvPr id="17" name="Text 14"/>
          <p:cNvSpPr txBox="1"/>
          <p:nvPr/>
        </p:nvSpPr>
        <p:spPr>
          <a:xfrm>
            <a:off x="6266688" y="4169664"/>
            <a:ext cx="210921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8A4B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paper</a:t>
            </a:r>
            <a:endParaRPr lang="en-US" sz="1500" dirty="0"/>
          </a:p>
        </p:txBody>
      </p:sp>
      <p:sp>
        <p:nvSpPr>
          <p:cNvPr id="18" name="Text 15"/>
          <p:cNvSpPr txBox="1"/>
          <p:nvPr/>
        </p:nvSpPr>
        <p:spPr>
          <a:xfrm>
            <a:off x="6266688" y="4498848"/>
            <a:ext cx="2109216" cy="9784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50" dirty="0">
                <a:solidFill>
                  <a:srgbClr val="2428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Sabaliauskas, Uniform n-grids on Catmull-Clark limit surfaces of arbitrary polygon meshes (2026); a line-by-line port to pure Python.</a:t>
            </a:r>
            <a:endParaRPr lang="en-US" sz="1250" dirty="0"/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329184"/>
            <a:ext cx="80101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60" kern="0" dirty="0">
                <a:solidFill>
                  <a:srgbClr val="8A4B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SURFACE()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66928" y="548640"/>
            <a:ext cx="8010144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2428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Twenty-five surfaces by name</a:t>
            </a:r>
            <a:endParaRPr lang="en-US" sz="3000" dirty="0"/>
          </a:p>
        </p:txBody>
      </p:sp>
      <p:sp>
        <p:nvSpPr>
          <p:cNvPr id="4" name="Text 2"/>
          <p:cNvSpPr txBox="1"/>
          <p:nvPr/>
        </p:nvSpPr>
        <p:spPr>
          <a:xfrm>
            <a:off x="8119872" y="6382512"/>
            <a:ext cx="457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30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566928" y="1463040"/>
            <a:ext cx="4709160" cy="2148840"/>
          </a:xfrm>
          <a:prstGeom prst="roundRect">
            <a:avLst>
              <a:gd name="adj" fmla="val 2553"/>
            </a:avLst>
          </a:prstGeom>
          <a:solidFill>
            <a:srgbClr val="F7F7F8"/>
          </a:solidFill>
          <a:ln w="9525">
            <a:solidFill>
              <a:srgbClr val="E3E1DD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713232" y="1591056"/>
            <a:ext cx="4416552" cy="18928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15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print(add.surface_names())</a:t>
            </a:r>
            <a:endParaRPr lang="en-US" sz="115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15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add.surface("klein_bottle", [0, 0, 0], 4, 120)</a:t>
            </a:r>
            <a:endParaRPr lang="en-US" sz="115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15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add.surface("dini", [6, 0, 0], 4,</a:t>
            </a:r>
            <a:endParaRPr lang="en-US" sz="115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15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    color=lambda u, v: add.hsv(u / 12))</a:t>
            </a:r>
            <a:endParaRPr lang="en-US" sz="115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15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add.surface("pillow", [-6, 0, 0], 3, a=0.9)</a:t>
            </a:r>
            <a:endParaRPr lang="en-US" sz="1150" dirty="0"/>
          </a:p>
          <a:p>
            <a:pPr indent="0" marL="0">
              <a:lnSpc>
                <a:spcPts val="1600"/>
              </a:lnSpc>
              <a:buNone/>
            </a:pPr>
            <a:endParaRPr lang="en-US" sz="115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15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owl = add.surface_function("owl")   # bare f(u, v)</a:t>
            </a:r>
            <a:endParaRPr lang="en-US" sz="1150" dirty="0"/>
          </a:p>
        </p:txBody>
      </p:sp>
      <p:sp>
        <p:nvSpPr>
          <p:cNvPr id="7" name="Shape 5"/>
          <p:cNvSpPr/>
          <p:nvPr/>
        </p:nvSpPr>
        <p:spPr>
          <a:xfrm>
            <a:off x="5440680" y="1463040"/>
            <a:ext cx="3136392" cy="2148840"/>
          </a:xfrm>
          <a:prstGeom prst="roundRect">
            <a:avLst>
              <a:gd name="adj" fmla="val 2553"/>
            </a:avLst>
          </a:prstGeom>
          <a:solidFill>
            <a:srgbClr val="FAFAFA"/>
          </a:solidFill>
          <a:ln w="9525">
            <a:solidFill>
              <a:srgbClr val="E3E1DD"/>
            </a:solidFill>
            <a:prstDash val="solid"/>
          </a:ln>
        </p:spPr>
      </p:sp>
      <p:pic>
        <p:nvPicPr>
          <p:cNvPr id="8" name="Image 0" descr="/home/claude/add3d/docs/images/surface_zoo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5495544" y="1517904"/>
            <a:ext cx="3026664" cy="2039112"/>
          </a:xfrm>
          <a:prstGeom prst="rect">
            <a:avLst/>
          </a:prstGeom>
        </p:spPr>
      </p:pic>
      <p:sp>
        <p:nvSpPr>
          <p:cNvPr id="9" name="Text 6"/>
          <p:cNvSpPr txBox="1"/>
          <p:nvPr/>
        </p:nvSpPr>
        <p:spPr>
          <a:xfrm>
            <a:off x="5440680" y="3675888"/>
            <a:ext cx="313639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34_surface_zoo.py</a:t>
            </a:r>
            <a:endParaRPr lang="en-US" sz="1100" dirty="0"/>
          </a:p>
        </p:txBody>
      </p:sp>
      <p:sp>
        <p:nvSpPr>
          <p:cNvPr id="10" name="Shape 7"/>
          <p:cNvSpPr/>
          <p:nvPr/>
        </p:nvSpPr>
        <p:spPr>
          <a:xfrm>
            <a:off x="566928" y="3977640"/>
            <a:ext cx="3931920" cy="2011680"/>
          </a:xfrm>
          <a:prstGeom prst="roundRect">
            <a:avLst>
              <a:gd name="adj" fmla="val 2727"/>
            </a:avLst>
          </a:prstGeom>
          <a:solidFill>
            <a:srgbClr val="FAFAFA"/>
          </a:solidFill>
          <a:ln w="9525">
            <a:solidFill>
              <a:srgbClr val="E3E1DD"/>
            </a:solidFill>
            <a:prstDash val="solid"/>
          </a:ln>
        </p:spPr>
      </p:sp>
      <p:pic>
        <p:nvPicPr>
          <p:cNvPr id="11" name="Image 1" descr="/home/claude/add3d/docs/images/knot_curve.png">    </p:cNvPr>
          <p:cNvPicPr>
            <a:picLocks noChangeAspect="1"/>
          </p:cNvPicPr>
          <p:nvPr/>
        </p:nvPicPr>
        <p:blipFill>
          <a:blip r:embed="rId2"/>
          <a:srcRect l="0" r="0" t="0" b="0"/>
          <a:stretch/>
        </p:blipFill>
        <p:spPr>
          <a:xfrm>
            <a:off x="621792" y="4032504"/>
            <a:ext cx="3822192" cy="1901952"/>
          </a:xfrm>
          <a:prstGeom prst="rect">
            <a:avLst/>
          </a:prstGeom>
        </p:spPr>
      </p:pic>
      <p:sp>
        <p:nvSpPr>
          <p:cNvPr id="12" name="Text 8"/>
          <p:cNvSpPr txBox="1"/>
          <p:nvPr/>
        </p:nvSpPr>
        <p:spPr>
          <a:xfrm>
            <a:off x="566928" y="6053328"/>
            <a:ext cx="3931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35_knot_curve.py -- a knot from rotating circles, one curve() call</a:t>
            </a:r>
            <a:endParaRPr lang="en-US" sz="1100" dirty="0"/>
          </a:p>
        </p:txBody>
      </p:sp>
      <p:sp>
        <p:nvSpPr>
          <p:cNvPr id="13" name="Shape 9"/>
          <p:cNvSpPr/>
          <p:nvPr/>
        </p:nvSpPr>
        <p:spPr>
          <a:xfrm>
            <a:off x="4663440" y="3977640"/>
            <a:ext cx="3913632" cy="2011680"/>
          </a:xfrm>
          <a:prstGeom prst="roundRect">
            <a:avLst>
              <a:gd name="adj" fmla="val 2727"/>
            </a:avLst>
          </a:prstGeom>
          <a:solidFill>
            <a:srgbClr val="FAFAFA"/>
          </a:solidFill>
          <a:ln w="9525">
            <a:solidFill>
              <a:srgbClr val="E3E1DD"/>
            </a:solidFill>
            <a:prstDash val="solid"/>
          </a:ln>
        </p:spPr>
      </p:sp>
      <p:pic>
        <p:nvPicPr>
          <p:cNvPr id="14" name="Image 2" descr="/home/claude/add3d/docs/images/minecraft_sphere.png">    </p:cNvPr>
          <p:cNvPicPr>
            <a:picLocks noChangeAspect="1"/>
          </p:cNvPicPr>
          <p:nvPr/>
        </p:nvPicPr>
        <p:blipFill>
          <a:blip r:embed="rId3"/>
          <a:srcRect l="0" r="0" t="0" b="0"/>
          <a:stretch/>
        </p:blipFill>
        <p:spPr>
          <a:xfrm>
            <a:off x="4718304" y="4032504"/>
            <a:ext cx="3803904" cy="1901952"/>
          </a:xfrm>
          <a:prstGeom prst="rect">
            <a:avLst/>
          </a:prstGeom>
        </p:spPr>
      </p:pic>
      <p:sp>
        <p:nvSpPr>
          <p:cNvPr id="15" name="Text 10"/>
          <p:cNvSpPr txBox="1"/>
          <p:nvPr/>
        </p:nvSpPr>
        <p:spPr>
          <a:xfrm>
            <a:off x="4663440" y="6053328"/>
            <a:ext cx="391363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36_minecraft_sphere.py -- Maple, blocks, geodesic</a:t>
            </a:r>
            <a:endParaRPr lang="en-US" sz="1100" dirty="0"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329184"/>
            <a:ext cx="80101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60" kern="0" dirty="0">
                <a:solidFill>
                  <a:srgbClr val="8A4B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.OBJ + .MTL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66928" y="548640"/>
            <a:ext cx="8010144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2428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Glass, pictures and the Sketchfab limits</a:t>
            </a:r>
            <a:endParaRPr lang="en-US" sz="3000" dirty="0"/>
          </a:p>
        </p:txBody>
      </p:sp>
      <p:sp>
        <p:nvSpPr>
          <p:cNvPr id="4" name="Text 2"/>
          <p:cNvSpPr txBox="1"/>
          <p:nvPr/>
        </p:nvSpPr>
        <p:spPr>
          <a:xfrm>
            <a:off x="8119872" y="6382512"/>
            <a:ext cx="457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31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566928" y="1463040"/>
            <a:ext cx="4709160" cy="2148840"/>
          </a:xfrm>
          <a:prstGeom prst="roundRect">
            <a:avLst>
              <a:gd name="adj" fmla="val 2553"/>
            </a:avLst>
          </a:prstGeom>
          <a:solidFill>
            <a:srgbClr val="F7F7F8"/>
          </a:solidFill>
          <a:ln w="9525">
            <a:solidFill>
              <a:srgbClr val="E3E1DD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713232" y="1591056"/>
            <a:ext cx="4416552" cy="18928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05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glass = add.transparent("sky", 0.35)     # 0..1</a:t>
            </a:r>
            <a:endParaRPr lang="en-US" sz="105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05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wall = add.make(add.cuboid, [0, 1.5, 0], [6, 3, 0.3])</a:t>
            </a:r>
            <a:endParaRPr lang="en-US" sz="105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05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hole = add.make(add.cuboid, [0, 1.6, 0], [2, 1.2, 1])</a:t>
            </a:r>
            <a:endParaRPr lang="en-US" sz="105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05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wall = add.difference(wall, hole)  # cut first,</a:t>
            </a:r>
            <a:endParaRPr lang="en-US" sz="105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05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add.mesh(add.texture(wall, "bricks.png"))  # then</a:t>
            </a:r>
            <a:endParaRPr lang="en-US" sz="105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05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the pane, in the opening</a:t>
            </a:r>
            <a:endParaRPr lang="en-US" sz="105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05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add.cuboid([0, 1.6, 0], [2, 1.2, 0.03], glass)</a:t>
            </a:r>
            <a:endParaRPr lang="en-US" sz="1050" dirty="0"/>
          </a:p>
          <a:p>
            <a:pPr indent="0" marL="0">
              <a:lnSpc>
                <a:spcPts val="1600"/>
              </a:lnSpc>
              <a:buNone/>
            </a:pPr>
            <a:endParaRPr lang="en-US" sz="105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05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add.check()     # &lt;= 50 MB, &lt;= 50 colours</a:t>
            </a:r>
            <a:endParaRPr lang="en-US" sz="105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05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add.save("house.obj", colors=50)   # .mtl</a:t>
            </a:r>
            <a:endParaRPr lang="en-US" sz="1050" dirty="0"/>
          </a:p>
        </p:txBody>
      </p:sp>
      <p:sp>
        <p:nvSpPr>
          <p:cNvPr id="7" name="Shape 5"/>
          <p:cNvSpPr/>
          <p:nvPr/>
        </p:nvSpPr>
        <p:spPr>
          <a:xfrm>
            <a:off x="5440680" y="1463040"/>
            <a:ext cx="3136392" cy="2148840"/>
          </a:xfrm>
          <a:prstGeom prst="roundRect">
            <a:avLst>
              <a:gd name="adj" fmla="val 2553"/>
            </a:avLst>
          </a:prstGeom>
          <a:solidFill>
            <a:srgbClr val="FAFAFA"/>
          </a:solidFill>
          <a:ln w="9525">
            <a:solidFill>
              <a:srgbClr val="E3E1DD"/>
            </a:solidFill>
            <a:prstDash val="solid"/>
          </a:ln>
        </p:spPr>
      </p:sp>
      <p:pic>
        <p:nvPicPr>
          <p:cNvPr id="8" name="Image 0" descr="/home/claude/add3d/docs/images/glass_and_textures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5495544" y="1517904"/>
            <a:ext cx="3026664" cy="2039112"/>
          </a:xfrm>
          <a:prstGeom prst="rect">
            <a:avLst/>
          </a:prstGeom>
        </p:spPr>
      </p:pic>
      <p:sp>
        <p:nvSpPr>
          <p:cNvPr id="9" name="Text 6"/>
          <p:cNvSpPr txBox="1"/>
          <p:nvPr/>
        </p:nvSpPr>
        <p:spPr>
          <a:xfrm>
            <a:off x="5440680" y="3675888"/>
            <a:ext cx="313639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45_glass_and_textures.py -- a room behind the glass</a:t>
            </a:r>
            <a:endParaRPr lang="en-US" sz="1100" dirty="0"/>
          </a:p>
        </p:txBody>
      </p:sp>
      <p:sp>
        <p:nvSpPr>
          <p:cNvPr id="10" name="Shape 7"/>
          <p:cNvSpPr/>
          <p:nvPr/>
        </p:nvSpPr>
        <p:spPr>
          <a:xfrm>
            <a:off x="566928" y="4023360"/>
            <a:ext cx="2511552" cy="1600200"/>
          </a:xfrm>
          <a:prstGeom prst="roundRect">
            <a:avLst>
              <a:gd name="adj" fmla="val 2857"/>
            </a:avLst>
          </a:prstGeom>
          <a:solidFill>
            <a:srgbClr val="F6EFE8"/>
          </a:solidFill>
          <a:ln/>
        </p:spPr>
      </p:sp>
      <p:sp>
        <p:nvSpPr>
          <p:cNvPr id="11" name="Text 8"/>
          <p:cNvSpPr txBox="1"/>
          <p:nvPr/>
        </p:nvSpPr>
        <p:spPr>
          <a:xfrm>
            <a:off x="768096" y="4169664"/>
            <a:ext cx="210921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8A4B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Optional</a:t>
            </a:r>
            <a:endParaRPr lang="en-US" sz="1500" dirty="0"/>
          </a:p>
        </p:txBody>
      </p:sp>
      <p:sp>
        <p:nvSpPr>
          <p:cNvPr id="12" name="Text 9"/>
          <p:cNvSpPr txBox="1"/>
          <p:nvPr/>
        </p:nvSpPr>
        <p:spPr>
          <a:xfrm>
            <a:off x="768096" y="4498848"/>
            <a:ext cx="2109216" cy="9784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50" dirty="0">
                <a:solidFill>
                  <a:srgbClr val="2428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Without transparent/texture everything is exactly as before; .off files keep plain colours.</a:t>
            </a:r>
            <a:endParaRPr lang="en-US" sz="1250" dirty="0"/>
          </a:p>
        </p:txBody>
      </p:sp>
      <p:sp>
        <p:nvSpPr>
          <p:cNvPr id="13" name="Shape 10"/>
          <p:cNvSpPr/>
          <p:nvPr/>
        </p:nvSpPr>
        <p:spPr>
          <a:xfrm>
            <a:off x="3316224" y="4023360"/>
            <a:ext cx="2511552" cy="1600200"/>
          </a:xfrm>
          <a:prstGeom prst="roundRect">
            <a:avLst>
              <a:gd name="adj" fmla="val 2857"/>
            </a:avLst>
          </a:prstGeom>
          <a:solidFill>
            <a:srgbClr val="F6EFE8"/>
          </a:solidFill>
          <a:ln/>
        </p:spPr>
      </p:sp>
      <p:sp>
        <p:nvSpPr>
          <p:cNvPr id="14" name="Text 11"/>
          <p:cNvSpPr txBox="1"/>
          <p:nvPr/>
        </p:nvSpPr>
        <p:spPr>
          <a:xfrm>
            <a:off x="3517392" y="4169664"/>
            <a:ext cx="210921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8A4B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Limits</a:t>
            </a:r>
            <a:endParaRPr lang="en-US" sz="1500" dirty="0"/>
          </a:p>
        </p:txBody>
      </p:sp>
      <p:sp>
        <p:nvSpPr>
          <p:cNvPr id="15" name="Text 12"/>
          <p:cNvSpPr txBox="1"/>
          <p:nvPr/>
        </p:nvSpPr>
        <p:spPr>
          <a:xfrm>
            <a:off x="3517392" y="4498848"/>
            <a:ext cx="2109216" cy="9784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50" dirty="0">
                <a:solidFill>
                  <a:srgbClr val="2428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Sketchfab: 100 MB free plan, 100 materials merged beyond that. The course: 50 MB, 50 colours. limit_colors() and obj_size() help.</a:t>
            </a:r>
            <a:endParaRPr lang="en-US" sz="1250" dirty="0"/>
          </a:p>
        </p:txBody>
      </p:sp>
      <p:sp>
        <p:nvSpPr>
          <p:cNvPr id="16" name="Shape 13"/>
          <p:cNvSpPr/>
          <p:nvPr/>
        </p:nvSpPr>
        <p:spPr>
          <a:xfrm>
            <a:off x="6065520" y="4023360"/>
            <a:ext cx="2511552" cy="1600200"/>
          </a:xfrm>
          <a:prstGeom prst="roundRect">
            <a:avLst>
              <a:gd name="adj" fmla="val 2857"/>
            </a:avLst>
          </a:prstGeom>
          <a:solidFill>
            <a:srgbClr val="F6EFE8"/>
          </a:solidFill>
          <a:ln/>
        </p:spPr>
      </p:sp>
      <p:sp>
        <p:nvSpPr>
          <p:cNvPr id="17" name="Text 14"/>
          <p:cNvSpPr txBox="1"/>
          <p:nvPr/>
        </p:nvSpPr>
        <p:spPr>
          <a:xfrm>
            <a:off x="6266688" y="4169664"/>
            <a:ext cx="210921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8A4B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Pictures from code</a:t>
            </a:r>
            <a:endParaRPr lang="en-US" sz="1500" dirty="0"/>
          </a:p>
        </p:txBody>
      </p:sp>
      <p:sp>
        <p:nvSpPr>
          <p:cNvPr id="18" name="Text 15"/>
          <p:cNvSpPr txBox="1"/>
          <p:nvPr/>
        </p:nvSpPr>
        <p:spPr>
          <a:xfrm>
            <a:off x="6266688" y="4498848"/>
            <a:ext cx="2109216" cy="9784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50" dirty="0">
                <a:solidFill>
                  <a:srgbClr val="2428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write_png("bricks.png", rows) writes a picture you computed -- no image files needed.</a:t>
            </a:r>
            <a:endParaRPr lang="en-US" sz="1250" dirty="0"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329184"/>
            <a:ext cx="80101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60" kern="0" dirty="0">
                <a:solidFill>
                  <a:srgbClr val="8A4B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46_CASTLE.PY, STREAM()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66928" y="548640"/>
            <a:ext cx="8010144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2428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castle: a model bigger than memory</a:t>
            </a:r>
            <a:endParaRPr lang="en-US" sz="3000" dirty="0"/>
          </a:p>
        </p:txBody>
      </p:sp>
      <p:sp>
        <p:nvSpPr>
          <p:cNvPr id="4" name="Text 2"/>
          <p:cNvSpPr txBox="1"/>
          <p:nvPr/>
        </p:nvSpPr>
        <p:spPr>
          <a:xfrm>
            <a:off x="8119872" y="6382512"/>
            <a:ext cx="457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32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566928" y="1325880"/>
            <a:ext cx="4846320" cy="3108960"/>
          </a:xfrm>
          <a:prstGeom prst="roundRect">
            <a:avLst>
              <a:gd name="adj" fmla="val 1765"/>
            </a:avLst>
          </a:prstGeom>
          <a:solidFill>
            <a:srgbClr val="FAFAFA"/>
          </a:solidFill>
          <a:ln w="9525">
            <a:solidFill>
              <a:srgbClr val="E3E1DD"/>
            </a:solidFill>
            <a:prstDash val="solid"/>
          </a:ln>
        </p:spPr>
      </p:sp>
      <p:pic>
        <p:nvPicPr>
          <p:cNvPr id="6" name="Image 0" descr="/home/claude/add3d/docs/images/castle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621792" y="1380744"/>
            <a:ext cx="4736592" cy="2999232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566928" y="4498848"/>
            <a:ext cx="4846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textures, every stone a polygon: a 400 MB .off and an .obj that 7-Zip brings under 100 MB for Sketchfab</a:t>
            </a:r>
            <a:endParaRPr lang="en-US" sz="1100" dirty="0"/>
          </a:p>
        </p:txBody>
      </p:sp>
      <p:sp>
        <p:nvSpPr>
          <p:cNvPr id="8" name="Shape 5"/>
          <p:cNvSpPr/>
          <p:nvPr/>
        </p:nvSpPr>
        <p:spPr>
          <a:xfrm>
            <a:off x="5349240" y="1325880"/>
            <a:ext cx="3246120" cy="1417320"/>
          </a:xfrm>
          <a:prstGeom prst="roundRect">
            <a:avLst>
              <a:gd name="adj" fmla="val 3871"/>
            </a:avLst>
          </a:prstGeom>
          <a:solidFill>
            <a:srgbClr val="FAFAFA"/>
          </a:solidFill>
          <a:ln w="9525">
            <a:solidFill>
              <a:srgbClr val="E3E1DD"/>
            </a:solidFill>
            <a:prstDash val="solid"/>
          </a:ln>
        </p:spPr>
      </p:sp>
      <p:pic>
        <p:nvPicPr>
          <p:cNvPr id="9" name="Image 1" descr="/home/claude/add3d/docs/images/castle_hall.png">    </p:cNvPr>
          <p:cNvPicPr>
            <a:picLocks noChangeAspect="1"/>
          </p:cNvPicPr>
          <p:nvPr/>
        </p:nvPicPr>
        <p:blipFill>
          <a:blip r:embed="rId2"/>
          <a:srcRect l="0" r="0" t="0" b="0"/>
          <a:stretch/>
        </p:blipFill>
        <p:spPr>
          <a:xfrm>
            <a:off x="5404104" y="1380744"/>
            <a:ext cx="3136392" cy="1307592"/>
          </a:xfrm>
          <a:prstGeom prst="rect">
            <a:avLst/>
          </a:prstGeom>
        </p:spPr>
      </p:pic>
      <p:sp>
        <p:nvSpPr>
          <p:cNvPr id="10" name="Text 6"/>
          <p:cNvSpPr txBox="1"/>
          <p:nvPr/>
        </p:nvSpPr>
        <p:spPr>
          <a:xfrm>
            <a:off x="5349240" y="2807208"/>
            <a:ext cx="3246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throne hall and the feast</a:t>
            </a:r>
            <a:endParaRPr lang="en-US" sz="1100" dirty="0"/>
          </a:p>
        </p:txBody>
      </p:sp>
      <p:sp>
        <p:nvSpPr>
          <p:cNvPr id="11" name="Shape 7"/>
          <p:cNvSpPr/>
          <p:nvPr/>
        </p:nvSpPr>
        <p:spPr>
          <a:xfrm>
            <a:off x="5349240" y="3017520"/>
            <a:ext cx="3246120" cy="1417320"/>
          </a:xfrm>
          <a:prstGeom prst="roundRect">
            <a:avLst>
              <a:gd name="adj" fmla="val 3871"/>
            </a:avLst>
          </a:prstGeom>
          <a:solidFill>
            <a:srgbClr val="FAFAFA"/>
          </a:solidFill>
          <a:ln w="9525">
            <a:solidFill>
              <a:srgbClr val="E3E1DD"/>
            </a:solidFill>
            <a:prstDash val="solid"/>
          </a:ln>
        </p:spPr>
      </p:sp>
      <p:pic>
        <p:nvPicPr>
          <p:cNvPr id="12" name="Image 2" descr="/home/claude/add3d/docs/images/castle_treasury.png">    </p:cNvPr>
          <p:cNvPicPr>
            <a:picLocks noChangeAspect="1"/>
          </p:cNvPicPr>
          <p:nvPr/>
        </p:nvPicPr>
        <p:blipFill>
          <a:blip r:embed="rId3"/>
          <a:srcRect l="0" r="0" t="0" b="0"/>
          <a:stretch/>
        </p:blipFill>
        <p:spPr>
          <a:xfrm>
            <a:off x="5404104" y="3072384"/>
            <a:ext cx="3136392" cy="1307592"/>
          </a:xfrm>
          <a:prstGeom prst="rect">
            <a:avLst/>
          </a:prstGeom>
        </p:spPr>
      </p:pic>
      <p:sp>
        <p:nvSpPr>
          <p:cNvPr id="13" name="Text 8"/>
          <p:cNvSpPr txBox="1"/>
          <p:nvPr/>
        </p:nvSpPr>
        <p:spPr>
          <a:xfrm>
            <a:off x="5349240" y="4498848"/>
            <a:ext cx="3246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dragon on the treasure</a:t>
            </a:r>
            <a:endParaRPr lang="en-US" sz="1100" dirty="0"/>
          </a:p>
        </p:txBody>
      </p:sp>
      <p:sp>
        <p:nvSpPr>
          <p:cNvPr id="14" name="Shape 9"/>
          <p:cNvSpPr/>
          <p:nvPr/>
        </p:nvSpPr>
        <p:spPr>
          <a:xfrm>
            <a:off x="566928" y="5074920"/>
            <a:ext cx="8321040" cy="960120"/>
          </a:xfrm>
          <a:prstGeom prst="roundRect">
            <a:avLst>
              <a:gd name="adj" fmla="val 5714"/>
            </a:avLst>
          </a:prstGeom>
          <a:solidFill>
            <a:srgbClr val="F7F7F8"/>
          </a:solidFill>
          <a:ln w="9525">
            <a:solidFill>
              <a:srgbClr val="E3E1DD"/>
            </a:solidFill>
            <a:prstDash val="solid"/>
          </a:ln>
        </p:spPr>
      </p:sp>
      <p:sp>
        <p:nvSpPr>
          <p:cNvPr id="15" name="Text 10"/>
          <p:cNvSpPr txBox="1"/>
          <p:nvPr/>
        </p:nvSpPr>
        <p:spPr>
          <a:xfrm>
            <a:off x="713232" y="5202936"/>
            <a:ext cx="8028432" cy="7040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10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out = add.stream("castle.off", precision=4)   # parts go to disk at once,</a:t>
            </a:r>
            <a:endParaRPr lang="en-US" sz="110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10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wall_of_bricks(); out.add()   # tidied (no overlaps), written, cleared</a:t>
            </a:r>
            <a:endParaRPr lang="en-US" sz="110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10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out.close()                   # fills in the OFF header (.mtl for .obj)</a:t>
            </a:r>
            <a:endParaRPr lang="en-US" sz="1100" dirty="0"/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329184"/>
            <a:ext cx="80101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60" kern="0" dirty="0">
                <a:solidFill>
                  <a:srgbClr val="8A4B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FILES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66928" y="548640"/>
            <a:ext cx="8010144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2428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Saving and sharing a model</a:t>
            </a:r>
            <a:endParaRPr lang="en-US" sz="3000" dirty="0"/>
          </a:p>
        </p:txBody>
      </p:sp>
      <p:sp>
        <p:nvSpPr>
          <p:cNvPr id="4" name="Text 2"/>
          <p:cNvSpPr txBox="1"/>
          <p:nvPr/>
        </p:nvSpPr>
        <p:spPr>
          <a:xfrm>
            <a:off x="8119872" y="6382512"/>
            <a:ext cx="457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33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566928" y="1463040"/>
            <a:ext cx="4572000" cy="1508760"/>
          </a:xfrm>
          <a:prstGeom prst="roundRect">
            <a:avLst>
              <a:gd name="adj" fmla="val 3636"/>
            </a:avLst>
          </a:prstGeom>
          <a:solidFill>
            <a:srgbClr val="F7F7F8"/>
          </a:solidFill>
          <a:ln w="9525">
            <a:solidFill>
              <a:srgbClr val="E3E1DD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713232" y="1591056"/>
            <a:ext cx="4279392" cy="12527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5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add.save("model.off")   # the course format</a:t>
            </a:r>
            <a:endParaRPr lang="en-US" sz="125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25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add.save("model.obj")   # + .mtl for colours</a:t>
            </a:r>
            <a:endParaRPr lang="en-US" sz="125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25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add.save("model.ply")</a:t>
            </a:r>
            <a:endParaRPr lang="en-US" sz="125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25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add.save("model.stl")   # for 3D printing</a:t>
            </a:r>
            <a:endParaRPr lang="en-US" sz="1250" dirty="0"/>
          </a:p>
        </p:txBody>
      </p:sp>
      <p:sp>
        <p:nvSpPr>
          <p:cNvPr id="7" name="Shape 5"/>
          <p:cNvSpPr/>
          <p:nvPr/>
        </p:nvSpPr>
        <p:spPr>
          <a:xfrm>
            <a:off x="566928" y="3154680"/>
            <a:ext cx="3886200" cy="1234440"/>
          </a:xfrm>
          <a:prstGeom prst="roundRect">
            <a:avLst>
              <a:gd name="adj" fmla="val 3704"/>
            </a:avLst>
          </a:prstGeom>
          <a:solidFill>
            <a:srgbClr val="F6EFE8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768096" y="3300984"/>
            <a:ext cx="348386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8A4B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Sketchfab</a:t>
            </a:r>
            <a:endParaRPr lang="en-US" sz="1500" dirty="0"/>
          </a:p>
        </p:txBody>
      </p:sp>
      <p:sp>
        <p:nvSpPr>
          <p:cNvPr id="9" name="Text 7"/>
          <p:cNvSpPr txBox="1"/>
          <p:nvPr/>
        </p:nvSpPr>
        <p:spPr>
          <a:xfrm>
            <a:off x="768096" y="3630168"/>
            <a:ext cx="3483864" cy="6126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50" dirty="0">
                <a:solidFill>
                  <a:srgbClr val="2428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Put .obj and .mtl in one archive and upload -- anyone can turn the model in a browser.</a:t>
            </a:r>
            <a:endParaRPr lang="en-US" sz="1250" dirty="0"/>
          </a:p>
        </p:txBody>
      </p:sp>
      <p:sp>
        <p:nvSpPr>
          <p:cNvPr id="10" name="Shape 8"/>
          <p:cNvSpPr/>
          <p:nvPr/>
        </p:nvSpPr>
        <p:spPr>
          <a:xfrm>
            <a:off x="4690872" y="3154680"/>
            <a:ext cx="3886200" cy="1234440"/>
          </a:xfrm>
          <a:prstGeom prst="roundRect">
            <a:avLst>
              <a:gd name="adj" fmla="val 3704"/>
            </a:avLst>
          </a:prstGeom>
          <a:solidFill>
            <a:srgbClr val="F6EFE8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4892040" y="3300984"/>
            <a:ext cx="348386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8A4B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3D printing</a:t>
            </a:r>
            <a:endParaRPr lang="en-US" sz="1500" dirty="0"/>
          </a:p>
        </p:txBody>
      </p:sp>
      <p:sp>
        <p:nvSpPr>
          <p:cNvPr id="12" name="Text 10"/>
          <p:cNvSpPr txBox="1"/>
          <p:nvPr/>
        </p:nvSpPr>
        <p:spPr>
          <a:xfrm>
            <a:off x="4892040" y="3630168"/>
            <a:ext cx="3483864" cy="6126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50" dirty="0">
                <a:solidFill>
                  <a:srgbClr val="2428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clean(..., normals=True), then save("m.stl"). The surface must be closed.</a:t>
            </a:r>
            <a:endParaRPr lang="en-US" sz="1250" dirty="0"/>
          </a:p>
        </p:txBody>
      </p:sp>
      <p:sp>
        <p:nvSpPr>
          <p:cNvPr id="13" name="Shape 11"/>
          <p:cNvSpPr/>
          <p:nvPr/>
        </p:nvSpPr>
        <p:spPr>
          <a:xfrm>
            <a:off x="566928" y="4626864"/>
            <a:ext cx="3886200" cy="1234440"/>
          </a:xfrm>
          <a:prstGeom prst="roundRect">
            <a:avLst>
              <a:gd name="adj" fmla="val 3704"/>
            </a:avLst>
          </a:prstGeom>
          <a:solidFill>
            <a:srgbClr val="F6EFE8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768096" y="4773168"/>
            <a:ext cx="348386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8A4B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Preview without MeshLab</a:t>
            </a:r>
            <a:endParaRPr lang="en-US" sz="1500" dirty="0"/>
          </a:p>
        </p:txBody>
      </p:sp>
      <p:sp>
        <p:nvSpPr>
          <p:cNvPr id="15" name="Text 13"/>
          <p:cNvSpPr txBox="1"/>
          <p:nvPr/>
        </p:nvSpPr>
        <p:spPr>
          <a:xfrm>
            <a:off x="768096" y="5102352"/>
            <a:ext cx="3483864" cy="6126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50" dirty="0">
                <a:solidFill>
                  <a:srgbClr val="2428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python3 tools/preview.py model.off writes a PNG. No libraries either.</a:t>
            </a:r>
            <a:endParaRPr lang="en-US" sz="1250" dirty="0"/>
          </a:p>
        </p:txBody>
      </p:sp>
      <p:sp>
        <p:nvSpPr>
          <p:cNvPr id="16" name="Shape 14"/>
          <p:cNvSpPr/>
          <p:nvPr/>
        </p:nvSpPr>
        <p:spPr>
          <a:xfrm>
            <a:off x="4690872" y="4626864"/>
            <a:ext cx="3886200" cy="1234440"/>
          </a:xfrm>
          <a:prstGeom prst="roundRect">
            <a:avLst>
              <a:gd name="adj" fmla="val 3704"/>
            </a:avLst>
          </a:prstGeom>
          <a:solidFill>
            <a:srgbClr val="F6EFE8"/>
          </a:solidFill>
          <a:ln/>
        </p:spPr>
      </p:sp>
      <p:sp>
        <p:nvSpPr>
          <p:cNvPr id="17" name="Text 15"/>
          <p:cNvSpPr txBox="1"/>
          <p:nvPr/>
        </p:nvSpPr>
        <p:spPr>
          <a:xfrm>
            <a:off x="4892040" y="4773168"/>
            <a:ext cx="348386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8A4B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Loading back</a:t>
            </a:r>
            <a:endParaRPr lang="en-US" sz="1500" dirty="0"/>
          </a:p>
        </p:txBody>
      </p:sp>
      <p:sp>
        <p:nvSpPr>
          <p:cNvPr id="18" name="Text 16"/>
          <p:cNvSpPr txBox="1"/>
          <p:nvPr/>
        </p:nvSpPr>
        <p:spPr>
          <a:xfrm>
            <a:off x="4892040" y="5102352"/>
            <a:ext cx="3483864" cy="6126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50" dirty="0">
                <a:solidFill>
                  <a:srgbClr val="2428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load("letter.off") returns a mesh you can move and paint.</a:t>
            </a:r>
            <a:endParaRPr lang="en-US" sz="1250" dirty="0"/>
          </a:p>
        </p:txBody>
      </p:sp>
      <p:sp>
        <p:nvSpPr>
          <p:cNvPr id="19" name="Text 17"/>
          <p:cNvSpPr txBox="1"/>
          <p:nvPr/>
        </p:nvSpPr>
        <p:spPr>
          <a:xfrm>
            <a:off x="5303520" y="1691640"/>
            <a:ext cx="329184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dirty="0">
                <a:solidFill>
                  <a:srgbClr val="8A4B1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MeshLab conversion step is gone -- add.py writes OBJ and MTL itself.</a:t>
            </a:r>
            <a:endParaRPr lang="en-US" sz="1700" dirty="0"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329184"/>
            <a:ext cx="80101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60" kern="0" dirty="0">
                <a:solidFill>
                  <a:srgbClr val="8A4B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GALLERY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66928" y="548640"/>
            <a:ext cx="8010144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2428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Complete models</a:t>
            </a:r>
            <a:endParaRPr lang="en-US" sz="3000" dirty="0"/>
          </a:p>
        </p:txBody>
      </p:sp>
      <p:sp>
        <p:nvSpPr>
          <p:cNvPr id="4" name="Text 2"/>
          <p:cNvSpPr txBox="1"/>
          <p:nvPr/>
        </p:nvSpPr>
        <p:spPr>
          <a:xfrm>
            <a:off x="8119872" y="6382512"/>
            <a:ext cx="457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34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566928" y="1417320"/>
            <a:ext cx="3931920" cy="2377440"/>
          </a:xfrm>
          <a:prstGeom prst="roundRect">
            <a:avLst>
              <a:gd name="adj" fmla="val 2308"/>
            </a:avLst>
          </a:prstGeom>
          <a:solidFill>
            <a:srgbClr val="FAFAFA"/>
          </a:solidFill>
          <a:ln w="9525">
            <a:solidFill>
              <a:srgbClr val="E3E1DD"/>
            </a:solidFill>
            <a:prstDash val="solid"/>
          </a:ln>
        </p:spPr>
      </p:sp>
      <p:pic>
        <p:nvPicPr>
          <p:cNvPr id="6" name="Image 0" descr="/home/claude/add3d/docs/images/temple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621792" y="1472184"/>
            <a:ext cx="3822192" cy="2267712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566928" y="3858768"/>
            <a:ext cx="3931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25_temple.py -- columns on a circle, a chequered floor</a:t>
            </a:r>
            <a:endParaRPr lang="en-US" sz="1100" dirty="0"/>
          </a:p>
        </p:txBody>
      </p:sp>
      <p:sp>
        <p:nvSpPr>
          <p:cNvPr id="8" name="Shape 5"/>
          <p:cNvSpPr/>
          <p:nvPr/>
        </p:nvSpPr>
        <p:spPr>
          <a:xfrm>
            <a:off x="4663440" y="1417320"/>
            <a:ext cx="3913632" cy="2377440"/>
          </a:xfrm>
          <a:prstGeom prst="roundRect">
            <a:avLst>
              <a:gd name="adj" fmla="val 2308"/>
            </a:avLst>
          </a:prstGeom>
          <a:solidFill>
            <a:srgbClr val="FAFAFA"/>
          </a:solidFill>
          <a:ln w="9525">
            <a:solidFill>
              <a:srgbClr val="E3E1DD"/>
            </a:solidFill>
            <a:prstDash val="solid"/>
          </a:ln>
        </p:spPr>
      </p:sp>
      <p:pic>
        <p:nvPicPr>
          <p:cNvPr id="9" name="Image 1" descr="/home/claude/add3d/docs/images/bridge.png">    </p:cNvPr>
          <p:cNvPicPr>
            <a:picLocks noChangeAspect="1"/>
          </p:cNvPicPr>
          <p:nvPr/>
        </p:nvPicPr>
        <p:blipFill>
          <a:blip r:embed="rId2"/>
          <a:srcRect l="0" r="0" t="0" b="0"/>
          <a:stretch/>
        </p:blipFill>
        <p:spPr>
          <a:xfrm>
            <a:off x="4718304" y="1472184"/>
            <a:ext cx="3803904" cy="2267712"/>
          </a:xfrm>
          <a:prstGeom prst="rect">
            <a:avLst/>
          </a:prstGeom>
        </p:spPr>
      </p:pic>
      <p:sp>
        <p:nvSpPr>
          <p:cNvPr id="10" name="Text 6"/>
          <p:cNvSpPr txBox="1"/>
          <p:nvPr/>
        </p:nvSpPr>
        <p:spPr>
          <a:xfrm>
            <a:off x="4663440" y="3858768"/>
            <a:ext cx="391363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29_bridge.py -- beams, cables, hangers, cars along the road</a:t>
            </a:r>
            <a:endParaRPr lang="en-US" sz="1100" dirty="0"/>
          </a:p>
        </p:txBody>
      </p:sp>
      <p:sp>
        <p:nvSpPr>
          <p:cNvPr id="11" name="Shape 7"/>
          <p:cNvSpPr/>
          <p:nvPr/>
        </p:nvSpPr>
        <p:spPr>
          <a:xfrm>
            <a:off x="566928" y="4160520"/>
            <a:ext cx="3931920" cy="1920240"/>
          </a:xfrm>
          <a:prstGeom prst="roundRect">
            <a:avLst>
              <a:gd name="adj" fmla="val 2857"/>
            </a:avLst>
          </a:prstGeom>
          <a:solidFill>
            <a:srgbClr val="FAFAFA"/>
          </a:solidFill>
          <a:ln w="9525">
            <a:solidFill>
              <a:srgbClr val="E3E1DD"/>
            </a:solidFill>
            <a:prstDash val="solid"/>
          </a:ln>
        </p:spPr>
      </p:sp>
      <p:pic>
        <p:nvPicPr>
          <p:cNvPr id="12" name="Image 2" descr="/home/claude/add3d/docs/images/voxel_island.png">    </p:cNvPr>
          <p:cNvPicPr>
            <a:picLocks noChangeAspect="1"/>
          </p:cNvPicPr>
          <p:nvPr/>
        </p:nvPicPr>
        <p:blipFill>
          <a:blip r:embed="rId3"/>
          <a:srcRect l="0" r="0" t="0" b="0"/>
          <a:stretch/>
        </p:blipFill>
        <p:spPr>
          <a:xfrm>
            <a:off x="621792" y="4215384"/>
            <a:ext cx="3822192" cy="1810512"/>
          </a:xfrm>
          <a:prstGeom prst="rect">
            <a:avLst/>
          </a:prstGeom>
        </p:spPr>
      </p:pic>
      <p:sp>
        <p:nvSpPr>
          <p:cNvPr id="13" name="Shape 8"/>
          <p:cNvSpPr/>
          <p:nvPr/>
        </p:nvSpPr>
        <p:spPr>
          <a:xfrm>
            <a:off x="4663440" y="4160520"/>
            <a:ext cx="3913632" cy="1920240"/>
          </a:xfrm>
          <a:prstGeom prst="roundRect">
            <a:avLst>
              <a:gd name="adj" fmla="val 2857"/>
            </a:avLst>
          </a:prstGeom>
          <a:solidFill>
            <a:srgbClr val="FAFAFA"/>
          </a:solidFill>
          <a:ln w="9525">
            <a:solidFill>
              <a:srgbClr val="E3E1DD"/>
            </a:solidFill>
            <a:prstDash val="solid"/>
          </a:ln>
        </p:spPr>
      </p:sp>
      <p:pic>
        <p:nvPicPr>
          <p:cNvPr id="14" name="Image 3" descr="/home/claude/add3d/docs/images/vector_fields.png">    </p:cNvPr>
          <p:cNvPicPr>
            <a:picLocks noChangeAspect="1"/>
          </p:cNvPicPr>
          <p:nvPr/>
        </p:nvPicPr>
        <p:blipFill>
          <a:blip r:embed="rId4"/>
          <a:srcRect l="0" r="0" t="0" b="0"/>
          <a:stretch/>
        </p:blipFill>
        <p:spPr>
          <a:xfrm>
            <a:off x="4718304" y="4215384"/>
            <a:ext cx="3803904" cy="1810512"/>
          </a:xfrm>
          <a:prstGeom prst="rect">
            <a:avLst/>
          </a:prstGeom>
        </p:spPr>
      </p:pic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329184"/>
            <a:ext cx="80101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60" kern="0" dirty="0">
                <a:solidFill>
                  <a:srgbClr val="8A4B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GALLERY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66928" y="548640"/>
            <a:ext cx="8010144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2428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Larger studies</a:t>
            </a:r>
            <a:endParaRPr lang="en-US" sz="3000" dirty="0"/>
          </a:p>
        </p:txBody>
      </p:sp>
      <p:sp>
        <p:nvSpPr>
          <p:cNvPr id="4" name="Text 2"/>
          <p:cNvSpPr txBox="1"/>
          <p:nvPr/>
        </p:nvSpPr>
        <p:spPr>
          <a:xfrm>
            <a:off x="8119872" y="6382512"/>
            <a:ext cx="457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35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566928" y="1417320"/>
            <a:ext cx="3931920" cy="2377440"/>
          </a:xfrm>
          <a:prstGeom prst="roundRect">
            <a:avLst>
              <a:gd name="adj" fmla="val 2308"/>
            </a:avLst>
          </a:prstGeom>
          <a:solidFill>
            <a:srgbClr val="FAFAFA"/>
          </a:solidFill>
          <a:ln w="9525">
            <a:solidFill>
              <a:srgbClr val="E3E1DD"/>
            </a:solidFill>
            <a:prstDash val="solid"/>
          </a:ln>
        </p:spPr>
      </p:sp>
      <p:pic>
        <p:nvPicPr>
          <p:cNvPr id="6" name="Image 0" descr="/home/claude/add3d/docs/images/chess_set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621792" y="1472184"/>
            <a:ext cx="3822192" cy="2267712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566928" y="3858768"/>
            <a:ext cx="3931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18_chess_set.py -- lathe, layers, booleans</a:t>
            </a:r>
            <a:endParaRPr lang="en-US" sz="1100" dirty="0"/>
          </a:p>
        </p:txBody>
      </p:sp>
      <p:sp>
        <p:nvSpPr>
          <p:cNvPr id="8" name="Shape 5"/>
          <p:cNvSpPr/>
          <p:nvPr/>
        </p:nvSpPr>
        <p:spPr>
          <a:xfrm>
            <a:off x="4663440" y="1417320"/>
            <a:ext cx="3913632" cy="2377440"/>
          </a:xfrm>
          <a:prstGeom prst="roundRect">
            <a:avLst>
              <a:gd name="adj" fmla="val 2308"/>
            </a:avLst>
          </a:prstGeom>
          <a:solidFill>
            <a:srgbClr val="FAFAFA"/>
          </a:solidFill>
          <a:ln w="9525">
            <a:solidFill>
              <a:srgbClr val="E3E1DD"/>
            </a:solidFill>
            <a:prstDash val="solid"/>
          </a:ln>
        </p:spPr>
      </p:sp>
      <p:pic>
        <p:nvPicPr>
          <p:cNvPr id="9" name="Image 1" descr="/home/claude/add3d/docs/images/fractals.png">    </p:cNvPr>
          <p:cNvPicPr>
            <a:picLocks noChangeAspect="1"/>
          </p:cNvPicPr>
          <p:nvPr/>
        </p:nvPicPr>
        <p:blipFill>
          <a:blip r:embed="rId2"/>
          <a:srcRect l="0" r="0" t="0" b="0"/>
          <a:stretch/>
        </p:blipFill>
        <p:spPr>
          <a:xfrm>
            <a:off x="4718304" y="1472184"/>
            <a:ext cx="3803904" cy="2267712"/>
          </a:xfrm>
          <a:prstGeom prst="rect">
            <a:avLst/>
          </a:prstGeom>
        </p:spPr>
      </p:pic>
      <p:sp>
        <p:nvSpPr>
          <p:cNvPr id="10" name="Text 6"/>
          <p:cNvSpPr txBox="1"/>
          <p:nvPr/>
        </p:nvSpPr>
        <p:spPr>
          <a:xfrm>
            <a:off x="4663440" y="3858768"/>
            <a:ext cx="391363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17_fractals.py -- Menger sponge, Sierpinski, a tree</a:t>
            </a:r>
            <a:endParaRPr lang="en-US" sz="1100" dirty="0"/>
          </a:p>
        </p:txBody>
      </p:sp>
      <p:sp>
        <p:nvSpPr>
          <p:cNvPr id="11" name="Shape 7"/>
          <p:cNvSpPr/>
          <p:nvPr/>
        </p:nvSpPr>
        <p:spPr>
          <a:xfrm>
            <a:off x="566928" y="4160520"/>
            <a:ext cx="3931920" cy="1920240"/>
          </a:xfrm>
          <a:prstGeom prst="roundRect">
            <a:avLst>
              <a:gd name="adj" fmla="val 2857"/>
            </a:avLst>
          </a:prstGeom>
          <a:solidFill>
            <a:srgbClr val="FAFAFA"/>
          </a:solidFill>
          <a:ln w="9525">
            <a:solidFill>
              <a:srgbClr val="E3E1DD"/>
            </a:solidFill>
            <a:prstDash val="solid"/>
          </a:ln>
        </p:spPr>
      </p:sp>
      <p:pic>
        <p:nvPicPr>
          <p:cNvPr id="12" name="Image 2" descr="/home/claude/add3d/docs/images/city.png">    </p:cNvPr>
          <p:cNvPicPr>
            <a:picLocks noChangeAspect="1"/>
          </p:cNvPicPr>
          <p:nvPr/>
        </p:nvPicPr>
        <p:blipFill>
          <a:blip r:embed="rId3"/>
          <a:srcRect l="0" r="0" t="0" b="0"/>
          <a:stretch/>
        </p:blipFill>
        <p:spPr>
          <a:xfrm>
            <a:off x="621792" y="4215384"/>
            <a:ext cx="3822192" cy="1810512"/>
          </a:xfrm>
          <a:prstGeom prst="rect">
            <a:avLst/>
          </a:prstGeom>
        </p:spPr>
      </p:pic>
      <p:sp>
        <p:nvSpPr>
          <p:cNvPr id="13" name="Shape 8"/>
          <p:cNvSpPr/>
          <p:nvPr/>
        </p:nvSpPr>
        <p:spPr>
          <a:xfrm>
            <a:off x="4663440" y="4160520"/>
            <a:ext cx="3913632" cy="1920240"/>
          </a:xfrm>
          <a:prstGeom prst="roundRect">
            <a:avLst>
              <a:gd name="adj" fmla="val 2857"/>
            </a:avLst>
          </a:prstGeom>
          <a:solidFill>
            <a:srgbClr val="FAFAFA"/>
          </a:solidFill>
          <a:ln w="9525">
            <a:solidFill>
              <a:srgbClr val="E3E1DD"/>
            </a:solidFill>
            <a:prstDash val="solid"/>
          </a:ln>
        </p:spPr>
      </p:sp>
      <p:pic>
        <p:nvPicPr>
          <p:cNvPr id="14" name="Image 3" descr="/home/claude/add3d/docs/images/example4.png">    </p:cNvPr>
          <p:cNvPicPr>
            <a:picLocks noChangeAspect="1"/>
          </p:cNvPicPr>
          <p:nvPr/>
        </p:nvPicPr>
        <p:blipFill>
          <a:blip r:embed="rId4"/>
          <a:srcRect l="0" r="0" t="0" b="0"/>
          <a:stretch/>
        </p:blipFill>
        <p:spPr>
          <a:xfrm>
            <a:off x="4718304" y="4215384"/>
            <a:ext cx="3803904" cy="1810512"/>
          </a:xfrm>
          <a:prstGeom prst="rect">
            <a:avLst/>
          </a:prstGeom>
        </p:spPr>
      </p:pic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329184"/>
            <a:ext cx="80101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60" kern="0" dirty="0">
                <a:solidFill>
                  <a:srgbClr val="8A4B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COMPATIBILITY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66928" y="548640"/>
            <a:ext cx="8010144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2428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From 1.2 to 2.0</a:t>
            </a:r>
            <a:endParaRPr lang="en-US" sz="3000" dirty="0"/>
          </a:p>
        </p:txBody>
      </p:sp>
      <p:sp>
        <p:nvSpPr>
          <p:cNvPr id="4" name="Text 2"/>
          <p:cNvSpPr txBox="1"/>
          <p:nvPr/>
        </p:nvSpPr>
        <p:spPr>
          <a:xfrm>
            <a:off x="8119872" y="6382512"/>
            <a:ext cx="457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36</a:t>
            </a:r>
            <a:endParaRPr lang="en-US" sz="1000" dirty="0"/>
          </a:p>
        </p:txBody>
      </p:sp>
      <p:graphicFrame>
        <p:nvGraphicFramePr>
          <p:cNvPr id="3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66928" y="1463040"/>
          <a:ext cx="8010144" cy="914400"/>
        </p:xfrm>
        <a:graphic>
          <a:graphicData uri="http://schemas.openxmlformats.org/drawingml/2006/table">
            <a:tbl>
              <a:tblPr/>
              <a:tblGrid>
                <a:gridCol w="3200400"/>
                <a:gridCol w="2011680"/>
                <a:gridCol w="2798064"/>
              </a:tblGrid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add.py 1.2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3E1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1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1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1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8A4B1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add.py 2.0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3E1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1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1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1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8A4B1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what it is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3E1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1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1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1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8A4B1E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24282E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cube2(c, e, b, RGB)</a:t>
                      </a:r>
                      <a:endParaRPr lang="en-US" sz="115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3E1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1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1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1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8A4B1E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frame</a:t>
                      </a:r>
                      <a:endParaRPr lang="en-US" sz="115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3E1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1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1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1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2428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 hollow cube of bars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3E1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1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1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1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24282E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cylinder2(A, B, r, k, RGB)</a:t>
                      </a:r>
                      <a:endParaRPr lang="en-US" sz="115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3E1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1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1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1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8A4B1E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tube</a:t>
                      </a:r>
                      <a:endParaRPr lang="en-US" sz="115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3E1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1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1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1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2428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 cylinder with no lids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3E1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1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1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1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24282E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cylinder3(A, B, r, k, RGB)</a:t>
                      </a:r>
                      <a:endParaRPr lang="en-US" sz="115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3E1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1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1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1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8A4B1E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cup</a:t>
                      </a:r>
                      <a:endParaRPr lang="en-US" sz="115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3E1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1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1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1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2428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closed at one end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3E1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1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1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1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24282E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cone2(A, B, r, k, RGB)</a:t>
                      </a:r>
                      <a:endParaRPr lang="en-US" sz="115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3E1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1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1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1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8A4B1E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cone_open</a:t>
                      </a:r>
                      <a:endParaRPr lang="en-US" sz="115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3E1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1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1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1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2428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the slanted wall only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3E1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1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1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1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24282E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rectangle3D(c, e, RGB)</a:t>
                      </a:r>
                      <a:endParaRPr lang="en-US" sz="115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3E1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1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1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1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8A4B1E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cuboid</a:t>
                      </a:r>
                      <a:endParaRPr lang="en-US" sz="115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3E1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1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1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1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2428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 rectangular block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3E1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1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1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1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24282E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newface(A, RGB)</a:t>
                      </a:r>
                      <a:endParaRPr lang="en-US" sz="115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3E1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1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1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1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8A4B1E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polygon</a:t>
                      </a:r>
                      <a:endParaRPr lang="en-US" sz="115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3E1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1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1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1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2428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one flat face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3E1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1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1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1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24282E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spin3D(A, B, S, ...)</a:t>
                      </a:r>
                      <a:endParaRPr lang="en-US" sz="115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3E1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1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1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1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8A4B1E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revolve</a:t>
                      </a:r>
                      <a:endParaRPr lang="en-US" sz="115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3E1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1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1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1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2428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 lathe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3E1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1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1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1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24282E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off(file)</a:t>
                      </a:r>
                      <a:endParaRPr lang="en-US" sz="115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3E1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1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1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1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8A4B1E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save(file)</a:t>
                      </a:r>
                      <a:endParaRPr lang="en-US" sz="115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3E1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1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1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1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2428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.off, .obj, .ply or .stl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3E1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1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1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1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6" name="Shape 3"/>
          <p:cNvSpPr/>
          <p:nvPr/>
        </p:nvSpPr>
        <p:spPr>
          <a:xfrm>
            <a:off x="566928" y="4892040"/>
            <a:ext cx="8010144" cy="1051560"/>
          </a:xfrm>
          <a:prstGeom prst="roundRect">
            <a:avLst>
              <a:gd name="adj" fmla="val 4348"/>
            </a:avLst>
          </a:prstGeom>
          <a:solidFill>
            <a:srgbClr val="F6EFE8"/>
          </a:solidFill>
          <a:ln/>
        </p:spPr>
      </p:sp>
      <p:sp>
        <p:nvSpPr>
          <p:cNvPr id="7" name="Text 4"/>
          <p:cNvSpPr txBox="1"/>
          <p:nvPr/>
        </p:nvSpPr>
        <p:spPr>
          <a:xfrm>
            <a:off x="795528" y="5074920"/>
            <a:ext cx="7552944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2428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All the old names still work. Twelve models written for 1.2 live in tests/legacy/, and the tests check that they produce exactly as many faces as before (only sphere changed: it is geodesic now; quadsphere is the old one). examples/32_old_names.py is a whole model in the 1.2 vocabulary.</a:t>
            </a:r>
            <a:endParaRPr lang="en-US" sz="1300" dirty="0"/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8">
    <p:bg>
      <p:bgPr>
        <a:solidFill>
          <a:srgbClr val="241C1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1051560"/>
            <a:ext cx="8010144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Where to find everything</a:t>
            </a:r>
            <a:endParaRPr lang="en-US" sz="3800" dirty="0"/>
          </a:p>
        </p:txBody>
      </p:sp>
      <p:sp>
        <p:nvSpPr>
          <p:cNvPr id="3" name="Text 1"/>
          <p:cNvSpPr txBox="1"/>
          <p:nvPr/>
        </p:nvSpPr>
        <p:spPr>
          <a:xfrm>
            <a:off x="566928" y="2057400"/>
            <a:ext cx="5120640" cy="3108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200"/>
              </a:lnSpc>
              <a:buNone/>
            </a:pPr>
            <a:r>
              <a:rPr lang="en-US" sz="1400" dirty="0">
                <a:solidFill>
                  <a:srgbClr val="E9C9A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module, the examples, the tests and the documentation
</a:t>
            </a:r>
            <a:endParaRPr lang="en-US" sz="1400" dirty="0"/>
          </a:p>
          <a:p>
            <a:pPr indent="0" marL="0">
              <a:lnSpc>
                <a:spcPts val="2200"/>
              </a:lnSpc>
              <a:buNone/>
            </a:pPr>
            <a:r>
              <a:rPr lang="en-US" sz="17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github.com/…/add3d
</a:t>
            </a:r>
            <a:endParaRPr lang="en-US" sz="1400" dirty="0"/>
          </a:p>
          <a:p>
            <a:pPr indent="0" marL="0">
              <a:lnSpc>
                <a:spcPts val="2200"/>
              </a:lnSpc>
              <a:buNone/>
            </a:pPr>
            <a:r>
              <a:rPr lang="en-US" sz="1400" dirty="0">
                <a:solidFill>
                  <a:srgbClr val="E9C9A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Documentation in English and Lithuanian
</a:t>
            </a:r>
            <a:endParaRPr lang="en-US" sz="1400" dirty="0"/>
          </a:p>
          <a:p>
            <a:pPr indent="0" marL="0">
              <a:lnSpc>
                <a:spcPts val="2200"/>
              </a:lnSpc>
              <a:buNone/>
            </a:pPr>
            <a:r>
              <a:rPr lang="en-US" sz="17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…github.io/add3d
</a:t>
            </a:r>
            <a:endParaRPr lang="en-US" sz="1400" dirty="0"/>
          </a:p>
          <a:p>
            <a:pPr indent="0" marL="0">
              <a:lnSpc>
                <a:spcPts val="2200"/>
              </a:lnSpc>
              <a:buNone/>
            </a:pPr>
            <a:r>
              <a:rPr lang="en-US" sz="1400" dirty="0">
                <a:solidFill>
                  <a:srgbClr val="E9C9A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Questions
</a:t>
            </a:r>
            <a:endParaRPr lang="en-US" sz="1400" dirty="0"/>
          </a:p>
          <a:p>
            <a:pPr indent="0" marL="0">
              <a:lnSpc>
                <a:spcPts val="2200"/>
              </a:lnSpc>
              <a:buNone/>
            </a:pPr>
            <a:r>
              <a:rPr lang="en-US" sz="15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akatasis@gmail.com  ·  martynas.sabaliauskas@mif.vu.lt</a:t>
            </a:r>
            <a:endParaRPr lang="en-US" sz="1400" dirty="0"/>
          </a:p>
        </p:txBody>
      </p:sp>
      <p:pic>
        <p:nvPicPr>
          <p:cNvPr id="4" name="Image 0" descr="/home/claude/add3d/docs/images/supershapes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5486400" y="1920240"/>
            <a:ext cx="3108960" cy="2194560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566928" y="5577840"/>
            <a:ext cx="801014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C9BFB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Thank you.</a:t>
            </a:r>
            <a:endParaRPr lang="en-US" sz="20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38</Slides>
  <Notes>38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38</vt:i4>
      </vt:variant>
    </vt:vector>
  </HeadingPairs>
  <TitlesOfParts>
    <vt:vector size="41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  <vt:lpstr>Slide 33</vt:lpstr>
      <vt:lpstr>Slide 34</vt:lpstr>
      <vt:lpstr>Slide 35</vt:lpstr>
      <vt:lpstr>Slide 36</vt:lpstr>
      <vt:lpstr>Slide 37</vt:lpstr>
      <vt:lpstr>Slide 38</vt:lpstr>
    </vt:vector>
  </TitlesOfParts>
  <Company>Vilnius University, MIF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add.py 2.0</dc:title>
  <dc:subject>PptxGenJS Presentation</dc:subject>
  <dc:creator>Martynas Sabaliauskas</dc:creator>
  <cp:lastModifiedBy>Martynas Sabaliauskas</cp:lastModifiedBy>
  <cp:revision>1</cp:revision>
  <dcterms:created xsi:type="dcterms:W3CDTF">2026-09-25T14:49:45Z</dcterms:created>
  <dcterms:modified xsi:type="dcterms:W3CDTF">2026-09-25T14:49:45Z</dcterms:modified>
</cp:coreProperties>
</file>