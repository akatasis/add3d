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add.py part of the first lecture, updated for version 2.0 -- for students and for anyone who wants to build 3D models from code. The module is refreshed every year; 2.0 is the largest change since 1.2.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message: nothing has to be rewritten. For students and for anyone interested.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MeshLab used to be required for OBJ. Not any more.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students who write C++: the same library, the same functions, the same numbers -- and the same file as the Python program writes. All 43 example programs have a .cpp twin (the castle's: its Python, translated).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36 shows the same sphere three ways: the Maple cube-sphere, a ball of blocks, the geodesic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43 example programs, 42 of them also in C++; every public function is used by at least one of them (python3 tools/coverage.py), and every model fits the Sketchfab limits.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students: start with examples/01_first_model.py, then 02_primitives.py. For the assignment, examples 06-16 and the complete models 22-33 are the most useful.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hyperlink" Target="https://skfb.ly/pOnRS" TargetMode="External"/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hyperlink" Target="https://skfb.ly/pOnR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C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143000"/>
            <a:ext cx="8010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add.py 2.0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057400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9C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3D models with nothing but code -- in Python or in C++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66928" y="2880360"/>
            <a:ext cx="8010144" cy="2926080"/>
          </a:xfrm>
          <a:prstGeom prst="roundRect">
            <a:avLst>
              <a:gd name="adj" fmla="val 1250"/>
            </a:avLst>
          </a:prstGeom>
          <a:solidFill>
            <a:srgbClr val="F4F3F1"/>
          </a:solidFill>
          <a:ln/>
        </p:spPr>
      </p:sp>
      <p:pic>
        <p:nvPicPr>
          <p:cNvPr id="5" name="Image 0" descr="/home/claude/add3d/docs/images/lighthous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953512"/>
            <a:ext cx="7863840" cy="277977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66928" y="6035040"/>
            <a:ext cx="8010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B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and Data Structures  ·  Algorithm Design and Analysis  ·  creative assignment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ADD.PY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new in 2.0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508760"/>
            <a:ext cx="3886200" cy="1170432"/>
          </a:xfrm>
          <a:prstGeom prst="roundRect">
            <a:avLst>
              <a:gd name="adj" fmla="val 3906"/>
            </a:avLst>
          </a:prstGeom>
          <a:solidFill>
            <a:srgbClr val="F6EFE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8096" y="1655064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operations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1984248"/>
            <a:ext cx="3483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union, intersect, difference -- written from scratch, no libraries.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90872" y="1508760"/>
            <a:ext cx="3886200" cy="1170432"/>
          </a:xfrm>
          <a:prstGeom prst="roundRect">
            <a:avLst>
              <a:gd name="adj" fmla="val 3906"/>
            </a:avLst>
          </a:prstGeom>
          <a:solidFill>
            <a:srgbClr val="F6EFE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92040" y="1655064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polyhedra and a geodesic sphere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984248"/>
            <a:ext cx="3483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tetrahedron ... icosahedron, centred; sphere() is now a dome of triangles.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2916936"/>
            <a:ext cx="3886200" cy="1170432"/>
          </a:xfrm>
          <a:prstGeom prst="roundRect">
            <a:avLst>
              <a:gd name="adj" fmla="val 3906"/>
            </a:avLst>
          </a:prstGeom>
          <a:solidFill>
            <a:srgbClr val="F6EF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68096" y="3063240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surfaces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" y="3392424"/>
            <a:ext cx="3483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catmull_clark, and smooth(): the generalised Catmull-Clark algorithm, any number of cells per edge.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90872" y="2916936"/>
            <a:ext cx="3886200" cy="1170432"/>
          </a:xfrm>
          <a:prstGeom prst="roundRect">
            <a:avLst>
              <a:gd name="adj" fmla="val 3906"/>
            </a:avLst>
          </a:prstGeom>
          <a:solidFill>
            <a:srgbClr val="F6EFE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92040" y="3063240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tools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3392424"/>
            <a:ext cx="3483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set_vertex, neighbors, valence, dual, truncate -- a football from the vertices of an icosahedron.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4325112"/>
            <a:ext cx="3886200" cy="1170432"/>
          </a:xfrm>
          <a:prstGeom prst="roundRect">
            <a:avLst>
              <a:gd name="adj" fmla="val 3906"/>
            </a:avLst>
          </a:prstGeom>
          <a:solidFill>
            <a:srgbClr val="F6EFE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68096" y="4471416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surfaces, colour functions, parts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68096" y="4800600"/>
            <a:ext cx="3483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surfaces by name; color=lambda u, v: ...; beam, wheel, gear, roof, tree, text ...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690872" y="4325112"/>
            <a:ext cx="3886200" cy="1170432"/>
          </a:xfrm>
          <a:prstGeom prst="roundRect">
            <a:avLst>
              <a:gd name="adj" fmla="val 3906"/>
            </a:avLst>
          </a:prstGeom>
          <a:solidFill>
            <a:srgbClr val="F6EFE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92040" y="4471416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Sketchfab-ready export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92040" y="4800600"/>
            <a:ext cx="3483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check() watches the 50 MB / 50 colour limits; glass (transparent) and image textures go into the .mtl.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5742432"/>
            <a:ext cx="7461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written for 1.2 keeps working without a single change -- and all of it now comes for C++ too: add.hpp, one header, the same functions, the same models.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creative assignment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17320"/>
            <a:ext cx="48463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2480"/>
              </a:lnSpc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3D model using nothing but program source code.</a:t>
            </a:r>
            <a:endParaRPr lang="en-US" sz="1600" dirty="0"/>
          </a:p>
          <a:p>
            <a:pPr marL="177800" indent="-177800">
              <a:lnSpc>
                <a:spcPts val="248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format: OFF or OBJ.</a:t>
            </a:r>
            <a:endParaRPr lang="en-US" sz="1600" dirty="0"/>
          </a:p>
          <a:p>
            <a:pPr marL="177800" indent="-177800">
              <a:lnSpc>
                <a:spcPts val="248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10 000 polygons.</a:t>
            </a:r>
            <a:endParaRPr lang="en-US" sz="1600" dirty="0"/>
          </a:p>
          <a:p>
            <a:pPr marL="177800" indent="-177800">
              <a:lnSpc>
                <a:spcPts val="248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3 different colours.</a:t>
            </a:r>
            <a:endParaRPr lang="en-US" sz="1600" dirty="0"/>
          </a:p>
          <a:p>
            <a:pPr marL="177800" indent="-177800">
              <a:lnSpc>
                <a:spcPts val="248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 must contain a for or while loop.</a:t>
            </a:r>
            <a:endParaRPr lang="en-US" sz="1600" dirty="0"/>
          </a:p>
          <a:p>
            <a:pPr marL="177800" indent="-177800">
              <a:lnSpc>
                <a:spcPts val="248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parameter that changes the shape.</a:t>
            </a:r>
            <a:endParaRPr lang="en-US" sz="1600" dirty="0"/>
          </a:p>
          <a:p>
            <a:pPr marL="177800" indent="-177800">
              <a:lnSpc>
                <a:spcPts val="248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3D modelling programs.</a:t>
            </a:r>
            <a:endParaRPr lang="en-US" sz="1600" dirty="0"/>
          </a:p>
          <a:p>
            <a:pPr marL="177800" indent="-177800">
              <a:lnSpc>
                <a:spcPts val="248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Individually or in pairs.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532120" y="1481328"/>
            <a:ext cx="3044952" cy="2148840"/>
          </a:xfrm>
          <a:prstGeom prst="roundRect">
            <a:avLst>
              <a:gd name="adj" fmla="val 2553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7" name="Image 0" descr="/home/claude/add3d/docs/images/ci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86984" y="1536192"/>
            <a:ext cx="2935224" cy="20391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532120" y="3694176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 (SEED) decides the whole city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532120" y="4251960"/>
            <a:ext cx="3044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4B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add.check()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you which requirements are already met.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tools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508760"/>
            <a:ext cx="3886200" cy="1188720"/>
          </a:xfrm>
          <a:prstGeom prst="roundRect">
            <a:avLst>
              <a:gd name="adj" fmla="val 3846"/>
            </a:avLst>
          </a:prstGeom>
          <a:solidFill>
            <a:srgbClr val="F6EFE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8096" y="1655064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1984248"/>
            <a:ext cx="3483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else to install: add.py uses only math and random.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90872" y="1508760"/>
            <a:ext cx="3886200" cy="1188720"/>
          </a:xfrm>
          <a:prstGeom prst="roundRect">
            <a:avLst>
              <a:gd name="adj" fmla="val 3846"/>
            </a:avLst>
          </a:prstGeom>
          <a:solidFill>
            <a:srgbClr val="F6EFE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92040" y="1655064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add.py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984248"/>
            <a:ext cx="3483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 next to your script. Downloaded from GitHub (project add3d).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2935224"/>
            <a:ext cx="3886200" cy="1188720"/>
          </a:xfrm>
          <a:prstGeom prst="roundRect">
            <a:avLst>
              <a:gd name="adj" fmla="val 3846"/>
            </a:avLst>
          </a:prstGeom>
          <a:solidFill>
            <a:srgbClr val="F6EF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68096" y="3081528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tools/preview.py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" y="3410712"/>
            <a:ext cx="3483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a model without any other program: writes a PNG.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90872" y="2935224"/>
            <a:ext cx="3886200" cy="1188720"/>
          </a:xfrm>
          <a:prstGeom prst="roundRect">
            <a:avLst>
              <a:gd name="adj" fmla="val 3846"/>
            </a:avLst>
          </a:prstGeom>
          <a:solidFill>
            <a:srgbClr val="F6EFE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92040" y="3081528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GeoGebra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3410712"/>
            <a:ext cx="3483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Handy for checking curve and surface formulas before coding them.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4361688"/>
            <a:ext cx="3886200" cy="1188720"/>
          </a:xfrm>
          <a:prstGeom prst="roundRect">
            <a:avLst>
              <a:gd name="adj" fmla="val 3846"/>
            </a:avLst>
          </a:prstGeom>
          <a:solidFill>
            <a:srgbClr val="F6EFE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68096" y="4507992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MeshLab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68096" y="4837176"/>
            <a:ext cx="3483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Viewing and converting OFF. No longer required: add.py writes OBJ itself.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690872" y="4361688"/>
            <a:ext cx="3886200" cy="1188720"/>
          </a:xfrm>
          <a:prstGeom prst="roundRect">
            <a:avLst>
              <a:gd name="adj" fmla="val 3846"/>
            </a:avLst>
          </a:prstGeom>
          <a:solidFill>
            <a:srgbClr val="F6EFE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92040" y="4507992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Sketchfab.com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92040" y="4837176"/>
            <a:ext cx="3483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.obj + .mtl in one archive -- and anyone can turn the model in a browser.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model is two lists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81328"/>
            <a:ext cx="3749040" cy="2286000"/>
          </a:xfrm>
          <a:prstGeom prst="roundRect">
            <a:avLst>
              <a:gd name="adj" fmla="val 2400"/>
            </a:avLst>
          </a:prstGeom>
          <a:solidFill>
            <a:srgbClr val="F7F7F8"/>
          </a:solidFill>
          <a:ln w="9525">
            <a:solidFill>
              <a:srgbClr val="E3E1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609344"/>
            <a:ext cx="3456432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8 6 0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-1 -1 -1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-1 -1  1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4 0 4 5 1 255 0 0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4 0 1 3 2 255 0 0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1572768"/>
            <a:ext cx="4023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428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-- the format's name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428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8 6 0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-- number of vertices, faces and edges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the vertex coordinates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428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4 0 4 5 1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-- a quadrilateral joining vertices 0, 4, 5 and 1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428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255 0 0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-- the face's colour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4069080"/>
            <a:ext cx="8010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drawing function in the library does the same thing: it works out some points and adds some faces.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6928" y="4709160"/>
            <a:ext cx="3749040" cy="1234440"/>
          </a:xfrm>
          <a:prstGeom prst="roundRect">
            <a:avLst>
              <a:gd name="adj" fmla="val 4444"/>
            </a:avLst>
          </a:prstGeom>
          <a:solidFill>
            <a:srgbClr val="F7F7F8"/>
          </a:solidFill>
          <a:ln w="9525">
            <a:solidFill>
              <a:srgbClr val="E3E1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4837176"/>
            <a:ext cx="34564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add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add.box([0, 0, 0], 2, "red")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add.save("cube.off")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51206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cube -- four lines.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and outside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17320"/>
            <a:ext cx="47548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2403"/>
              </a:lnSpc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 from outside the model, the corners of a face run counter-clockwise.</a:t>
            </a:r>
            <a:endParaRPr lang="en-US" sz="1550" dirty="0"/>
          </a:p>
          <a:p>
            <a:pPr marL="177800" indent="-177800">
              <a:lnSpc>
                <a:spcPts val="2403"/>
              </a:lnSpc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 from inside -- clockwise.</a:t>
            </a:r>
            <a:endParaRPr lang="en-US" sz="1550" dirty="0"/>
          </a:p>
          <a:p>
            <a:pPr marL="177800" indent="-177800">
              <a:lnSpc>
                <a:spcPts val="2403"/>
              </a:lnSpc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face the wrong way round is drawn black or not at all.</a:t>
            </a:r>
            <a:endParaRPr lang="en-US" sz="1550" dirty="0"/>
          </a:p>
          <a:p>
            <a:pPr marL="177800" indent="-177800">
              <a:lnSpc>
                <a:spcPts val="2403"/>
              </a:lnSpc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library orients its own shapes; you only think about it when writing add.polygon(...) by hand.</a:t>
            </a:r>
            <a:endParaRPr lang="en-US" sz="1550" dirty="0"/>
          </a:p>
          <a:p>
            <a:pPr marL="177800" indent="-177800">
              <a:lnSpc>
                <a:spcPts val="2403"/>
              </a:lnSpc>
              <a:spcAft>
                <a:spcPts val="600"/>
              </a:spcAft>
              <a:buSzPct val="100000"/>
              <a:buChar char="•"/>
            </a:pPr>
            <a:r>
              <a:rPr lang="en-US" sz="1550" b="1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add.fix_normals(M) fixes a whole model; add.check() says whether the surface is closed.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40680" y="1481328"/>
            <a:ext cx="3136392" cy="2212848"/>
          </a:xfrm>
          <a:prstGeom prst="roundRect">
            <a:avLst>
              <a:gd name="adj" fmla="val 2479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7" name="Image 0" descr="/home/claude/add3d/docs/images/two_si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95544" y="1536192"/>
            <a:ext cx="3026664" cy="21031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40680" y="3758184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saddle: sheet, two-sided, solid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IDEA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scene, layers and meshes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81328"/>
            <a:ext cx="4800600" cy="2103120"/>
          </a:xfrm>
          <a:prstGeom prst="roundRect">
            <a:avLst>
              <a:gd name="adj" fmla="val 2609"/>
            </a:avLst>
          </a:prstGeom>
          <a:solidFill>
            <a:srgbClr val="F7F7F8"/>
          </a:solidFill>
          <a:ln w="9525">
            <a:solidFill>
              <a:srgbClr val="E3E1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609344"/>
            <a:ext cx="4507992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add.box([0, 0, 0], 1, "red")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brick = add.layer()     # the scene is empty again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range(10):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add.mesh(add.move(brick, [i * 1.2, 0, 0]))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add.save("wall.off")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3794760"/>
            <a:ext cx="3886200" cy="1133856"/>
          </a:xfrm>
          <a:prstGeom prst="roundRect">
            <a:avLst>
              <a:gd name="adj" fmla="val 4032"/>
            </a:avLst>
          </a:prstGeom>
          <a:solidFill>
            <a:srgbClr val="F6EF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68096" y="3941064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layer()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4270248"/>
            <a:ext cx="3483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the scene out as a mesh and leaves the scene empty.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90872" y="3794760"/>
            <a:ext cx="3886200" cy="1133856"/>
          </a:xfrm>
          <a:prstGeom prst="roundRect">
            <a:avLst>
              <a:gd name="adj" fmla="val 4032"/>
            </a:avLst>
          </a:prstGeom>
          <a:solidFill>
            <a:srgbClr val="F6EFE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92040" y="3941064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mesh(M)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4270248"/>
            <a:ext cx="3483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Puts a mesh back into the scene.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5166360"/>
            <a:ext cx="3886200" cy="1133856"/>
          </a:xfrm>
          <a:prstGeom prst="roundRect">
            <a:avLst>
              <a:gd name="adj" fmla="val 4032"/>
            </a:avLst>
          </a:prstGeom>
          <a:solidFill>
            <a:srgbClr val="F6EF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8096" y="5312664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merge([...])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68096" y="5641848"/>
            <a:ext cx="3483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several meshes into one.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690872" y="5166360"/>
            <a:ext cx="3886200" cy="1133856"/>
          </a:xfrm>
          <a:prstGeom prst="roundRect">
            <a:avLst>
              <a:gd name="adj" fmla="val 4032"/>
            </a:avLst>
          </a:prstGeom>
          <a:solidFill>
            <a:srgbClr val="F6EFE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92040" y="5312664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push() / pop()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5641848"/>
            <a:ext cx="3483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a function that builds a part: put the scene aside, then bring it back.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577840" y="18745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8A4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once -- place many times.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5577840" y="2743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 never change the mesh you give them -- they return a new one.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first model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81328"/>
            <a:ext cx="4114800" cy="2606040"/>
          </a:xfrm>
          <a:prstGeom prst="roundRect">
            <a:avLst>
              <a:gd name="adj" fmla="val 2105"/>
            </a:avLst>
          </a:prstGeom>
          <a:solidFill>
            <a:srgbClr val="F7F7F8"/>
          </a:solidFill>
          <a:ln w="9525">
            <a:solidFill>
              <a:srgbClr val="E3E1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609344"/>
            <a:ext cx="3822192" cy="2350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add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add.box([0, 0, 0], 2, "red")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add.sphere([3, 0, 0], 1, 20, "blue")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add.cylinder([0, 2, 0], [3, 2, 0],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0.3, 24, "gold")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add.check()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add.save("first.off")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937760" y="1481328"/>
            <a:ext cx="3639312" cy="2606040"/>
          </a:xfrm>
          <a:prstGeom prst="roundRect">
            <a:avLst>
              <a:gd name="adj" fmla="val 2105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8" name="Image 0" descr="/home/claude/add3d/docs/images/first_mode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92624" y="1536192"/>
            <a:ext cx="3529584" cy="249631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66928" y="4434840"/>
            <a:ext cx="8010144" cy="1234440"/>
          </a:xfrm>
          <a:prstGeom prst="roundRect">
            <a:avLst>
              <a:gd name="adj" fmla="val 4444"/>
            </a:avLst>
          </a:prstGeom>
          <a:solidFill>
            <a:srgbClr val="F7F7F8"/>
          </a:solidFill>
          <a:ln w="9525">
            <a:solidFill>
              <a:srgbClr val="E3E1D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13232" y="4562856"/>
            <a:ext cx="771753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vertices            2460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!! polygons            2478  (need 10000)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 colours             3     (need 3)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 closed surface      yes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5760720"/>
            <a:ext cx="8010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check() report: still short of polygons.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import add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4846320" cy="2651760"/>
          </a:xfrm>
          <a:prstGeom prst="roundRect">
            <a:avLst>
              <a:gd name="adj" fmla="val 2069"/>
            </a:avLst>
          </a:prstGeom>
          <a:solidFill>
            <a:srgbClr val="F7F7F8"/>
          </a:solidFill>
          <a:ln w="9525">
            <a:solidFill>
              <a:srgbClr val="E3E1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91056"/>
            <a:ext cx="4553712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add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range(12):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 = 2 * add.pi * i / 12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 = [3 * add.cos(a), 0, 3 * add.sin(a)]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add.sphere(p, 0.4, 8, add.hsv(i / 12))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add.seed(7)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add.box([add.uniform(-3, 3), 0, 0], 1, "red")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532120" y="1463040"/>
            <a:ext cx="3044952" cy="1234440"/>
          </a:xfrm>
          <a:prstGeom prst="roundRect">
            <a:avLst>
              <a:gd name="adj" fmla="val 3704"/>
            </a:avLst>
          </a:prstGeom>
          <a:solidFill>
            <a:srgbClr val="F6EF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733288" y="1609344"/>
            <a:ext cx="2642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add.sin, add.pi, add.sqrt ...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733288" y="1938528"/>
            <a:ext cx="26426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from math, straight from add.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532120" y="2935224"/>
            <a:ext cx="3044952" cy="1234440"/>
          </a:xfrm>
          <a:prstGeom prst="roundRect">
            <a:avLst>
              <a:gd name="adj" fmla="val 3704"/>
            </a:avLst>
          </a:prstGeom>
          <a:solidFill>
            <a:srgbClr val="F6EFE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733288" y="3081528"/>
            <a:ext cx="2642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add.randint, add.seed, add.Random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733288" y="3410712"/>
            <a:ext cx="26426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from random, too.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4343400"/>
            <a:ext cx="8010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4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model file has exactly one import. (Plain import math still works.)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5742432"/>
            <a:ext cx="7461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examples in examples/ are written this way: import add and nothing else.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model in C++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3716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4B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407408" y="13716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4B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C++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645920"/>
            <a:ext cx="3657600" cy="2697480"/>
          </a:xfrm>
          <a:prstGeom prst="roundRect">
            <a:avLst>
              <a:gd name="adj" fmla="val 2034"/>
            </a:avLst>
          </a:prstGeom>
          <a:solidFill>
            <a:srgbClr val="F7F7F8"/>
          </a:solidFill>
          <a:ln w="9525">
            <a:solidFill>
              <a:srgbClr val="E3E1D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1773936"/>
            <a:ext cx="3364992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add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add.box([0, 0, 0], 2, "red")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add.sphere([3, 0, 0], 1, 20, "blue")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add.cylinder([0, 2, 0], [3, 2, 0],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0.3, 24, "gold")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add.save("first.off")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07408" y="1645920"/>
            <a:ext cx="4169664" cy="2697480"/>
          </a:xfrm>
          <a:prstGeom prst="roundRect">
            <a:avLst>
              <a:gd name="adj" fmla="val 2034"/>
            </a:avLst>
          </a:prstGeom>
          <a:solidFill>
            <a:srgbClr val="F7F7F8"/>
          </a:solidFill>
          <a:ln w="9525">
            <a:solidFill>
              <a:srgbClr val="E3E1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53712" y="1773936"/>
            <a:ext cx="3877056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"add.hpp"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add::box({0, 0, 0}, 2, "red");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add::sphere({3, 0, 0}, 1, 20, "blue");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add::cylinder({0, 2, 0}, {3, 2, 0},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0.3, 24, "gold");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add::save("first.off");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4553712"/>
            <a:ext cx="8010144" cy="1371600"/>
          </a:xfrm>
          <a:prstGeom prst="roundRect">
            <a:avLst>
              <a:gd name="adj" fmla="val 3333"/>
            </a:avLst>
          </a:prstGeom>
          <a:solidFill>
            <a:srgbClr val="F6EF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5528" y="4681728"/>
            <a:ext cx="75529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 for byte the same file.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add.hpp is the whole library as one header, using only the C++17 standard library: every function of add.py, with the same name, parameters and defaults.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428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g++ -std=c++17 -O2 first.cpp -o first &amp;&amp; ./first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Python to C++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17320"/>
          <a:ext cx="8010144" cy="914400"/>
        </p:xfrm>
        <a:graphic>
          <a:graphicData uri="http://schemas.openxmlformats.org/drawingml/2006/table">
            <a:tbl>
              <a:tblPr/>
              <a:tblGrid>
                <a:gridCol w="3163824"/>
                <a:gridCol w="484632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4B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C++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4B1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8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import add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A4B1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#include "add.hpp"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8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[1, 2, 3]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A4B1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{1, 2, 3}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8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add.bend(M, 0.4, around=2)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A4B1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add::bend(M, 0.4, 1, 2)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8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add.bbox()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A4B1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add::bbox()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8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lambda t: [t, 0, 0]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A4B1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[](double t) { return add::Point{t, 0, 0}; }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8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add.make(add.box, [0, 0, 0], 2)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A4B1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add::make([] { add::box({0, 0, 0}, 2); })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8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M.V, M.F, M.C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A4B1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M.V, M.F, M.C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8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add.union(a, b)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A4B1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add::union_(a, b)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8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print(add.center(M))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A4B1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std::cout &lt;&lt; add::center(M);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66928" y="4617720"/>
            <a:ext cx="8010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keyword arguments: give them in order (bend: angle, axis, around). A mesh left out means the scene, as in Python. union is a C++ keyword, so it is union_. Points and colours print as Python prints them.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5742432"/>
            <a:ext cx="7461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for every function, all 235 documentation examples and 43 example programs, with GCC and Clang. On ARM (a Mac with Apple Silicon) compile with -ffp-contract=off too.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Ready-made shapes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4709160" cy="3291840"/>
          </a:xfrm>
          <a:prstGeom prst="roundRect">
            <a:avLst>
              <a:gd name="adj" fmla="val 1667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6" name="Image 0" descr="/home/claude/add3d/docs/images/primitiv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" y="1472184"/>
            <a:ext cx="4599432" cy="31821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0" y="1371600"/>
            <a:ext cx="31089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2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Solids
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428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box, cuboid, rounded_box, frame, pyramid, prism, polyhedron, voxels
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2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Round
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428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sphere, hemisphere, uvsphere, ellipsoid, torus, capsule, cylinder, tube, cup, cone, cone_open, frustum, pipe
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2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Flat
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428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polygon, triangle, quad, disc, ring, grid
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2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Parts
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428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beam, arch, stairs, gear, wheel, roof, column, bricks, tree, pixels, heightmap, text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5742432"/>
            <a:ext cx="7461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examples/02_primitives.py -- every shape in one program.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parametric() -- the central function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4846320" cy="2194560"/>
          </a:xfrm>
          <a:prstGeom prst="roundRect">
            <a:avLst>
              <a:gd name="adj" fmla="val 2500"/>
            </a:avLst>
          </a:prstGeom>
          <a:solidFill>
            <a:srgbClr val="F7F7F8"/>
          </a:solidFill>
          <a:ln w="9525">
            <a:solidFill>
              <a:srgbClr val="E3E1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91056"/>
            <a:ext cx="4553712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torus(u, v):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[(5 + add.cos(u)) * add.cos(v),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add.sin(u),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(5 + add.cos(u)) * add.sin(v)]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add.parametric(torus, 0, 2*add.pi, 40,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0, 2*add.pi, 80,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"gold", wrap_u=True, wrap_v=True)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532120" y="1463040"/>
            <a:ext cx="3044952" cy="2194560"/>
          </a:xfrm>
          <a:prstGeom prst="roundRect">
            <a:avLst>
              <a:gd name="adj" fmla="val 2500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8" name="Image 0" descr="/home/claude/add3d/docs/images/surfaces_classi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86984" y="1517904"/>
            <a:ext cx="2935224" cy="208483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66928" y="3886200"/>
            <a:ext cx="2511552" cy="1234440"/>
          </a:xfrm>
          <a:prstGeom prst="roundRect">
            <a:avLst>
              <a:gd name="adj" fmla="val 3704"/>
            </a:avLst>
          </a:prstGeom>
          <a:solidFill>
            <a:srgbClr val="F6EF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68096" y="4032504"/>
            <a:ext cx="2109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wrap_u, wrap_v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68096" y="4361688"/>
            <a:ext cx="21092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surface without a seam or repeated vertices.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316224" y="3886200"/>
            <a:ext cx="2511552" cy="1234440"/>
          </a:xfrm>
          <a:prstGeom prst="roundRect">
            <a:avLst>
              <a:gd name="adj" fmla="val 3704"/>
            </a:avLst>
          </a:prstGeom>
          <a:solidFill>
            <a:srgbClr val="F6EFE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517392" y="4032504"/>
            <a:ext cx="2109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thickness=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3517392" y="4361688"/>
            <a:ext cx="21092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sheet a real thickness -- a closed solid.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065520" y="3886200"/>
            <a:ext cx="2511552" cy="1234440"/>
          </a:xfrm>
          <a:prstGeom prst="roundRect">
            <a:avLst>
              <a:gd name="adj" fmla="val 3704"/>
            </a:avLst>
          </a:prstGeom>
          <a:solidFill>
            <a:srgbClr val="F6EFE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266688" y="4032504"/>
            <a:ext cx="2109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color=lambda u, v: ...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266688" y="4361688"/>
            <a:ext cx="21092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 every cell by its own parameters.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Colour functions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4846320" cy="2514600"/>
          </a:xfrm>
          <a:prstGeom prst="roundRect">
            <a:avLst>
              <a:gd name="adj" fmla="val 2182"/>
            </a:avLst>
          </a:prstGeom>
          <a:solidFill>
            <a:srgbClr val="F7F7F8"/>
          </a:solidFill>
          <a:ln w="9525">
            <a:solidFill>
              <a:srgbClr val="E3E1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91056"/>
            <a:ext cx="4553712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add.parametric(f, 0, 1, 40, 0, 1, 40,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color=lambda u, v: add.hsv(u))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add.revolve(vase, A, B, 0, 4, 60, 40,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color=lambda t, a: "red" if int(t) % 2 else "white")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add.curve(spiral, 0, 20, 300, 12, 0.2,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color=lambda t, a: add.hsv(t / 20))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532120" y="1463040"/>
            <a:ext cx="3044952" cy="2194560"/>
          </a:xfrm>
          <a:prstGeom prst="roundRect">
            <a:avLst>
              <a:gd name="adj" fmla="val 2500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8" name="Image 0" descr="/home/claude/add3d/docs/images/solar_syste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86984" y="1517904"/>
            <a:ext cx="2935224" cy="208483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532120" y="3721608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Planets: lathes painted by (latitude, longitude)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4297680"/>
            <a:ext cx="80101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function is called once per cell with the surface's own two parameters: (u, v) for parametric, (t, angle) for revolve and curve, (x, z) for grid. Stripes, chequerboards, maps and gradients cost one lambda.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5742432"/>
            <a:ext cx="7461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mesh you already have: color_by(M, lambda p: ...) paints by position.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 SURFACES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equation, twelve shapes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4846320" cy="3429000"/>
          </a:xfrm>
          <a:prstGeom prst="roundRect">
            <a:avLst>
              <a:gd name="adj" fmla="val 1600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6" name="Image 0" descr="/home/claude/add3d/docs/images/supershap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" y="1472184"/>
            <a:ext cx="4736592" cy="33192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623560" y="1508760"/>
            <a:ext cx="2971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Gielis's superformula (2003)
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2428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r(t) = ( |cos(m·t/4)/a|^n₂ + |sin(m·t/4)/b|^n₃ ) ^ (−1/n₁)
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numbers -- and you get a starfish, a flower, a crystal or a plain ball.
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what the assignment asks for: one parameter that changes the shape.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5742432"/>
            <a:ext cx="7461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examples/08_surfaces_superformula.py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Surfaces that look like things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8010144" cy="3749040"/>
          </a:xfrm>
          <a:prstGeom prst="roundRect">
            <a:avLst>
              <a:gd name="adj" fmla="val 1463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6" name="Image 0" descr="/home/claude/add3d/docs/images/surfaces_na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" y="1472184"/>
            <a:ext cx="7900416" cy="36393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66928" y="5742432"/>
            <a:ext cx="7461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Shell, snail, Dini's surface, apple, lemon, heart, horn, trumpet, wavy column, breather, ripples, drop. examples/09_surfaces_nature.py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Graphs and exotic surfaces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3931920" cy="2743200"/>
          </a:xfrm>
          <a:prstGeom prst="roundRect">
            <a:avLst>
              <a:gd name="adj" fmla="val 2000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6" name="Image 0" descr="/home/claude/add3d/docs/images/height_field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" y="1517904"/>
            <a:ext cx="3822192" cy="2633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66928" y="42702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f(x, z)  ·  10_height_fields.py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63440" y="1463040"/>
            <a:ext cx="3913632" cy="2743200"/>
          </a:xfrm>
          <a:prstGeom prst="roundRect">
            <a:avLst>
              <a:gd name="adj" fmla="val 2000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9" name="Image 1" descr="/home/claude/add3d/docs/images/surfaces_exotic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18304" y="1517904"/>
            <a:ext cx="3803904" cy="263347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663440" y="4270248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Möbius, Klein, Boy, Roman surface  ·  07_surfaces_exotic.py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66928" y="5029200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One-sided surfaces have no "outside". Give them a thickness and they become ordinary two-sided solids.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a surface is black from one side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8010144" cy="2926080"/>
          </a:xfrm>
          <a:prstGeom prst="roundRect">
            <a:avLst>
              <a:gd name="adj" fmla="val 1875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6" name="Image 0" descr="/home/claude/add3d/docs/images/two_si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" y="1472184"/>
            <a:ext cx="7900416" cy="28163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4572000"/>
            <a:ext cx="2511552" cy="1234440"/>
          </a:xfrm>
          <a:prstGeom prst="roundRect">
            <a:avLst>
              <a:gd name="adj" fmla="val 3704"/>
            </a:avLst>
          </a:prstGeom>
          <a:solidFill>
            <a:srgbClr val="F6EFE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68096" y="4718304"/>
            <a:ext cx="2109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 sheet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68096" y="5047488"/>
            <a:ext cx="21092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good side, one "dead" side.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16224" y="4572000"/>
            <a:ext cx="2511552" cy="1234440"/>
          </a:xfrm>
          <a:prstGeom prst="roundRect">
            <a:avLst>
              <a:gd name="adj" fmla="val 3704"/>
            </a:avLst>
          </a:prstGeom>
          <a:solidFill>
            <a:srgbClr val="F6EFE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517392" y="4718304"/>
            <a:ext cx="2109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double_sided=True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3517392" y="5047488"/>
            <a:ext cx="21092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face and its reversed copy. Cheap; still no thickness.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065520" y="4572000"/>
            <a:ext cx="2511552" cy="1234440"/>
          </a:xfrm>
          <a:prstGeom prst="roundRect">
            <a:avLst>
              <a:gd name="adj" fmla="val 3704"/>
            </a:avLst>
          </a:prstGeom>
          <a:solidFill>
            <a:srgbClr val="F6EF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266688" y="4718304"/>
            <a:ext cx="2109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thickness=0.1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266688" y="5047488"/>
            <a:ext cx="21092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solid with a wall: closed, printable, right from every angle.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revolve() -- the lathe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4023360" cy="1691640"/>
          </a:xfrm>
          <a:prstGeom prst="roundRect">
            <a:avLst>
              <a:gd name="adj" fmla="val 3243"/>
            </a:avLst>
          </a:prstGeom>
          <a:solidFill>
            <a:srgbClr val="F7F7F8"/>
          </a:solidFill>
          <a:ln w="9525">
            <a:solidFill>
              <a:srgbClr val="E3E1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91056"/>
            <a:ext cx="3730752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vase(t):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[1 + 0.4*add.sin(3*t), t]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add.revolve(vase, [0, 0, 0], [0, 1, 0],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0, 4, 60, 40, "teal")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29184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2428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profile(t)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returns [radius, height]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caps=True closes the ends -- a solid ready for booleans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angle= less than a full turn cuts out a wedge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00600" y="1463040"/>
            <a:ext cx="3776472" cy="3200400"/>
          </a:xfrm>
          <a:prstGeom prst="roundRect">
            <a:avLst>
              <a:gd name="adj" fmla="val 1714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9" name="Image 0" descr="/home/claude/add3d/docs/images/lath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55464" y="1517904"/>
            <a:ext cx="3666744" cy="309067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66928" y="5742432"/>
            <a:ext cx="7461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spin3D(A, B, S, ...) still works -- the same lathe without lids. examples/14_lathe_gallery.py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cross-section copied, turned and stretched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44752"/>
            <a:ext cx="4846320" cy="1005840"/>
          </a:xfrm>
          <a:prstGeom prst="roundRect">
            <a:avLst>
              <a:gd name="adj" fmla="val 5455"/>
            </a:avLst>
          </a:prstGeom>
          <a:solidFill>
            <a:srgbClr val="F7F7F8"/>
          </a:solidFill>
          <a:ln w="9525">
            <a:solidFill>
              <a:srgbClr val="E3E1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72768"/>
            <a:ext cx="45537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add.extrude(star, [0, 3.4, 0], "gold",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steps=90, twist=1.6*add.pi,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scale=lambda t: 1 - 0.45*t)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532120" y="1444752"/>
            <a:ext cx="3044952" cy="2194560"/>
          </a:xfrm>
          <a:prstGeom prst="roundRect">
            <a:avLst>
              <a:gd name="adj" fmla="val 2500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8" name="Image 0" descr="/home/claude/add3d/docs/images/cross_sectio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86984" y="1499616"/>
            <a:ext cx="2935224" cy="208483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66928" y="26060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twist and scale may be functions of the position along the path -- the shape changes as it goes. profile_star, profile_gear, profile_rect ... give the outlines. examples/13_sweep_and_twist.py, 33_cross_sections.py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66928" y="3703320"/>
            <a:ext cx="3886200" cy="1024128"/>
          </a:xfrm>
          <a:prstGeom prst="roundRect">
            <a:avLst>
              <a:gd name="adj" fmla="val 4464"/>
            </a:avLst>
          </a:prstGeom>
          <a:solidFill>
            <a:srgbClr val="F6EFE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68096" y="3849624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extrude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68096" y="4178808"/>
            <a:ext cx="3483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2D shape pulled into 3D; turned and narrowed on the way.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690872" y="3703320"/>
            <a:ext cx="3886200" cy="1024128"/>
          </a:xfrm>
          <a:prstGeom prst="roundRect">
            <a:avLst>
              <a:gd name="adj" fmla="val 4464"/>
            </a:avLst>
          </a:prstGeom>
          <a:solidFill>
            <a:srgbClr val="F6EF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892040" y="3849624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4892040" y="4178808"/>
            <a:ext cx="3483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cross-section pushed along any 3D path.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66928" y="4965192"/>
            <a:ext cx="3886200" cy="1024128"/>
          </a:xfrm>
          <a:prstGeom prst="roundRect">
            <a:avLst>
              <a:gd name="adj" fmla="val 4464"/>
            </a:avLst>
          </a:prstGeom>
          <a:solidFill>
            <a:srgbClr val="F6EFE8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68096" y="5111496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loft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768096" y="5440680"/>
            <a:ext cx="3483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surface skinned over a sequence of cross-sections.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690872" y="4965192"/>
            <a:ext cx="3886200" cy="1024128"/>
          </a:xfrm>
          <a:prstGeom prst="roundRect">
            <a:avLst>
              <a:gd name="adj" fmla="val 4464"/>
            </a:avLst>
          </a:prstGeom>
          <a:solidFill>
            <a:srgbClr val="F6EFE8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892040" y="5111496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polyline, trace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4892040" y="5440680"/>
            <a:ext cx="3483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tube through a list of points; the path of a vector field.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curve() -- curves as tubes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4846320" cy="3429000"/>
          </a:xfrm>
          <a:prstGeom prst="roundRect">
            <a:avLst>
              <a:gd name="adj" fmla="val 1600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6" name="Image 0" descr="/home/claude/add3d/docs/images/curv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" y="1472184"/>
            <a:ext cx="4736592" cy="33192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532120" y="1463040"/>
            <a:ext cx="3044952" cy="2103120"/>
          </a:xfrm>
          <a:prstGeom prst="roundRect">
            <a:avLst>
              <a:gd name="adj" fmla="val 2609"/>
            </a:avLst>
          </a:prstGeom>
          <a:solidFill>
            <a:srgbClr val="F7F7F8"/>
          </a:solidFill>
          <a:ln w="9525">
            <a:solidFill>
              <a:srgbClr val="E3E1D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678424" y="1591056"/>
            <a:ext cx="2752344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knot(t):</a:t>
            </a: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[add.sin(t) + 2*add.sin(2*t),</a:t>
            </a: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-add.sin(3*t),</a:t>
            </a: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add.cos(t) - 2*add.cos(2*t)]</a:t>
            </a: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add.curve(knot, 0, 2*add.pi,</a:t>
            </a: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300, 18, 0.28, "lime", True)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5532120" y="3703320"/>
            <a:ext cx="3044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radius may be a function r(t) -- the tube swells and narrows. The tube does not twist on its own: a rotation-minimising frame is carried along the curve.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Transformations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508760"/>
            <a:ext cx="3886200" cy="1042416"/>
          </a:xfrm>
          <a:prstGeom prst="roundRect">
            <a:avLst>
              <a:gd name="adj" fmla="val 4386"/>
            </a:avLst>
          </a:prstGeom>
          <a:solidFill>
            <a:srgbClr val="F6EFE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8096" y="1655064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move, place, align, ground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1984248"/>
            <a:ext cx="3483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Shift; put the centre, a corner or the bottom at a point.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90872" y="1508760"/>
            <a:ext cx="3886200" cy="1042416"/>
          </a:xfrm>
          <a:prstGeom prst="roundRect">
            <a:avLst>
              <a:gd name="adj" fmla="val 4386"/>
            </a:avLst>
          </a:prstGeom>
          <a:solidFill>
            <a:srgbClr val="F6EFE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92040" y="1655064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rotateX/Y/Z, rotate, aim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984248"/>
            <a:ext cx="3483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about an axis -- any axis -- or aim a part along a direction.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2788920"/>
            <a:ext cx="3886200" cy="1042416"/>
          </a:xfrm>
          <a:prstGeom prst="roundRect">
            <a:avLst>
              <a:gd name="adj" fmla="val 4386"/>
            </a:avLst>
          </a:prstGeom>
          <a:solidFill>
            <a:srgbClr val="F6EF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68096" y="2935224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zoom, stretch, fit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" y="3264408"/>
            <a:ext cx="3483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uniform, per axis, or to a size.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90872" y="2788920"/>
            <a:ext cx="3886200" cy="1042416"/>
          </a:xfrm>
          <a:prstGeom prst="roundRect">
            <a:avLst>
              <a:gd name="adj" fmla="val 4386"/>
            </a:avLst>
          </a:prstGeom>
          <a:solidFill>
            <a:srgbClr val="F6EFE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92040" y="2935224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3264408"/>
            <a:ext cx="3483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in a plane; the face winding is reversed too.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4069080"/>
            <a:ext cx="3886200" cy="1042416"/>
          </a:xfrm>
          <a:prstGeom prst="roundRect">
            <a:avLst>
              <a:gd name="adj" fmla="val 4386"/>
            </a:avLst>
          </a:prstGeom>
          <a:solidFill>
            <a:srgbClr val="F6EFE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68096" y="4215384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twist, bend, taper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68096" y="4544568"/>
            <a:ext cx="3483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Twist, bend, narrow.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690872" y="4069080"/>
            <a:ext cx="3886200" cy="1042416"/>
          </a:xfrm>
          <a:prstGeom prst="roundRect">
            <a:avLst>
              <a:gd name="adj" fmla="val 4386"/>
            </a:avLst>
          </a:prstGeom>
          <a:solidFill>
            <a:srgbClr val="F6EFE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92040" y="4215384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deform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92040" y="4544568"/>
            <a:ext cx="3483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function of yours: f(p) -&gt; new point.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5257800"/>
            <a:ext cx="8010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them return a new mesh -- the original is untouched, so they chain: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66928" y="5669280"/>
            <a:ext cx="8010144" cy="475488"/>
          </a:xfrm>
          <a:prstGeom prst="roundRect">
            <a:avLst>
              <a:gd name="adj" fmla="val 11538"/>
            </a:avLst>
          </a:prstGeom>
          <a:solidFill>
            <a:srgbClr val="F7F7F8"/>
          </a:solidFill>
          <a:ln w="9525">
            <a:solidFill>
              <a:srgbClr val="E3E1D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3232" y="5797296"/>
            <a:ext cx="7717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= add.move(add.rotateY(add.zoom(M, 0.5), 0.4), [0, 3, 0])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part, many copies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4846320" cy="3429000"/>
          </a:xfrm>
          <a:prstGeom prst="roundRect">
            <a:avLst>
              <a:gd name="adj" fmla="val 1600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6" name="Image 0" descr="/home/claude/add3d/docs/images/patter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" y="1472184"/>
            <a:ext cx="4736592" cy="33192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532120" y="1508760"/>
            <a:ext cx="304495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428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array_linear(M, step, n)
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428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array_grid(M, steps, counts)
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428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array_radial(M, n, axis, P)
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428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array_mirror(M, point, normal)
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428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scatter(M, points, seed)
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428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along(M, path, n)
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A4B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repeat(M, n, step)
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general: you say where copy number i ends up.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532120" y="4206240"/>
            <a:ext cx="3044952" cy="1234440"/>
          </a:xfrm>
          <a:prstGeom prst="roundRect">
            <a:avLst>
              <a:gd name="adj" fmla="val 4444"/>
            </a:avLst>
          </a:prstGeom>
          <a:solidFill>
            <a:srgbClr val="F7F7F8"/>
          </a:solidFill>
          <a:ln w="9525">
            <a:solidFill>
              <a:srgbClr val="E3E1D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678424" y="4334256"/>
            <a:ext cx="275234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spiral = add.repeat(brick, 40,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lambda M, i: add.move(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add.rotateY(M, i * 0.3),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[0, i * 0.2, 0]))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Parts that models keep needing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3931920" cy="2331720"/>
          </a:xfrm>
          <a:prstGeom prst="roundRect">
            <a:avLst>
              <a:gd name="adj" fmla="val 2353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6" name="Image 0" descr="/home/claude/add3d/docs/images/locomotiv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" y="1472184"/>
            <a:ext cx="3822192" cy="222199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66928" y="38130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23_locomotive.py -- wheel, beam, rotate_point, array_mirror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63440" y="1417320"/>
            <a:ext cx="3913632" cy="2331720"/>
          </a:xfrm>
          <a:prstGeom prst="roundRect">
            <a:avLst>
              <a:gd name="adj" fmla="val 2353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9" name="Image 1" descr="/home/claude/add3d/docs/images/windmil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18304" y="1472184"/>
            <a:ext cx="3803904" cy="222199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663440" y="3813048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24_windmill.py -- extrude, arch, stairs, tree, scatter, along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66928" y="4251960"/>
            <a:ext cx="3886200" cy="1005840"/>
          </a:xfrm>
          <a:prstGeom prst="roundRect">
            <a:avLst>
              <a:gd name="adj" fmla="val 4545"/>
            </a:avLst>
          </a:prstGeom>
          <a:solidFill>
            <a:srgbClr val="F6EFE8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68096" y="4398264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beam(A, B, w, h)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768096" y="4727448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bar between two points -- it works out the orientation itself.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690872" y="4251960"/>
            <a:ext cx="3886200" cy="1005840"/>
          </a:xfrm>
          <a:prstGeom prst="roundRect">
            <a:avLst>
              <a:gd name="adj" fmla="val 4545"/>
            </a:avLst>
          </a:prstGeom>
          <a:solidFill>
            <a:srgbClr val="F6EFE8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4892040" y="4398264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wheel, gear, arch, stairs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4892040" y="4727448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Wheels with spokes, cogs that mesh, arches, flights of steps.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66928" y="5495544"/>
            <a:ext cx="3886200" cy="1005840"/>
          </a:xfrm>
          <a:prstGeom prst="roundRect">
            <a:avLst>
              <a:gd name="adj" fmla="val 4545"/>
            </a:avLst>
          </a:prstGeom>
          <a:solidFill>
            <a:srgbClr val="F6EFE8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768096" y="5641848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roof, column, bricks, tree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768096" y="5971032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Houses, temples, walls, forests.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4690872" y="5495544"/>
            <a:ext cx="3886200" cy="1005840"/>
          </a:xfrm>
          <a:prstGeom prst="roundRect">
            <a:avLst>
              <a:gd name="adj" fmla="val 4545"/>
            </a:avLst>
          </a:prstGeom>
          <a:solidFill>
            <a:srgbClr val="F6EFE8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4892040" y="5641848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pixels, heightmap, text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4892040" y="5971032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art, block terrain, labels in a built-in font (ĄČĘĖĮŠŲŪŽ too).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Placing: aim, scatter, along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4846320" cy="3200400"/>
          </a:xfrm>
          <a:prstGeom prst="roundRect">
            <a:avLst>
              <a:gd name="adj" fmla="val 1714"/>
            </a:avLst>
          </a:prstGeom>
          <a:solidFill>
            <a:srgbClr val="F7F7F8"/>
          </a:solidFill>
          <a:ln w="9525">
            <a:solidFill>
              <a:srgbClr val="E3E1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91056"/>
            <a:ext cx="4553712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 part built around the origin, pointing up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add.push()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add.capsule([0, 0, 0], [0, 2, 0], 0.2, 12, "silver")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arm = add.pop()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aim it from shoulder to hand, then move it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arm = add.aim(arm, add.direction(shoulder, hand))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add.mesh(add.move(arm, shoulder))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forty trees on the hills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spots = add.random_points(40, lo, hi, seed=1,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height=hills)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add.mesh(add.scatter(tree, spots, seed=1,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scale=(0.7, 1.4)))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532120" y="1463040"/>
            <a:ext cx="3044952" cy="3200400"/>
          </a:xfrm>
          <a:prstGeom prst="roundRect">
            <a:avLst>
              <a:gd name="adj" fmla="val 1802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8" name="Image 0" descr="/home/claude/add3d/docs/images/robo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86984" y="1517904"/>
            <a:ext cx="2935224" cy="309067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532120" y="4727448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27_robot.py -- every limb aimed at a point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4983480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4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every part around the origin between push() and pop(); then aim it, turn it, and move it into place.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Colours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4572000" cy="2651760"/>
          </a:xfrm>
          <a:prstGeom prst="roundRect">
            <a:avLst>
              <a:gd name="adj" fmla="val 2069"/>
            </a:avLst>
          </a:prstGeom>
          <a:solidFill>
            <a:srgbClr val="F7F7F8"/>
          </a:solidFill>
          <a:ln w="9525">
            <a:solidFill>
              <a:srgbClr val="E3E1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91056"/>
            <a:ext cx="4279392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add.box(c, 1, "red")            # by name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add.box(c, 1, "#ff8800")        # hex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add.box(c, 1, [255, 136, 0])    # RGB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add.hsv(0.3, 0.7, 1.0)          # hue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add.gradient(t, "navy", "gold") # blend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add.shade("red", 0.6)           # darker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= add.color_by(M,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lambda p: add.hsv(p[1] / 10.0))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4206240"/>
            <a:ext cx="3886200" cy="1005840"/>
          </a:xfrm>
          <a:prstGeom prst="roundRect">
            <a:avLst>
              <a:gd name="adj" fmla="val 4545"/>
            </a:avLst>
          </a:prstGeom>
          <a:solidFill>
            <a:srgbClr val="F6EF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68096" y="4352544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color(M, colour)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4681728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Repaints the whole mesh.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90872" y="4206240"/>
            <a:ext cx="3886200" cy="1005840"/>
          </a:xfrm>
          <a:prstGeom prst="roundRect">
            <a:avLst>
              <a:gd name="adj" fmla="val 4545"/>
            </a:avLst>
          </a:prstGeom>
          <a:solidFill>
            <a:srgbClr val="F6EFE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92040" y="4352544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color_by(M, fn)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4681728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by the position of each face -- rainbows, height maps.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5449824"/>
            <a:ext cx="3886200" cy="1005840"/>
          </a:xfrm>
          <a:prstGeom prst="roundRect">
            <a:avLst>
              <a:gd name="adj" fmla="val 4545"/>
            </a:avLst>
          </a:prstGeom>
          <a:solidFill>
            <a:srgbClr val="F6EF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8096" y="5596128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color_gradient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68096" y="5925312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blend from one colour to another along an axis.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690872" y="5449824"/>
            <a:ext cx="3886200" cy="1005840"/>
          </a:xfrm>
          <a:prstGeom prst="roundRect">
            <a:avLst>
              <a:gd name="adj" fmla="val 4545"/>
            </a:avLst>
          </a:prstGeom>
          <a:solidFill>
            <a:srgbClr val="F6EFE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92040" y="5596128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color_random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5925312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face its own random colour.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303520" y="169164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A4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assignment wants at least three colours -- it looks better when they mean something.</a:t>
            </a:r>
            <a:endParaRPr lang="en-US" sz="1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Boolean operations on solids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4846320" cy="3291840"/>
          </a:xfrm>
          <a:prstGeom prst="roundRect">
            <a:avLst>
              <a:gd name="adj" fmla="val 1667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6" name="Image 0" descr="/home/claude/add3d/docs/images/boolea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" y="1472184"/>
            <a:ext cx="4736592" cy="31821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532120" y="1417320"/>
            <a:ext cx="3044952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8A4B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union(A, B)
</a:t>
            </a:r>
            <a:endParaRPr lang="en-US" sz="11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Union: everything in either solid. Hidden inner walls disappear.
</a:t>
            </a:r>
            <a:endParaRPr lang="en-US" sz="11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8A4B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intersect(A, B)
</a:t>
            </a:r>
            <a:endParaRPr lang="en-US" sz="11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Intersection: only what is common.
</a:t>
            </a:r>
            <a:endParaRPr lang="en-US" sz="11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8A4B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difference(A, B)
</a:t>
            </a:r>
            <a:endParaRPr lang="en-US" sz="11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Difference: A with B cut out. This is how holes and notches are made.
</a:t>
            </a:r>
            <a:endParaRPr lang="en-US" sz="11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8A4B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cut(M, point, normal)
</a:t>
            </a:r>
            <a:endParaRPr lang="en-US" sz="11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cut with a plane -- cheaper.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66928" y="4983480"/>
            <a:ext cx="8010144" cy="1280160"/>
          </a:xfrm>
          <a:prstGeom prst="roundRect">
            <a:avLst>
              <a:gd name="adj" fmla="val 4286"/>
            </a:avLst>
          </a:prstGeom>
          <a:solidFill>
            <a:srgbClr val="F7F7F8"/>
          </a:solidFill>
          <a:ln w="9525">
            <a:solidFill>
              <a:srgbClr val="E3E1D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5111496"/>
            <a:ext cx="771753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add.cuboid([0,0,0], [4,1,4], "brown")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plate = add.layer()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add.cylinder([0,-1,0], [0,1,0], 0.6, 32, "black")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drill = add.layer()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add.mesh(add.difference(plate, drill))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booleans work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2511552" cy="1783080"/>
          </a:xfrm>
          <a:prstGeom prst="roundRect">
            <a:avLst>
              <a:gd name="adj" fmla="val 2564"/>
            </a:avLst>
          </a:prstGeom>
          <a:solidFill>
            <a:srgbClr val="F6EFE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8096" y="1609344"/>
            <a:ext cx="2109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Split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1938528"/>
            <a:ext cx="210921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face is cut where the other solid's triangles could cross it. Neighbours come from a spatial grid, so a distant face is never cut.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16224" y="1463040"/>
            <a:ext cx="2511552" cy="1783080"/>
          </a:xfrm>
          <a:prstGeom prst="roundRect">
            <a:avLst>
              <a:gd name="adj" fmla="val 2564"/>
            </a:avLst>
          </a:prstGeom>
          <a:solidFill>
            <a:srgbClr val="F6EFE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17392" y="1609344"/>
            <a:ext cx="2109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Ask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517392" y="1938528"/>
            <a:ext cx="210921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piece is asked: inside, outside, or lying on the other surface? A ray counting crossings answers.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65520" y="1463040"/>
            <a:ext cx="2511552" cy="1783080"/>
          </a:xfrm>
          <a:prstGeom prst="roundRect">
            <a:avLst>
              <a:gd name="adj" fmla="val 2564"/>
            </a:avLst>
          </a:prstGeom>
          <a:solidFill>
            <a:srgbClr val="F6EF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66688" y="1609344"/>
            <a:ext cx="2109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Keep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266688" y="1938528"/>
            <a:ext cx="210921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keeps what is outside; intersection what is inside; difference A's outside and B's inside, reversed.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3566160"/>
            <a:ext cx="80101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600 lines of plain Python. No libraries.
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6000-face sphere minus a box: about 0.5 s.  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25 000 faces: about 2 s.
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is welded, its T-junctions healed, the surface closed.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66928" y="4800600"/>
            <a:ext cx="8010144" cy="960120"/>
          </a:xfrm>
          <a:prstGeom prst="roundRect">
            <a:avLst>
              <a:gd name="adj" fmla="val 4762"/>
            </a:avLst>
          </a:prstGeom>
          <a:solidFill>
            <a:srgbClr val="EAF3E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95528" y="4983480"/>
            <a:ext cx="7552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Booleans need closed solids. If the result looks odd, check both inputs with add.check() first.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Repairing and checking a model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44752"/>
            <a:ext cx="3886200" cy="1133856"/>
          </a:xfrm>
          <a:prstGeom prst="roundRect">
            <a:avLst>
              <a:gd name="adj" fmla="val 4032"/>
            </a:avLst>
          </a:prstGeom>
          <a:solidFill>
            <a:srgbClr val="F6EFE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8096" y="1591056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clean(M)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1920240"/>
            <a:ext cx="3483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Welds coincident vertices, drops zero-area and repeated faces, removes the inner walls where two solids touch.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90872" y="1444752"/>
            <a:ext cx="3886200" cy="1133856"/>
          </a:xfrm>
          <a:prstGeom prst="roundRect">
            <a:avLst>
              <a:gd name="adj" fmla="val 4032"/>
            </a:avLst>
          </a:prstGeom>
          <a:solidFill>
            <a:srgbClr val="F6EFE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92040" y="1591056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heal(M)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920240"/>
            <a:ext cx="3483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the hairline gaps where an edge passes a foreign vertex.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2816352"/>
            <a:ext cx="3886200" cy="1133856"/>
          </a:xfrm>
          <a:prstGeom prst="roundRect">
            <a:avLst>
              <a:gd name="adj" fmla="val 4032"/>
            </a:avLst>
          </a:prstGeom>
          <a:solidFill>
            <a:srgbClr val="F6EF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68096" y="2962656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fix_normals(M)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" y="3291840"/>
            <a:ext cx="3483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every face the same way -- outwards, for a closed model.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90872" y="2816352"/>
            <a:ext cx="3886200" cy="1133856"/>
          </a:xfrm>
          <a:prstGeom prst="roundRect">
            <a:avLst>
              <a:gd name="adj" fmla="val 4032"/>
            </a:avLst>
          </a:prstGeom>
          <a:solidFill>
            <a:srgbClr val="F6EFE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92040" y="2962656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triangulate(M), inside(M, p)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3291840"/>
            <a:ext cx="3483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face a triangle; is a point inside the solid?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4069080"/>
            <a:ext cx="3931920" cy="1005840"/>
          </a:xfrm>
          <a:prstGeom prst="roundRect">
            <a:avLst>
              <a:gd name="adj" fmla="val 5455"/>
            </a:avLst>
          </a:prstGeom>
          <a:solidFill>
            <a:srgbClr val="F7F7F8"/>
          </a:solidFill>
          <a:ln w="9525">
            <a:solidFill>
              <a:srgbClr val="E3E1D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3232" y="4197096"/>
            <a:ext cx="36393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add.clean(add.layer())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add.mesh(model)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add.check()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709160" y="4069080"/>
            <a:ext cx="3867912" cy="1417320"/>
          </a:xfrm>
          <a:prstGeom prst="roundRect">
            <a:avLst>
              <a:gd name="adj" fmla="val 3871"/>
            </a:avLst>
          </a:prstGeom>
          <a:solidFill>
            <a:srgbClr val="F7F7F8"/>
          </a:solidFill>
          <a:ln w="9525">
            <a:solidFill>
              <a:srgbClr val="E3E1D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55464" y="4197096"/>
            <a:ext cx="357530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vertices            136768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 polygons            163132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 colours             6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 closed surface      yes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volume              60.286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5742432"/>
            <a:ext cx="7461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touching cubes each keep a wall where nobody can see it. clean() finds and removes them. examples/31_workbench.py shows every repair tool at work.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 regular polyhedra, and a sphere of triangles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4709160" cy="2240280"/>
          </a:xfrm>
          <a:prstGeom prst="roundRect">
            <a:avLst>
              <a:gd name="adj" fmla="val 2449"/>
            </a:avLst>
          </a:prstGeom>
          <a:solidFill>
            <a:srgbClr val="F7F7F8"/>
          </a:solidFill>
          <a:ln w="9525">
            <a:solidFill>
              <a:srgbClr val="E3E1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91056"/>
            <a:ext cx="4416552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add.icosahedron([0, 0, 0], 2, "purple")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add.dodecahedron([5, 0, 0], 2, "gold")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add.polyhedron_points("icosahedron")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add.sphere([0, 5, 0], 2, 20, "sky")    # 5120 tri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add.icosphere([5, 5, 0], 2, 3, "red")  # 1280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add.quadsphere([9, 5, 0], 2, 12, "gold")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40680" y="1463040"/>
            <a:ext cx="3136392" cy="2240280"/>
          </a:xfrm>
          <a:prstGeom prst="roundRect">
            <a:avLst>
              <a:gd name="adj" fmla="val 2449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8" name="Image 0" descr="/home/claude/add3d/docs/images/polyhedr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95544" y="1517904"/>
            <a:ext cx="3026664" cy="213055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40680" y="3767328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38_polyhedra.py -- solids, duals, truncations, domes, smooth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66928" y="4114800"/>
            <a:ext cx="2511552" cy="1371600"/>
          </a:xfrm>
          <a:prstGeom prst="roundRect">
            <a:avLst>
              <a:gd name="adj" fmla="val 3333"/>
            </a:avLst>
          </a:prstGeom>
          <a:solidFill>
            <a:srgbClr val="F6EFE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68096" y="4261104"/>
            <a:ext cx="2109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Centred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68096" y="4590288"/>
            <a:ext cx="21092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average of the vertices is exactly the centre; every vertex at distance r.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316224" y="4114800"/>
            <a:ext cx="2511552" cy="1371600"/>
          </a:xfrm>
          <a:prstGeom prst="roundRect">
            <a:avLst>
              <a:gd name="adj" fmla="val 3333"/>
            </a:avLst>
          </a:prstGeom>
          <a:solidFill>
            <a:srgbClr val="F6EF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517392" y="4261104"/>
            <a:ext cx="2109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dome principle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3517392" y="4590288"/>
            <a:ext cx="21092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every triangle in four, push the midpoints out to the sphere, repeat: 20, 80, 320, 1280 ...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065520" y="4114800"/>
            <a:ext cx="2511552" cy="1371600"/>
          </a:xfrm>
          <a:prstGeom prst="roundRect">
            <a:avLst>
              <a:gd name="adj" fmla="val 3333"/>
            </a:avLst>
          </a:prstGeom>
          <a:solidFill>
            <a:srgbClr val="F6EFE8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266688" y="4261104"/>
            <a:ext cx="2109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as before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266688" y="4590288"/>
            <a:ext cx="21092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sphere(c, r, k) picks the level from k: k=10 -&gt; 1280, k=20 -&gt; 5120 faces.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TOOLS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football from the vertices of an icosahedron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4709160" cy="2377440"/>
          </a:xfrm>
          <a:prstGeom prst="roundRect">
            <a:avLst>
              <a:gd name="adj" fmla="val 2308"/>
            </a:avLst>
          </a:prstGeom>
          <a:solidFill>
            <a:srgbClr val="F7F7F8"/>
          </a:solidFill>
          <a:ln w="9525">
            <a:solidFill>
              <a:srgbClr val="E3E1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91056"/>
            <a:ext cx="4416552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ico = add.make(add.icosahedron, [0, 0, 0], 3)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print(add.neighbors(ico, 0))   # 5, in order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print(add.valence(ico, 0))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ball = add.truncate(ico, 1 / 3.0)   # corners off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ball = add.color_by_sides(ball,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{5: "black", 6: "white"})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add.mesh(add.smooth(ball, 16))      # rounded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40680" y="1463040"/>
            <a:ext cx="3136392" cy="2377440"/>
          </a:xfrm>
          <a:prstGeom prst="roundRect">
            <a:avLst>
              <a:gd name="adj" fmla="val 2308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8" name="Image 0" descr="/home/claude/add3d/docs/images/footbal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95544" y="1517904"/>
            <a:ext cx="3026664" cy="226771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40680" y="3904488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37_football.py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66928" y="4251960"/>
            <a:ext cx="2511552" cy="1325880"/>
          </a:xfrm>
          <a:prstGeom prst="roundRect">
            <a:avLst>
              <a:gd name="adj" fmla="val 3448"/>
            </a:avLst>
          </a:prstGeom>
          <a:solidFill>
            <a:srgbClr val="F6EFE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68096" y="4398264"/>
            <a:ext cx="2109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mesh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68096" y="4727448"/>
            <a:ext cx="210921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neighbors, valence, mean_neighbor_distance, edges, vertex_normal, face_center, boundary_loops.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316224" y="4251960"/>
            <a:ext cx="2511552" cy="1325880"/>
          </a:xfrm>
          <a:prstGeom prst="roundRect">
            <a:avLst>
              <a:gd name="adj" fmla="val 3448"/>
            </a:avLst>
          </a:prstGeom>
          <a:solidFill>
            <a:srgbClr val="F6EF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517392" y="4398264"/>
            <a:ext cx="2109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corner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3517392" y="4727448"/>
            <a:ext cx="210921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set_vertex(M, i, [x, None, z]) moves vertex i and keeps the faces -- then smooth() it.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065520" y="4251960"/>
            <a:ext cx="2511552" cy="1325880"/>
          </a:xfrm>
          <a:prstGeom prst="roundRect">
            <a:avLst>
              <a:gd name="adj" fmla="val 3448"/>
            </a:avLst>
          </a:prstGeom>
          <a:solidFill>
            <a:srgbClr val="F6EFE8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266688" y="4398264"/>
            <a:ext cx="2109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266688" y="4727448"/>
            <a:ext cx="210921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dual, truncate, refine + spherify, inflate -- new solids from old ones.</a:t>
            </a:r>
            <a:endParaRPr lang="en-US" sz="12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SMOOTH()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Smooth surfaces: generalised Catmull-Clark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4709160" cy="2148840"/>
          </a:xfrm>
          <a:prstGeom prst="roundRect">
            <a:avLst>
              <a:gd name="adj" fmla="val 2553"/>
            </a:avLst>
          </a:prstGeom>
          <a:solidFill>
            <a:srgbClr val="F7F7F8"/>
          </a:solidFill>
          <a:ln w="9525">
            <a:solidFill>
              <a:srgbClr val="E3E1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91056"/>
            <a:ext cx="4416552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add.box([0, 0, 0], 2, "gold")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 = add.layer()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add.nearest_vertex(block, [1, 1, 1])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 = add.set_vertex(block, i, [2.5, 2.5, None])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add.mesh(add.smooth(block, 8))    # 8 per edge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add.mesh(add.catmull_clark(block, 3))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40680" y="1463040"/>
            <a:ext cx="3136392" cy="2148840"/>
          </a:xfrm>
          <a:prstGeom prst="roundRect">
            <a:avLst>
              <a:gd name="adj" fmla="val 2553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8" name="Image 0" descr="/home/claude/add3d/docs/images/smooth_shap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95544" y="1517904"/>
            <a:ext cx="3026664" cy="203911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40680" y="3675888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39_smooth_shapes.py -- n = 1 ... 7 on one prism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66928" y="4023360"/>
            <a:ext cx="2511552" cy="1600200"/>
          </a:xfrm>
          <a:prstGeom prst="roundRect">
            <a:avLst>
              <a:gd name="adj" fmla="val 2857"/>
            </a:avLst>
          </a:prstGeom>
          <a:solidFill>
            <a:srgbClr val="F6EFE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68096" y="4169664"/>
            <a:ext cx="2109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n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68096" y="4498848"/>
            <a:ext cx="210921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cells on every control edge for n = 1, 2, 3, 4, 5 ... -- classical subdivision only gives 2, 4, 8.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316224" y="4023360"/>
            <a:ext cx="2511552" cy="1600200"/>
          </a:xfrm>
          <a:prstGeom prst="roundRect">
            <a:avLst>
              <a:gd name="adj" fmla="val 2857"/>
            </a:avLst>
          </a:prstGeom>
          <a:solidFill>
            <a:srgbClr val="F6EF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517392" y="4169664"/>
            <a:ext cx="2109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on the limit surface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3517392" y="4498848"/>
            <a:ext cx="210921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vertex is evaluated on the limit surface; near odd corners the grid is reparameterised to stay even.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065520" y="4023360"/>
            <a:ext cx="2511552" cy="1600200"/>
          </a:xfrm>
          <a:prstGeom prst="roundRect">
            <a:avLst>
              <a:gd name="adj" fmla="val 2857"/>
            </a:avLst>
          </a:prstGeom>
          <a:solidFill>
            <a:srgbClr val="F6EFE8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266688" y="4169664"/>
            <a:ext cx="2109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266688" y="4498848"/>
            <a:ext cx="210921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Sabaliauskas, Uniform n-grids on Catmull-Clark limit surfaces of arbitrary polygon meshes (2026); a line-by-line port to pure Python.</a:t>
            </a:r>
            <a:endParaRPr lang="en-US" sz="12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SURFACE()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Twenty-five surfaces by name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4709160" cy="2148840"/>
          </a:xfrm>
          <a:prstGeom prst="roundRect">
            <a:avLst>
              <a:gd name="adj" fmla="val 2553"/>
            </a:avLst>
          </a:prstGeom>
          <a:solidFill>
            <a:srgbClr val="F7F7F8"/>
          </a:solidFill>
          <a:ln w="9525">
            <a:solidFill>
              <a:srgbClr val="E3E1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91056"/>
            <a:ext cx="4416552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print(add.surface_names())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add.surface("klein_bottle", [0, 0, 0], 4, 120)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add.surface("dini", [6, 0, 0], 4,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color=lambda u, v: add.hsv(u / 12))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add.surface("pillow", [-6, 0, 0], 3, a=0.9)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owl = add.surface_function("owl")   # bare f(u, v)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40680" y="1463040"/>
            <a:ext cx="3136392" cy="2148840"/>
          </a:xfrm>
          <a:prstGeom prst="roundRect">
            <a:avLst>
              <a:gd name="adj" fmla="val 2553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8" name="Image 0" descr="/home/claude/add3d/docs/images/surface_zo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95544" y="1517904"/>
            <a:ext cx="3026664" cy="203911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40680" y="3675888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34_surface_zoo.py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66928" y="3977640"/>
            <a:ext cx="3931920" cy="2011680"/>
          </a:xfrm>
          <a:prstGeom prst="roundRect">
            <a:avLst>
              <a:gd name="adj" fmla="val 2727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11" name="Image 1" descr="/home/claude/add3d/docs/images/knot_curv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" y="4032504"/>
            <a:ext cx="3822192" cy="190195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66928" y="60533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35_knot_curve.py -- a knot from rotating circles, one curve() call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663440" y="3977640"/>
            <a:ext cx="3913632" cy="2011680"/>
          </a:xfrm>
          <a:prstGeom prst="roundRect">
            <a:avLst>
              <a:gd name="adj" fmla="val 2727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14" name="Image 2" descr="/home/claude/add3d/docs/images/minecraft_sphere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718304" y="4032504"/>
            <a:ext cx="3803904" cy="190195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663440" y="6053328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36_minecraft_sphere.py -- Maple, blocks, geodesic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.OBJ + .MTL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Glass, pictures and the Sketchfab limits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4709160" cy="2148840"/>
          </a:xfrm>
          <a:prstGeom prst="roundRect">
            <a:avLst>
              <a:gd name="adj" fmla="val 2553"/>
            </a:avLst>
          </a:prstGeom>
          <a:solidFill>
            <a:srgbClr val="F7F7F8"/>
          </a:solidFill>
          <a:ln w="9525">
            <a:solidFill>
              <a:srgbClr val="E3E1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91056"/>
            <a:ext cx="4416552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 = add.transparent("sky", 0.35)     # 0..1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wall = add.make(add.cuboid, [0, 1.5, 0], [6, 3, 0.3])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hole = add.make(add.cuboid, [0, 1.6, 0], [2, 1.2, 1])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wall = add.difference(wall, hole)  # cut first,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add.mesh(add.texture(wall, "bricks.png"))  # then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pane, in the opening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add.cuboid([0, 1.6, 0], [2, 1.2, 0.03], glass)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add.check()     # &lt;= 50 MB, &lt;= 50 colours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add.save("house.obj", colors=50)   # .mtl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40680" y="1463040"/>
            <a:ext cx="3136392" cy="2148840"/>
          </a:xfrm>
          <a:prstGeom prst="roundRect">
            <a:avLst>
              <a:gd name="adj" fmla="val 2553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8" name="Image 0" descr="/home/claude/add3d/docs/images/glass_and_textur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95544" y="1517904"/>
            <a:ext cx="3026664" cy="203911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40680" y="3675888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45_glass_and_textures.py -- a room behind the glass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66928" y="4023360"/>
            <a:ext cx="2511552" cy="1600200"/>
          </a:xfrm>
          <a:prstGeom prst="roundRect">
            <a:avLst>
              <a:gd name="adj" fmla="val 2857"/>
            </a:avLst>
          </a:prstGeom>
          <a:solidFill>
            <a:srgbClr val="F6EFE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68096" y="4169664"/>
            <a:ext cx="2109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68096" y="4498848"/>
            <a:ext cx="210921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transparent/texture everything is exactly as before; .off files keep plain colours.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316224" y="4023360"/>
            <a:ext cx="2511552" cy="1600200"/>
          </a:xfrm>
          <a:prstGeom prst="roundRect">
            <a:avLst>
              <a:gd name="adj" fmla="val 2857"/>
            </a:avLst>
          </a:prstGeom>
          <a:solidFill>
            <a:srgbClr val="F6EF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517392" y="4169664"/>
            <a:ext cx="2109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3517392" y="4498848"/>
            <a:ext cx="210921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Sketchfab: 100 MB free plan, 100 materials merged beyond that. The course: 50 MB, 50 colours. limit_colors() and obj_size() help.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065520" y="4023360"/>
            <a:ext cx="2511552" cy="1600200"/>
          </a:xfrm>
          <a:prstGeom prst="roundRect">
            <a:avLst>
              <a:gd name="adj" fmla="val 2857"/>
            </a:avLst>
          </a:prstGeom>
          <a:solidFill>
            <a:srgbClr val="F6EFE8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266688" y="4169664"/>
            <a:ext cx="2109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Pictures from code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266688" y="4498848"/>
            <a:ext cx="210921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write_png("bricks.png", rows) writes a picture you computed -- no image files needed.</a:t>
            </a:r>
            <a:endParaRPr lang="en-US" sz="12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46_CASTLE.PY, STREAM()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castle: a model bigger than memory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325880"/>
            <a:ext cx="4846320" cy="3108960"/>
          </a:xfrm>
          <a:prstGeom prst="roundRect">
            <a:avLst>
              <a:gd name="adj" fmla="val 1765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6" name="Image 0" descr="/home/claude/add3d/docs/images/cast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" y="1380744"/>
            <a:ext cx="4736592" cy="29992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66928" y="44988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textures, every stone a polygon: an .off of about 1 GB and an .obj that 7-Zip brings under 100 MB for Sketchfab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349240" y="1325880"/>
            <a:ext cx="3246120" cy="1417320"/>
          </a:xfrm>
          <a:prstGeom prst="roundRect">
            <a:avLst>
              <a:gd name="adj" fmla="val 3871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9" name="Image 1" descr="/home/claude/add3d/docs/images/castle_hal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04104" y="1380744"/>
            <a:ext cx="3136392" cy="130759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349240" y="280720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throne hall and the feast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349240" y="3017520"/>
            <a:ext cx="3246120" cy="1417320"/>
          </a:xfrm>
          <a:prstGeom prst="roundRect">
            <a:avLst>
              <a:gd name="adj" fmla="val 3871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12" name="Image 2" descr="/home/claude/add3d/docs/images/castle_treasury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404104" y="3072384"/>
            <a:ext cx="3136392" cy="130759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349240" y="449884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dragon on the treasure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566928" y="5074920"/>
            <a:ext cx="8321040" cy="960120"/>
          </a:xfrm>
          <a:prstGeom prst="roundRect">
            <a:avLst>
              <a:gd name="adj" fmla="val 5714"/>
            </a:avLst>
          </a:prstGeom>
          <a:solidFill>
            <a:srgbClr val="F7F7F8"/>
          </a:solidFill>
          <a:ln w="9525">
            <a:solidFill>
              <a:srgbClr val="E3E1DD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713232" y="5202936"/>
            <a:ext cx="802843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 = add.stream("castle.off", precision=4)   # parts go to disk at once,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wall_of_bricks(); out.add()   # tidied (no overlaps), written, cleared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out.close()                   # fills in the OFF header (.mtl for .obj)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566928" y="6181344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castle on Sketchfab, to turn round in 3D: </a:t>
            </a:r>
            <a:pPr indent="0" marL="0">
              <a:buNone/>
            </a:pPr>
            <a:r>
              <a:rPr lang="en-US" sz="1300" b="1" u="sng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Sketchfab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skfb.ly/pOnRS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Saving and sharing a model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4572000" cy="1508760"/>
          </a:xfrm>
          <a:prstGeom prst="roundRect">
            <a:avLst>
              <a:gd name="adj" fmla="val 3636"/>
            </a:avLst>
          </a:prstGeom>
          <a:solidFill>
            <a:srgbClr val="F7F7F8"/>
          </a:solidFill>
          <a:ln w="9525">
            <a:solidFill>
              <a:srgbClr val="E3E1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91056"/>
            <a:ext cx="427939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add.save("model.off")   # the course format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add.save("model.obj")   # + .mtl for colours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add.save("model.ply")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add.save("model.stl")   # for 3D printing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3154680"/>
            <a:ext cx="3886200" cy="1234440"/>
          </a:xfrm>
          <a:prstGeom prst="roundRect">
            <a:avLst>
              <a:gd name="adj" fmla="val 3704"/>
            </a:avLst>
          </a:prstGeom>
          <a:solidFill>
            <a:srgbClr val="F6EF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68096" y="3300984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Sketchfab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3630168"/>
            <a:ext cx="348386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.obj and .mtl in one archive and upload -- anyone can turn the model in a browser, like the castle: </a:t>
            </a:r>
            <a:pPr indent="0" marL="0">
              <a:lnSpc>
                <a:spcPts val="1600"/>
              </a:lnSpc>
              <a:buNone/>
            </a:pPr>
            <a:r>
              <a:rPr lang="en-US" sz="1250" b="1" u="sng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Sketchfab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skfb.ly/pOnRS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90872" y="3154680"/>
            <a:ext cx="3886200" cy="1234440"/>
          </a:xfrm>
          <a:prstGeom prst="roundRect">
            <a:avLst>
              <a:gd name="adj" fmla="val 3704"/>
            </a:avLst>
          </a:prstGeom>
          <a:solidFill>
            <a:srgbClr val="F6EFE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92040" y="3300984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printing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3630168"/>
            <a:ext cx="348386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clean(..., normals=True), then save("m.stl"). The surface must be closed.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4626864"/>
            <a:ext cx="3886200" cy="1234440"/>
          </a:xfrm>
          <a:prstGeom prst="roundRect">
            <a:avLst>
              <a:gd name="adj" fmla="val 3704"/>
            </a:avLst>
          </a:prstGeom>
          <a:solidFill>
            <a:srgbClr val="F6EF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8096" y="4773168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without MeshLab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68096" y="5102352"/>
            <a:ext cx="348386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python3 tools/preview.py model.off writes a PNG. No libraries either.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690872" y="4626864"/>
            <a:ext cx="3886200" cy="1234440"/>
          </a:xfrm>
          <a:prstGeom prst="roundRect">
            <a:avLst>
              <a:gd name="adj" fmla="val 3704"/>
            </a:avLst>
          </a:prstGeom>
          <a:solidFill>
            <a:srgbClr val="F6EFE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92040" y="4773168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back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5102352"/>
            <a:ext cx="348386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load("letter.off") returns a mesh you can move and paint.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303520" y="169164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A4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MeshLab conversion step is gone -- add.py writes OBJ and MTL itself.</a:t>
            </a:r>
            <a:endParaRPr lang="en-US" sz="17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GALLERY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models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3931920" cy="2377440"/>
          </a:xfrm>
          <a:prstGeom prst="roundRect">
            <a:avLst>
              <a:gd name="adj" fmla="val 2308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6" name="Image 0" descr="/home/claude/add3d/docs/images/temp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" y="1472184"/>
            <a:ext cx="3822192" cy="22677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66928" y="385876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25_temple.py -- columns on a circle, a chequered floor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63440" y="1417320"/>
            <a:ext cx="3913632" cy="2377440"/>
          </a:xfrm>
          <a:prstGeom prst="roundRect">
            <a:avLst>
              <a:gd name="adj" fmla="val 2308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9" name="Image 1" descr="/home/claude/add3d/docs/images/bridg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18304" y="1472184"/>
            <a:ext cx="3803904" cy="226771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663440" y="3858768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29_bridge.py -- beams, cables, hangers, cars along the road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66928" y="4160520"/>
            <a:ext cx="3931920" cy="1920240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12" name="Image 2" descr="/home/claude/add3d/docs/images/voxel_islan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1792" y="4215384"/>
            <a:ext cx="3822192" cy="1810512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663440" y="4160520"/>
            <a:ext cx="3913632" cy="1920240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14" name="Image 3" descr="/home/claude/add3d/docs/images/vector_fields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718304" y="4215384"/>
            <a:ext cx="3803904" cy="1810512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GALLERY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Larger studies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3931920" cy="2377440"/>
          </a:xfrm>
          <a:prstGeom prst="roundRect">
            <a:avLst>
              <a:gd name="adj" fmla="val 2308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6" name="Image 0" descr="/home/claude/add3d/docs/images/chess_se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" y="1472184"/>
            <a:ext cx="3822192" cy="22677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66928" y="385876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18_chess_set.py -- lathe, layers, booleans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63440" y="1417320"/>
            <a:ext cx="3913632" cy="2377440"/>
          </a:xfrm>
          <a:prstGeom prst="roundRect">
            <a:avLst>
              <a:gd name="adj" fmla="val 2308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9" name="Image 1" descr="/home/claude/add3d/docs/images/fractal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18304" y="1472184"/>
            <a:ext cx="3803904" cy="226771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663440" y="3858768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17_fractals.py -- Menger sponge, Sierpinski, a tree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66928" y="4160520"/>
            <a:ext cx="3931920" cy="1920240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12" name="Image 2" descr="/home/claude/add3d/docs/images/city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1792" y="4215384"/>
            <a:ext cx="3822192" cy="1810512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663440" y="4160520"/>
            <a:ext cx="3913632" cy="1920240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14" name="Image 3" descr="/home/claude/add3d/docs/images/example4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718304" y="4215384"/>
            <a:ext cx="3803904" cy="1810512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1.2 to 2.0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8010144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011680"/>
                <a:gridCol w="2798064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add.py 1.2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4B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add.py 2.0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4B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4B1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28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cube2(c, e, b, RGB)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A4B1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frame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2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hollow cube of bars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28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cylinder2(A, B, r, k, RGB)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A4B1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tube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2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cylinder with no lids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28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cylinder3(A, B, r, k, RGB)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A4B1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cup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2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 at one end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28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cone2(A, B, r, k, RGB)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A4B1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cone_open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2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slanted wall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28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rectangle3D(c, e, RGB)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A4B1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cuboid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2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rectangular block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28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newface(A, RGB)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A4B1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polygon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2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flat face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28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spin3D(A, B, S, ...)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A4B1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revolve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2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lathe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28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off(file)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A4B1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save(file)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2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.off, .obj, .ply or .stl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4892040"/>
            <a:ext cx="8010144" cy="1051560"/>
          </a:xfrm>
          <a:prstGeom prst="roundRect">
            <a:avLst>
              <a:gd name="adj" fmla="val 4348"/>
            </a:avLst>
          </a:prstGeom>
          <a:solidFill>
            <a:srgbClr val="F6EF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95528" y="5074920"/>
            <a:ext cx="7552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the old names still work. Twelve models written for 1.2 live in tests/legacy/, and the tests check that they produce exactly as many faces as before (only sphere changed: it is geodesic now; quadsphere is the old one). examples/32_old_names.py is a whole model in the 1.2 vocabulary.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241C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051560"/>
            <a:ext cx="8010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find everything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05740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E9C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add.py and add.hpp, the examples, the tests and the documentation
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github.com/…/add3d
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E9C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in English and Lithuanian
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…github.io/add3d
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E9C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
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akatasis@gmail.com  ·  martynas.sabaliauskas@mif.vu.lt</a:t>
            </a:r>
            <a:endParaRPr lang="en-US" sz="1400" dirty="0"/>
          </a:p>
        </p:txBody>
      </p:sp>
      <p:pic>
        <p:nvPicPr>
          <p:cNvPr id="4" name="Image 0" descr="/home/claude/add3d/docs/images/supershap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0" y="1920240"/>
            <a:ext cx="3108960" cy="21945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5577840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BF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Vilnius University, MIF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add.py 2.0</dc:title>
  <dc:subject>PptxGenJS Presentation</dc:subject>
  <dc:creator>Martynas Sabaliauskas</dc:creator>
  <cp:lastModifiedBy>Martynas Sabaliauskas</cp:lastModifiedBy>
  <cp:revision>1</cp:revision>
  <dcterms:created xsi:type="dcterms:W3CDTF">2026-10-03T06:49:05Z</dcterms:created>
  <dcterms:modified xsi:type="dcterms:W3CDTF">2026-10-03T06:49:05Z</dcterms:modified>
</cp:coreProperties>
</file>